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Training &amp; Validation Accuracy (Real Log)</a:t>
            </a:r>
          </a:p>
        </c:rich>
      </c:tx>
      <c:layout/>
      <c:overlay val="0"/>
    </c:title>
    <c:autoTitleDeleted val="0"/>
    <c:plotArea>
      <c:layout/>
      <c:lineChart>
        <c:varyColors val="0"/>
        <c:ser>
          <c:idx val="0"/>
          <c:order val="0"/>
          <c:tx>
            <c:strRef>
              <c:f>Sheet1!$B$1</c:f>
              <c:strCache>
                <c:ptCount val="1"/>
                <c:pt idx="0">
                  <c:v>Train Accuracy</c:v>
                </c:pt>
              </c:strCache>
            </c:strRef>
          </c:tx>
          <c:spPr>
            <a:solidFill>
              <a:srgbClr val="2563EB"/>
            </a:solidFill>
            <a:ln w="31750" cap="flat">
              <a:solidFill>
                <a:srgbClr val="2563E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563EB"/>
              </a:solidFill>
              <a:ln w="9525" cap="flat">
                <a:solidFill>
                  <a:srgbClr val="2563EB"/>
                </a:solidFill>
                <a:prstDash val="solid"/>
                <a:round/>
              </a:ln>
              <a:effectLst/>
            </c:spPr>
          </c:marker>
          <c:cat>
            <c:multiLvlStrRef>
              <c:f>Sheet1!$A$2:$A$14</c:f>
              <c:multiLvlStrCache>
                <c:ptCount val="13"/>
                <c:lvl>
                  <c:pt idx="0">
                    <c:v>E1</c:v>
                  </c:pt>
                  <c:pt idx="1">
                    <c:v>E5</c:v>
                  </c:pt>
                  <c:pt idx="2">
                    <c:v>E8</c:v>
                  </c:pt>
                  <c:pt idx="3">
                    <c:v>E11</c:v>
                  </c:pt>
                  <c:pt idx="4">
                    <c:v>E13</c:v>
                  </c:pt>
                  <c:pt idx="5">
                    <c:v>E17</c:v>
                  </c:pt>
                  <c:pt idx="6">
                    <c:v>E18</c:v>
                  </c:pt>
                  <c:pt idx="7">
                    <c:v>E22</c:v>
                  </c:pt>
                  <c:pt idx="8">
                    <c:v>E24</c:v>
                  </c:pt>
                  <c:pt idx="9">
                    <c:v>E27</c:v>
                  </c:pt>
                  <c:pt idx="10">
                    <c:v>E29</c:v>
                  </c:pt>
                  <c:pt idx="11">
                    <c:v>E33</c:v>
                  </c:pt>
                  <c:pt idx="12">
                    <c:v>E39</c:v>
                  </c:pt>
                </c:lvl>
              </c:multiLvlStrCache>
            </c:multiLvlStrRef>
          </c:cat>
          <c:val>
            <c:numRef>
              <c:f>Sheet1!$B$2:$B$14</c:f>
              <c:numCache>
                <c:formatCode>General</c:formatCode>
                <c:ptCount val="13"/>
                <c:pt idx="0">
                  <c:v>0.8068</c:v>
                </c:pt>
                <c:pt idx="1">
                  <c:v>0.9439</c:v>
                </c:pt>
                <c:pt idx="2">
                  <c:v>0.9637</c:v>
                </c:pt>
                <c:pt idx="3">
                  <c:v>0.9749</c:v>
                </c:pt>
                <c:pt idx="4">
                  <c:v>0.9796</c:v>
                </c:pt>
                <c:pt idx="5">
                  <c:v>0.9884</c:v>
                </c:pt>
                <c:pt idx="6">
                  <c:v>0.9913</c:v>
                </c:pt>
                <c:pt idx="7">
                  <c:v>0.9948</c:v>
                </c:pt>
                <c:pt idx="8">
                  <c:v>0.9952</c:v>
                </c:pt>
                <c:pt idx="9">
                  <c:v>0.9956</c:v>
                </c:pt>
                <c:pt idx="10">
                  <c:v>0.9973</c:v>
                </c:pt>
                <c:pt idx="11">
                  <c:v>0.9975</c:v>
                </c:pt>
                <c:pt idx="12">
                  <c:v>0.9986</c:v>
                </c:pt>
              </c:numCache>
            </c:numRef>
          </c:val>
          <c:smooth val="1"/>
        </c:ser>
        <c:ser>
          <c:idx val="1"/>
          <c:order val="1"/>
          <c:tx>
            <c:strRef>
              <c:f>Sheet1!$C$1</c:f>
              <c:strCache>
                <c:ptCount val="1"/>
                <c:pt idx="0">
                  <c:v>Val Accuracy</c:v>
                </c:pt>
              </c:strCache>
            </c:strRef>
          </c:tx>
          <c:spPr>
            <a:solidFill>
              <a:srgbClr val="F59E0B"/>
            </a:solidFill>
            <a:ln w="31750" cap="flat">
              <a:solidFill>
                <a:srgbClr val="F59E0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59E0B"/>
              </a:solidFill>
              <a:ln w="9525" cap="flat">
                <a:solidFill>
                  <a:srgbClr val="F59E0B"/>
                </a:solidFill>
                <a:prstDash val="solid"/>
                <a:round/>
              </a:ln>
              <a:effectLst/>
            </c:spPr>
          </c:marker>
          <c:cat>
            <c:multiLvlStrRef>
              <c:f>Sheet1!$A$2:$A$14</c:f>
              <c:multiLvlStrCache>
                <c:ptCount val="13"/>
                <c:lvl>
                  <c:pt idx="0">
                    <c:v>E1</c:v>
                  </c:pt>
                  <c:pt idx="1">
                    <c:v>E5</c:v>
                  </c:pt>
                  <c:pt idx="2">
                    <c:v>E8</c:v>
                  </c:pt>
                  <c:pt idx="3">
                    <c:v>E11</c:v>
                  </c:pt>
                  <c:pt idx="4">
                    <c:v>E13</c:v>
                  </c:pt>
                  <c:pt idx="5">
                    <c:v>E17</c:v>
                  </c:pt>
                  <c:pt idx="6">
                    <c:v>E18</c:v>
                  </c:pt>
                  <c:pt idx="7">
                    <c:v>E22</c:v>
                  </c:pt>
                  <c:pt idx="8">
                    <c:v>E24</c:v>
                  </c:pt>
                  <c:pt idx="9">
                    <c:v>E27</c:v>
                  </c:pt>
                  <c:pt idx="10">
                    <c:v>E29</c:v>
                  </c:pt>
                  <c:pt idx="11">
                    <c:v>E33</c:v>
                  </c:pt>
                  <c:pt idx="12">
                    <c:v>E39</c:v>
                  </c:pt>
                </c:lvl>
              </c:multiLvlStrCache>
            </c:multiLvlStrRef>
          </c:cat>
          <c:val>
            <c:numRef>
              <c:f>Sheet1!$C$2:$C$14</c:f>
              <c:numCache>
                <c:formatCode>General</c:formatCode>
                <c:ptCount val="13"/>
                <c:pt idx="0">
                  <c:v>0.89</c:v>
                </c:pt>
                <c:pt idx="1">
                  <c:v>0.9596</c:v>
                </c:pt>
                <c:pt idx="2">
                  <c:v>0.9759</c:v>
                </c:pt>
                <c:pt idx="3">
                  <c:v>0.9811</c:v>
                </c:pt>
                <c:pt idx="4">
                  <c:v>0.9911</c:v>
                </c:pt>
                <c:pt idx="5">
                  <c:v>0.9944</c:v>
                </c:pt>
                <c:pt idx="6">
                  <c:v>0.9967</c:v>
                </c:pt>
                <c:pt idx="7">
                  <c:v>0.997</c:v>
                </c:pt>
                <c:pt idx="8">
                  <c:v>0.9974</c:v>
                </c:pt>
                <c:pt idx="9">
                  <c:v>0.9978</c:v>
                </c:pt>
                <c:pt idx="10">
                  <c:v>0.9993</c:v>
                </c:pt>
                <c:pt idx="11">
                  <c:v>0.9993</c:v>
                </c:pt>
                <c:pt idx="12">
                  <c:v>0.9981</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005"/>
          <c:min val="0.85"/>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6858000" y="-731520"/>
            <a:ext cx="3200400" cy="3200400"/>
          </a:xfrm>
          <a:prstGeom prst="ellipse">
            <a:avLst/>
          </a:prstGeom>
          <a:solidFill>
            <a:srgbClr val="0891B2">
              <a:alpha val="20000"/>
            </a:srgbClr>
          </a:solidFill>
          <a:ln w="12700">
            <a:solidFill>
              <a:srgbClr val="0891B2">
                <a:alpha val="20000"/>
              </a:srgbClr>
            </a:solidFill>
            <a:prstDash val="solid"/>
          </a:ln>
        </p:spPr>
      </p:sp>
      <p:sp>
        <p:nvSpPr>
          <p:cNvPr id="3" name="Shape 1"/>
          <p:cNvSpPr/>
          <p:nvPr/>
        </p:nvSpPr>
        <p:spPr>
          <a:xfrm>
            <a:off x="-731520" y="2926080"/>
            <a:ext cx="2560320" cy="2560320"/>
          </a:xfrm>
          <a:prstGeom prst="ellipse">
            <a:avLst/>
          </a:prstGeom>
          <a:solidFill>
            <a:srgbClr val="2563EB">
              <a:alpha val="15000"/>
            </a:srgbClr>
          </a:solidFill>
          <a:ln w="12700">
            <a:solidFill>
              <a:srgbClr val="2563EB">
                <a:alpha val="15000"/>
              </a:srgbClr>
            </a:solidFill>
            <a:prstDash val="solid"/>
          </a:ln>
        </p:spPr>
      </p:sp>
      <p:sp>
        <p:nvSpPr>
          <p:cNvPr id="4" name="Shape 2"/>
          <p:cNvSpPr/>
          <p:nvPr/>
        </p:nvSpPr>
        <p:spPr>
          <a:xfrm>
            <a:off x="0" y="0"/>
            <a:ext cx="9144000" cy="64008"/>
          </a:xfrm>
          <a:prstGeom prst="rect">
            <a:avLst/>
          </a:prstGeom>
          <a:solidFill>
            <a:srgbClr val="06B6D4"/>
          </a:solidFill>
          <a:ln w="12700">
            <a:solidFill>
              <a:srgbClr val="06B6D4"/>
            </a:solidFill>
            <a:prstDash val="solid"/>
          </a:ln>
        </p:spPr>
      </p:sp>
      <p:sp>
        <p:nvSpPr>
          <p:cNvPr id="5" name="Shape 3"/>
          <p:cNvSpPr/>
          <p:nvPr/>
        </p:nvSpPr>
        <p:spPr>
          <a:xfrm>
            <a:off x="0" y="5079492"/>
            <a:ext cx="9144000" cy="64008"/>
          </a:xfrm>
          <a:prstGeom prst="rect">
            <a:avLst/>
          </a:prstGeom>
          <a:solidFill>
            <a:srgbClr val="2563EB"/>
          </a:solidFill>
          <a:ln w="12700">
            <a:solidFill>
              <a:srgbClr val="2563EB"/>
            </a:solidFill>
            <a:prstDash val="solid"/>
          </a:ln>
        </p:spPr>
      </p:sp>
      <p:sp>
        <p:nvSpPr>
          <p:cNvPr id="6" name="Text 4"/>
          <p:cNvSpPr/>
          <p:nvPr/>
        </p:nvSpPr>
        <p:spPr>
          <a:xfrm>
            <a:off x="457200" y="685800"/>
            <a:ext cx="8229600" cy="685800"/>
          </a:xfrm>
          <a:prstGeom prst="rect">
            <a:avLst/>
          </a:prstGeom>
          <a:noFill/>
          <a:ln/>
        </p:spPr>
        <p:txBody>
          <a:bodyPr wrap="square" lIns="0" tIns="0" rIns="0" bIns="0" rtlCol="0" anchor="ctr"/>
          <a:lstStyle/>
          <a:p>
            <a:pPr algn="ctr" indent="0" marL="0">
              <a:buNone/>
            </a:pPr>
            <a:r>
              <a:rPr lang="en-US" sz="1400" b="1" spc="400" kern="0" dirty="0">
                <a:solidFill>
                  <a:srgbClr val="06B6D4"/>
                </a:solidFill>
                <a:latin typeface="Calibri" pitchFamily="34" charset="0"/>
                <a:ea typeface="Calibri" pitchFamily="34" charset="-122"/>
                <a:cs typeface="Calibri" pitchFamily="34" charset="-120"/>
              </a:rPr>
              <a:t>Binary Image Classification</a:t>
            </a:r>
            <a:endParaRPr lang="en-US" sz="1400" dirty="0"/>
          </a:p>
        </p:txBody>
      </p:sp>
      <p:sp>
        <p:nvSpPr>
          <p:cNvPr id="7" name="Text 5"/>
          <p:cNvSpPr/>
          <p:nvPr/>
        </p:nvSpPr>
        <p:spPr>
          <a:xfrm>
            <a:off x="457200" y="1298448"/>
            <a:ext cx="8229600" cy="146304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CBAM-Enhanced ResNet</a:t>
            </a:r>
            <a:endParaRPr lang="en-US" sz="3800" dirty="0"/>
          </a:p>
          <a:p>
            <a:pPr algn="ctr" indent="0" marL="0">
              <a:buNone/>
            </a:pPr>
            <a:r>
              <a:rPr lang="en-US" sz="3800" b="1" dirty="0">
                <a:solidFill>
                  <a:srgbClr val="FFFFFF"/>
                </a:solidFill>
                <a:latin typeface="Calibri" pitchFamily="34" charset="0"/>
                <a:ea typeface="Calibri" pitchFamily="34" charset="-122"/>
                <a:cs typeface="Calibri" pitchFamily="34" charset="-120"/>
              </a:rPr>
              <a:t>with GeM Pooling</a:t>
            </a:r>
            <a:endParaRPr lang="en-US" sz="3800" dirty="0"/>
          </a:p>
        </p:txBody>
      </p:sp>
      <p:sp>
        <p:nvSpPr>
          <p:cNvPr id="8" name="Text 6"/>
          <p:cNvSpPr/>
          <p:nvPr/>
        </p:nvSpPr>
        <p:spPr>
          <a:xfrm>
            <a:off x="731520" y="2834640"/>
            <a:ext cx="7680960" cy="777240"/>
          </a:xfrm>
          <a:prstGeom prst="rect">
            <a:avLst/>
          </a:prstGeom>
          <a:noFill/>
          <a:ln/>
        </p:spPr>
        <p:txBody>
          <a:bodyPr wrap="square" lIns="0" tIns="0" rIns="0" bIns="0"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A deep learning pipeline for binary medical / general image classification</a:t>
            </a:r>
            <a:endParaRPr lang="en-US" sz="1300" dirty="0"/>
          </a:p>
          <a:p>
            <a:pPr algn="ctr" indent="0" marL="0">
              <a:buNone/>
            </a:pPr>
            <a:r>
              <a:rPr lang="en-US" sz="1300" dirty="0">
                <a:solidFill>
                  <a:srgbClr val="94A3B8"/>
                </a:solidFill>
                <a:latin typeface="Calibri" pitchFamily="34" charset="0"/>
                <a:ea typeface="Calibri" pitchFamily="34" charset="-122"/>
                <a:cs typeface="Calibri" pitchFamily="34" charset="-120"/>
              </a:rPr>
              <a:t>featuring attention mechanisms, adaptive pooling &amp; robust training strategies</a:t>
            </a:r>
            <a:endParaRPr lang="en-US" sz="1300" dirty="0"/>
          </a:p>
        </p:txBody>
      </p:sp>
      <p:sp>
        <p:nvSpPr>
          <p:cNvPr id="9" name="Shape 7"/>
          <p:cNvSpPr/>
          <p:nvPr/>
        </p:nvSpPr>
        <p:spPr>
          <a:xfrm>
            <a:off x="868680" y="3794760"/>
            <a:ext cx="1371600" cy="347472"/>
          </a:xfrm>
          <a:prstGeom prst="roundRect">
            <a:avLst>
              <a:gd name="adj" fmla="val 15789"/>
            </a:avLst>
          </a:prstGeom>
          <a:solidFill>
            <a:srgbClr val="162249"/>
          </a:solidFill>
          <a:ln w="12700">
            <a:solidFill>
              <a:srgbClr val="2563EB"/>
            </a:solidFill>
            <a:prstDash val="solid"/>
          </a:ln>
        </p:spPr>
      </p:sp>
      <p:sp>
        <p:nvSpPr>
          <p:cNvPr id="10" name="Text 8"/>
          <p:cNvSpPr/>
          <p:nvPr/>
        </p:nvSpPr>
        <p:spPr>
          <a:xfrm>
            <a:off x="868680" y="3794760"/>
            <a:ext cx="1371600" cy="347472"/>
          </a:xfrm>
          <a:prstGeom prst="rect">
            <a:avLst/>
          </a:prstGeom>
          <a:noFill/>
          <a:ln/>
        </p:spPr>
        <p:txBody>
          <a:bodyPr wrap="square" lIns="0" tIns="0" rIns="0" bIns="0" rtlCol="0" anchor="ctr"/>
          <a:lstStyle/>
          <a:p>
            <a:pPr algn="ctr" indent="0" marL="0">
              <a:buNone/>
            </a:pPr>
            <a:r>
              <a:rPr lang="en-US" sz="900" b="1" dirty="0">
                <a:solidFill>
                  <a:srgbClr val="06B6D4"/>
                </a:solidFill>
                <a:latin typeface="Calibri" pitchFamily="34" charset="0"/>
                <a:ea typeface="Calibri" pitchFamily="34" charset="-122"/>
                <a:cs typeface="Calibri" pitchFamily="34" charset="-120"/>
              </a:rPr>
              <a:t>PyTorch</a:t>
            </a:r>
            <a:endParaRPr lang="en-US" sz="900" dirty="0"/>
          </a:p>
        </p:txBody>
      </p:sp>
      <p:sp>
        <p:nvSpPr>
          <p:cNvPr id="11" name="Shape 9"/>
          <p:cNvSpPr/>
          <p:nvPr/>
        </p:nvSpPr>
        <p:spPr>
          <a:xfrm>
            <a:off x="2377440" y="3794760"/>
            <a:ext cx="1371600" cy="347472"/>
          </a:xfrm>
          <a:prstGeom prst="roundRect">
            <a:avLst>
              <a:gd name="adj" fmla="val 15789"/>
            </a:avLst>
          </a:prstGeom>
          <a:solidFill>
            <a:srgbClr val="162249"/>
          </a:solidFill>
          <a:ln w="12700">
            <a:solidFill>
              <a:srgbClr val="2563EB"/>
            </a:solidFill>
            <a:prstDash val="solid"/>
          </a:ln>
        </p:spPr>
      </p:sp>
      <p:sp>
        <p:nvSpPr>
          <p:cNvPr id="12" name="Text 10"/>
          <p:cNvSpPr/>
          <p:nvPr/>
        </p:nvSpPr>
        <p:spPr>
          <a:xfrm>
            <a:off x="2377440" y="3794760"/>
            <a:ext cx="1371600" cy="347472"/>
          </a:xfrm>
          <a:prstGeom prst="rect">
            <a:avLst/>
          </a:prstGeom>
          <a:noFill/>
          <a:ln/>
        </p:spPr>
        <p:txBody>
          <a:bodyPr wrap="square" lIns="0" tIns="0" rIns="0" bIns="0" rtlCol="0" anchor="ctr"/>
          <a:lstStyle/>
          <a:p>
            <a:pPr algn="ctr" indent="0" marL="0">
              <a:buNone/>
            </a:pPr>
            <a:r>
              <a:rPr lang="en-US" sz="900" b="1" dirty="0">
                <a:solidFill>
                  <a:srgbClr val="06B6D4"/>
                </a:solidFill>
                <a:latin typeface="Calibri" pitchFamily="34" charset="0"/>
                <a:ea typeface="Calibri" pitchFamily="34" charset="-122"/>
                <a:cs typeface="Calibri" pitchFamily="34" charset="-120"/>
              </a:rPr>
              <a:t>CBAM Attention</a:t>
            </a:r>
            <a:endParaRPr lang="en-US" sz="900" dirty="0"/>
          </a:p>
        </p:txBody>
      </p:sp>
      <p:sp>
        <p:nvSpPr>
          <p:cNvPr id="13" name="Shape 11"/>
          <p:cNvSpPr/>
          <p:nvPr/>
        </p:nvSpPr>
        <p:spPr>
          <a:xfrm>
            <a:off x="3886200" y="3794760"/>
            <a:ext cx="1371600" cy="347472"/>
          </a:xfrm>
          <a:prstGeom prst="roundRect">
            <a:avLst>
              <a:gd name="adj" fmla="val 15789"/>
            </a:avLst>
          </a:prstGeom>
          <a:solidFill>
            <a:srgbClr val="162249"/>
          </a:solidFill>
          <a:ln w="12700">
            <a:solidFill>
              <a:srgbClr val="2563EB"/>
            </a:solidFill>
            <a:prstDash val="solid"/>
          </a:ln>
        </p:spPr>
      </p:sp>
      <p:sp>
        <p:nvSpPr>
          <p:cNvPr id="14" name="Text 12"/>
          <p:cNvSpPr/>
          <p:nvPr/>
        </p:nvSpPr>
        <p:spPr>
          <a:xfrm>
            <a:off x="3886200" y="3794760"/>
            <a:ext cx="1371600" cy="347472"/>
          </a:xfrm>
          <a:prstGeom prst="rect">
            <a:avLst/>
          </a:prstGeom>
          <a:noFill/>
          <a:ln/>
        </p:spPr>
        <p:txBody>
          <a:bodyPr wrap="square" lIns="0" tIns="0" rIns="0" bIns="0" rtlCol="0" anchor="ctr"/>
          <a:lstStyle/>
          <a:p>
            <a:pPr algn="ctr" indent="0" marL="0">
              <a:buNone/>
            </a:pPr>
            <a:r>
              <a:rPr lang="en-US" sz="900" b="1" dirty="0">
                <a:solidFill>
                  <a:srgbClr val="06B6D4"/>
                </a:solidFill>
                <a:latin typeface="Calibri" pitchFamily="34" charset="0"/>
                <a:ea typeface="Calibri" pitchFamily="34" charset="-122"/>
                <a:cs typeface="Calibri" pitchFamily="34" charset="-120"/>
              </a:rPr>
              <a:t>GeM Pooling</a:t>
            </a:r>
            <a:endParaRPr lang="en-US" sz="900" dirty="0"/>
          </a:p>
        </p:txBody>
      </p:sp>
      <p:sp>
        <p:nvSpPr>
          <p:cNvPr id="15" name="Shape 13"/>
          <p:cNvSpPr/>
          <p:nvPr/>
        </p:nvSpPr>
        <p:spPr>
          <a:xfrm>
            <a:off x="5394960" y="3794760"/>
            <a:ext cx="1371600" cy="347472"/>
          </a:xfrm>
          <a:prstGeom prst="roundRect">
            <a:avLst>
              <a:gd name="adj" fmla="val 15789"/>
            </a:avLst>
          </a:prstGeom>
          <a:solidFill>
            <a:srgbClr val="162249"/>
          </a:solidFill>
          <a:ln w="12700">
            <a:solidFill>
              <a:srgbClr val="2563EB"/>
            </a:solidFill>
            <a:prstDash val="solid"/>
          </a:ln>
        </p:spPr>
      </p:sp>
      <p:sp>
        <p:nvSpPr>
          <p:cNvPr id="16" name="Text 14"/>
          <p:cNvSpPr/>
          <p:nvPr/>
        </p:nvSpPr>
        <p:spPr>
          <a:xfrm>
            <a:off x="5394960" y="3794760"/>
            <a:ext cx="1371600" cy="347472"/>
          </a:xfrm>
          <a:prstGeom prst="rect">
            <a:avLst/>
          </a:prstGeom>
          <a:noFill/>
          <a:ln/>
        </p:spPr>
        <p:txBody>
          <a:bodyPr wrap="square" lIns="0" tIns="0" rIns="0" bIns="0" rtlCol="0" anchor="ctr"/>
          <a:lstStyle/>
          <a:p>
            <a:pPr algn="ctr" indent="0" marL="0">
              <a:buNone/>
            </a:pPr>
            <a:r>
              <a:rPr lang="en-US" sz="900" b="1" dirty="0">
                <a:solidFill>
                  <a:srgbClr val="06B6D4"/>
                </a:solidFill>
                <a:latin typeface="Calibri" pitchFamily="34" charset="0"/>
                <a:ea typeface="Calibri" pitchFamily="34" charset="-122"/>
                <a:cs typeface="Calibri" pitchFamily="34" charset="-120"/>
              </a:rPr>
              <a:t>AdamW + Cosine LR</a:t>
            </a:r>
            <a:endParaRPr lang="en-US" sz="900" dirty="0"/>
          </a:p>
        </p:txBody>
      </p:sp>
      <p:sp>
        <p:nvSpPr>
          <p:cNvPr id="17" name="Shape 15"/>
          <p:cNvSpPr/>
          <p:nvPr/>
        </p:nvSpPr>
        <p:spPr>
          <a:xfrm>
            <a:off x="6903720" y="3794760"/>
            <a:ext cx="1371600" cy="347472"/>
          </a:xfrm>
          <a:prstGeom prst="roundRect">
            <a:avLst>
              <a:gd name="adj" fmla="val 15789"/>
            </a:avLst>
          </a:prstGeom>
          <a:solidFill>
            <a:srgbClr val="162249"/>
          </a:solidFill>
          <a:ln w="12700">
            <a:solidFill>
              <a:srgbClr val="2563EB"/>
            </a:solidFill>
            <a:prstDash val="solid"/>
          </a:ln>
        </p:spPr>
      </p:sp>
      <p:sp>
        <p:nvSpPr>
          <p:cNvPr id="18" name="Text 16"/>
          <p:cNvSpPr/>
          <p:nvPr/>
        </p:nvSpPr>
        <p:spPr>
          <a:xfrm>
            <a:off x="6903720" y="3794760"/>
            <a:ext cx="1371600" cy="347472"/>
          </a:xfrm>
          <a:prstGeom prst="rect">
            <a:avLst/>
          </a:prstGeom>
          <a:noFill/>
          <a:ln/>
        </p:spPr>
        <p:txBody>
          <a:bodyPr wrap="square" lIns="0" tIns="0" rIns="0" bIns="0" rtlCol="0" anchor="ctr"/>
          <a:lstStyle/>
          <a:p>
            <a:pPr algn="ctr" indent="0" marL="0">
              <a:buNone/>
            </a:pPr>
            <a:r>
              <a:rPr lang="en-US" sz="900" b="1" dirty="0">
                <a:solidFill>
                  <a:srgbClr val="06B6D4"/>
                </a:solidFill>
                <a:latin typeface="Calibri" pitchFamily="34" charset="0"/>
                <a:ea typeface="Calibri" pitchFamily="34" charset="-122"/>
                <a:cs typeface="Calibri" pitchFamily="34" charset="-120"/>
              </a:rPr>
              <a:t>Label Smoothing</a:t>
            </a:r>
            <a:endParaRPr lang="en-US" sz="900" dirty="0"/>
          </a:p>
        </p:txBody>
      </p:sp>
      <p:sp>
        <p:nvSpPr>
          <p:cNvPr id="19" name="Text 17"/>
          <p:cNvSpPr/>
          <p:nvPr/>
        </p:nvSpPr>
        <p:spPr>
          <a:xfrm>
            <a:off x="457200" y="4480560"/>
            <a:ext cx="8229600" cy="32004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Deep Learning Research  ·  2024</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563EB"/>
          </a:solidFill>
          <a:ln w="12700">
            <a:solidFill>
              <a:srgbClr val="2563EB"/>
            </a:solidFill>
            <a:prstDash val="solid"/>
          </a:ln>
        </p:spPr>
      </p:sp>
      <p:sp>
        <p:nvSpPr>
          <p:cNvPr id="3" name="Shape 1"/>
          <p:cNvSpPr/>
          <p:nvPr/>
        </p:nvSpPr>
        <p:spPr>
          <a:xfrm>
            <a:off x="0" y="0"/>
            <a:ext cx="9144000" cy="658368"/>
          </a:xfrm>
          <a:prstGeom prst="rect">
            <a:avLst/>
          </a:prstGeom>
          <a:solidFill>
            <a:srgbClr val="0D1B3E"/>
          </a:solidFill>
          <a:ln w="12700">
            <a:solidFill>
              <a:srgbClr val="0D1B3E"/>
            </a:solidFill>
            <a:prstDash val="solid"/>
          </a:ln>
        </p:spPr>
      </p:sp>
      <p:sp>
        <p:nvSpPr>
          <p:cNvPr id="4" name="Text 2"/>
          <p:cNvSpPr/>
          <p:nvPr/>
        </p:nvSpPr>
        <p:spPr>
          <a:xfrm>
            <a:off x="228600" y="36576"/>
            <a:ext cx="8686800" cy="585216"/>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Abstract</a:t>
            </a:r>
            <a:endParaRPr lang="en-US" sz="2200" dirty="0"/>
          </a:p>
        </p:txBody>
      </p:sp>
      <p:sp>
        <p:nvSpPr>
          <p:cNvPr id="5" name="Text 3"/>
          <p:cNvSpPr/>
          <p:nvPr/>
        </p:nvSpPr>
        <p:spPr>
          <a:xfrm>
            <a:off x="228600" y="749808"/>
            <a:ext cx="4754880" cy="347472"/>
          </a:xfrm>
          <a:prstGeom prst="rect">
            <a:avLst/>
          </a:prstGeom>
          <a:noFill/>
          <a:ln/>
        </p:spPr>
        <p:txBody>
          <a:bodyPr wrap="square" lIns="0" tIns="0" rIns="0" bIns="0" rtlCol="0" anchor="ctr"/>
          <a:lstStyle/>
          <a:p>
            <a:pPr indent="0" marL="0">
              <a:buNone/>
            </a:pPr>
            <a:r>
              <a:rPr lang="en-US" sz="1500" b="1" dirty="0">
                <a:solidFill>
                  <a:srgbClr val="0D1B3E"/>
                </a:solidFill>
                <a:latin typeface="Calibri" pitchFamily="34" charset="0"/>
                <a:ea typeface="Calibri" pitchFamily="34" charset="-122"/>
                <a:cs typeface="Calibri" pitchFamily="34" charset="-120"/>
              </a:rPr>
              <a:t>Overview</a:t>
            </a:r>
            <a:endParaRPr lang="en-US" sz="1500" dirty="0"/>
          </a:p>
        </p:txBody>
      </p:sp>
      <p:sp>
        <p:nvSpPr>
          <p:cNvPr id="6" name="Text 4"/>
          <p:cNvSpPr/>
          <p:nvPr/>
        </p:nvSpPr>
        <p:spPr>
          <a:xfrm>
            <a:off x="228600" y="1115568"/>
            <a:ext cx="4663440" cy="3474720"/>
          </a:xfrm>
          <a:prstGeom prst="rect">
            <a:avLst/>
          </a:prstGeom>
          <a:noFill/>
          <a:ln/>
        </p:spPr>
        <p:txBody>
          <a:bodyPr wrap="square" lIns="0" tIns="0" rIns="0" bIns="0" rtlCol="0" anchor="t"/>
          <a:lstStyle/>
          <a:p>
            <a:pPr indent="0" marL="0">
              <a:buNone/>
            </a:pPr>
            <a:r>
              <a:rPr lang="en-US" sz="1250" dirty="0">
                <a:solidFill>
                  <a:srgbClr val="0F172A"/>
                </a:solidFill>
                <a:latin typeface="Calibri" pitchFamily="34" charset="0"/>
                <a:ea typeface="Calibri" pitchFamily="34" charset="-122"/>
                <a:cs typeface="Calibri" pitchFamily="34" charset="-120"/>
              </a:rPr>
              <a:t>We present a custom deep convolutional neural network for binary image classification, built from scratch in PyTorch.</a:t>
            </a:r>
            <a:endParaRPr lang="en-US" sz="1250" dirty="0"/>
          </a:p>
          <a:p>
            <a:pPr indent="0" marL="0">
              <a:buNone/>
            </a:pPr>
            <a:r>
              <a:rPr lang="en-US" sz="1250" dirty="0">
                <a:solidFill>
                  <a:srgbClr val="0F172A"/>
                </a:solidFill>
                <a:latin typeface="Calibri" pitchFamily="34" charset="0"/>
                <a:ea typeface="Calibri" pitchFamily="34" charset="-122"/>
                <a:cs typeface="Calibri" pitchFamily="34" charset="-120"/>
              </a:rPr>
              <a:t> </a:t>
            </a:r>
            <a:endParaRPr lang="en-US" sz="1250" dirty="0"/>
          </a:p>
          <a:p>
            <a:pPr indent="0" marL="0">
              <a:buNone/>
            </a:pPr>
            <a:r>
              <a:rPr lang="en-US" sz="1250" dirty="0">
                <a:solidFill>
                  <a:srgbClr val="0F172A"/>
                </a:solidFill>
                <a:latin typeface="Calibri" pitchFamily="34" charset="0"/>
                <a:ea typeface="Calibri" pitchFamily="34" charset="-122"/>
                <a:cs typeface="Calibri" pitchFamily="34" charset="-120"/>
              </a:rPr>
              <a:t>The architecture integrates </a:t>
            </a:r>
            <a:pPr indent="0" marL="0">
              <a:buNone/>
            </a:pPr>
            <a:r>
              <a:rPr lang="en-US" sz="1250" b="1" dirty="0">
                <a:solidFill>
                  <a:srgbClr val="2563EB"/>
                </a:solidFill>
                <a:latin typeface="Calibri" pitchFamily="34" charset="0"/>
                <a:ea typeface="Calibri" pitchFamily="34" charset="-122"/>
                <a:cs typeface="Calibri" pitchFamily="34" charset="-120"/>
              </a:rPr>
              <a:t>Convolutional Block Attention Modules (CBAM)</a:t>
            </a:r>
            <a:pPr indent="0" marL="0">
              <a:buNone/>
            </a:pPr>
            <a:r>
              <a:rPr lang="en-US" sz="1250" dirty="0">
                <a:solidFill>
                  <a:srgbClr val="0F172A"/>
                </a:solidFill>
                <a:latin typeface="Calibri" pitchFamily="34" charset="0"/>
                <a:ea typeface="Calibri" pitchFamily="34" charset="-122"/>
                <a:cs typeface="Calibri" pitchFamily="34" charset="-120"/>
              </a:rPr>
              <a:t> at every residual block, enabling the model to selectively focus on informative channels and spatial regions.</a:t>
            </a:r>
            <a:endParaRPr lang="en-US" sz="1250" dirty="0"/>
          </a:p>
          <a:p>
            <a:pPr indent="0" marL="0">
              <a:buNone/>
            </a:pPr>
            <a:r>
              <a:rPr lang="en-US" sz="1250" dirty="0">
                <a:solidFill>
                  <a:srgbClr val="0F172A"/>
                </a:solidFill>
                <a:latin typeface="Calibri" pitchFamily="34" charset="0"/>
                <a:ea typeface="Calibri" pitchFamily="34" charset="-122"/>
                <a:cs typeface="Calibri" pitchFamily="34" charset="-120"/>
              </a:rPr>
              <a:t> </a:t>
            </a:r>
            <a:endParaRPr lang="en-US" sz="1250" dirty="0"/>
          </a:p>
          <a:p>
            <a:pPr indent="0" marL="0">
              <a:buNone/>
            </a:pPr>
            <a:r>
              <a:rPr lang="en-US" sz="1250" b="1" dirty="0">
                <a:solidFill>
                  <a:srgbClr val="0891B2"/>
                </a:solidFill>
                <a:latin typeface="Calibri" pitchFamily="34" charset="0"/>
                <a:ea typeface="Calibri" pitchFamily="34" charset="-122"/>
                <a:cs typeface="Calibri" pitchFamily="34" charset="-120"/>
              </a:rPr>
              <a:t>Generalized Mean (GeM) Pooling</a:t>
            </a:r>
            <a:pPr indent="0" marL="0">
              <a:buNone/>
            </a:pPr>
            <a:r>
              <a:rPr lang="en-US" sz="1250" dirty="0">
                <a:solidFill>
                  <a:srgbClr val="0F172A"/>
                </a:solidFill>
                <a:latin typeface="Calibri" pitchFamily="34" charset="0"/>
                <a:ea typeface="Calibri" pitchFamily="34" charset="-122"/>
                <a:cs typeface="Calibri" pitchFamily="34" charset="-120"/>
              </a:rPr>
              <a:t> replaces standard average pooling, producing richer global descriptors. The training pipeline incorporates </a:t>
            </a:r>
            <a:pPr indent="0" marL="0">
              <a:buNone/>
            </a:pPr>
            <a:r>
              <a:rPr lang="en-US" sz="1250" b="1" dirty="0">
                <a:solidFill>
                  <a:srgbClr val="0F172A"/>
                </a:solidFill>
                <a:latin typeface="Calibri" pitchFamily="34" charset="0"/>
                <a:ea typeface="Calibri" pitchFamily="34" charset="-122"/>
                <a:cs typeface="Calibri" pitchFamily="34" charset="-120"/>
              </a:rPr>
              <a:t>label smoothing, cosine annealing with linear warm-up, mixed-precision training, gradient clipping</a:t>
            </a:r>
            <a:pPr indent="0" marL="0">
              <a:buNone/>
            </a:pPr>
            <a:r>
              <a:rPr lang="en-US" sz="1250" dirty="0">
                <a:solidFill>
                  <a:srgbClr val="0F172A"/>
                </a:solidFill>
                <a:latin typeface="Calibri" pitchFamily="34" charset="0"/>
                <a:ea typeface="Calibri" pitchFamily="34" charset="-122"/>
                <a:cs typeface="Calibri" pitchFamily="34" charset="-120"/>
              </a:rPr>
              <a:t>, and </a:t>
            </a:r>
            <a:pPr indent="0" marL="0">
              <a:buNone/>
            </a:pPr>
            <a:r>
              <a:rPr lang="en-US" sz="1250" b="1" dirty="0">
                <a:solidFill>
                  <a:srgbClr val="0F172A"/>
                </a:solidFill>
                <a:latin typeface="Calibri" pitchFamily="34" charset="0"/>
                <a:ea typeface="Calibri" pitchFamily="34" charset="-122"/>
                <a:cs typeface="Calibri" pitchFamily="34" charset="-120"/>
              </a:rPr>
              <a:t>early stopping</a:t>
            </a:r>
            <a:pPr indent="0" marL="0">
              <a:buNone/>
            </a:pPr>
            <a:r>
              <a:rPr lang="en-US" sz="1250" dirty="0">
                <a:solidFill>
                  <a:srgbClr val="0F172A"/>
                </a:solidFill>
                <a:latin typeface="Calibri" pitchFamily="34" charset="0"/>
                <a:ea typeface="Calibri" pitchFamily="34" charset="-122"/>
                <a:cs typeface="Calibri" pitchFamily="34" charset="-120"/>
              </a:rPr>
              <a:t> — yielding robust generalization with minimal overfitting.</a:t>
            </a:r>
            <a:endParaRPr lang="en-US" sz="1250" dirty="0"/>
          </a:p>
        </p:txBody>
      </p:sp>
      <p:sp>
        <p:nvSpPr>
          <p:cNvPr id="7" name="Shape 5"/>
          <p:cNvSpPr/>
          <p:nvPr/>
        </p:nvSpPr>
        <p:spPr>
          <a:xfrm>
            <a:off x="5029200" y="749808"/>
            <a:ext cx="3840480" cy="4114800"/>
          </a:xfrm>
          <a:prstGeom prst="rect">
            <a:avLst/>
          </a:prstGeom>
          <a:solidFill>
            <a:srgbClr val="0D1B3E"/>
          </a:solidFill>
          <a:ln w="12700">
            <a:solidFill>
              <a:srgbClr val="0D1B3E"/>
            </a:solidFill>
            <a:prstDash val="solid"/>
          </a:ln>
        </p:spPr>
      </p:sp>
      <p:sp>
        <p:nvSpPr>
          <p:cNvPr id="8" name="Text 6"/>
          <p:cNvSpPr/>
          <p:nvPr/>
        </p:nvSpPr>
        <p:spPr>
          <a:xfrm>
            <a:off x="5120640" y="841248"/>
            <a:ext cx="3657600" cy="365760"/>
          </a:xfrm>
          <a:prstGeom prst="rect">
            <a:avLst/>
          </a:prstGeom>
          <a:noFill/>
          <a:ln/>
        </p:spPr>
        <p:txBody>
          <a:bodyPr wrap="square" lIns="0" tIns="0" rIns="0" bIns="0" rtlCol="0" anchor="ctr"/>
          <a:lstStyle/>
          <a:p>
            <a:pPr indent="0" marL="0">
              <a:buNone/>
            </a:pPr>
            <a:r>
              <a:rPr lang="en-US" sz="1300" b="1" dirty="0">
                <a:solidFill>
                  <a:srgbClr val="06B6D4"/>
                </a:solidFill>
                <a:latin typeface="Calibri" pitchFamily="34" charset="0"/>
                <a:ea typeface="Calibri" pitchFamily="34" charset="-122"/>
                <a:cs typeface="Calibri" pitchFamily="34" charset="-120"/>
              </a:rPr>
              <a:t>Key Contributions</a:t>
            </a:r>
            <a:endParaRPr lang="en-US" sz="1300" dirty="0"/>
          </a:p>
        </p:txBody>
      </p:sp>
      <p:sp>
        <p:nvSpPr>
          <p:cNvPr id="9" name="Shape 7"/>
          <p:cNvSpPr/>
          <p:nvPr/>
        </p:nvSpPr>
        <p:spPr>
          <a:xfrm>
            <a:off x="5120640" y="1371600"/>
            <a:ext cx="292608" cy="292608"/>
          </a:xfrm>
          <a:prstGeom prst="ellipse">
            <a:avLst/>
          </a:prstGeom>
          <a:solidFill>
            <a:srgbClr val="06B6D4"/>
          </a:solidFill>
          <a:ln w="12700">
            <a:solidFill>
              <a:srgbClr val="06B6D4"/>
            </a:solidFill>
            <a:prstDash val="solid"/>
          </a:ln>
        </p:spPr>
      </p:sp>
      <p:sp>
        <p:nvSpPr>
          <p:cNvPr id="10" name="Text 8"/>
          <p:cNvSpPr/>
          <p:nvPr/>
        </p:nvSpPr>
        <p:spPr>
          <a:xfrm>
            <a:off x="5120640" y="1371600"/>
            <a:ext cx="292608" cy="292608"/>
          </a:xfrm>
          <a:prstGeom prst="rect">
            <a:avLst/>
          </a:prstGeom>
          <a:noFill/>
          <a:ln/>
        </p:spPr>
        <p:txBody>
          <a:bodyPr wrap="square" lIns="0" tIns="0" rIns="0" bIns="0" rtlCol="0" anchor="ctr"/>
          <a:lstStyle/>
          <a:p>
            <a:pPr algn="ctr" indent="0" marL="0">
              <a:buNone/>
            </a:pPr>
            <a:r>
              <a:rPr lang="en-US" sz="900" b="1" dirty="0">
                <a:solidFill>
                  <a:srgbClr val="0D1B3E"/>
                </a:solidFill>
                <a:latin typeface="Calibri" pitchFamily="34" charset="0"/>
                <a:ea typeface="Calibri" pitchFamily="34" charset="-122"/>
                <a:cs typeface="Calibri" pitchFamily="34" charset="-120"/>
              </a:rPr>
              <a:t>01</a:t>
            </a:r>
            <a:endParaRPr lang="en-US" sz="900" dirty="0"/>
          </a:p>
        </p:txBody>
      </p:sp>
      <p:sp>
        <p:nvSpPr>
          <p:cNvPr id="11" name="Text 9"/>
          <p:cNvSpPr/>
          <p:nvPr/>
        </p:nvSpPr>
        <p:spPr>
          <a:xfrm>
            <a:off x="5486400" y="1353312"/>
            <a:ext cx="3200400" cy="411480"/>
          </a:xfrm>
          <a:prstGeom prst="rect">
            <a:avLst/>
          </a:prstGeom>
          <a:noFill/>
          <a:ln/>
        </p:spPr>
        <p:txBody>
          <a:bodyPr wrap="square" lIns="0" tIns="0" rIns="0" bIns="0" rtlCol="0" anchor="ctr"/>
          <a:lstStyle/>
          <a:p>
            <a:pPr indent="0" marL="0">
              <a:buNone/>
            </a:pPr>
            <a:r>
              <a:rPr lang="en-US" sz="1100" dirty="0">
                <a:solidFill>
                  <a:srgbClr val="F0F4FF"/>
                </a:solidFill>
                <a:latin typeface="Calibri" pitchFamily="34" charset="0"/>
                <a:ea typeface="Calibri" pitchFamily="34" charset="-122"/>
                <a:cs typeface="Calibri" pitchFamily="34" charset="-120"/>
              </a:rPr>
              <a:t>CBAM at every residual block for dual attention</a:t>
            </a:r>
            <a:endParaRPr lang="en-US" sz="1100" dirty="0"/>
          </a:p>
        </p:txBody>
      </p:sp>
      <p:sp>
        <p:nvSpPr>
          <p:cNvPr id="12" name="Shape 10"/>
          <p:cNvSpPr/>
          <p:nvPr/>
        </p:nvSpPr>
        <p:spPr>
          <a:xfrm>
            <a:off x="5120640" y="1901952"/>
            <a:ext cx="292608" cy="292608"/>
          </a:xfrm>
          <a:prstGeom prst="ellipse">
            <a:avLst/>
          </a:prstGeom>
          <a:solidFill>
            <a:srgbClr val="06B6D4"/>
          </a:solidFill>
          <a:ln w="12700">
            <a:solidFill>
              <a:srgbClr val="06B6D4"/>
            </a:solidFill>
            <a:prstDash val="solid"/>
          </a:ln>
        </p:spPr>
      </p:sp>
      <p:sp>
        <p:nvSpPr>
          <p:cNvPr id="13" name="Text 11"/>
          <p:cNvSpPr/>
          <p:nvPr/>
        </p:nvSpPr>
        <p:spPr>
          <a:xfrm>
            <a:off x="5120640" y="1901952"/>
            <a:ext cx="292608" cy="292608"/>
          </a:xfrm>
          <a:prstGeom prst="rect">
            <a:avLst/>
          </a:prstGeom>
          <a:noFill/>
          <a:ln/>
        </p:spPr>
        <p:txBody>
          <a:bodyPr wrap="square" lIns="0" tIns="0" rIns="0" bIns="0" rtlCol="0" anchor="ctr"/>
          <a:lstStyle/>
          <a:p>
            <a:pPr algn="ctr" indent="0" marL="0">
              <a:buNone/>
            </a:pPr>
            <a:r>
              <a:rPr lang="en-US" sz="900" b="1" dirty="0">
                <a:solidFill>
                  <a:srgbClr val="0D1B3E"/>
                </a:solidFill>
                <a:latin typeface="Calibri" pitchFamily="34" charset="0"/>
                <a:ea typeface="Calibri" pitchFamily="34" charset="-122"/>
                <a:cs typeface="Calibri" pitchFamily="34" charset="-120"/>
              </a:rPr>
              <a:t>02</a:t>
            </a:r>
            <a:endParaRPr lang="en-US" sz="900" dirty="0"/>
          </a:p>
        </p:txBody>
      </p:sp>
      <p:sp>
        <p:nvSpPr>
          <p:cNvPr id="14" name="Text 12"/>
          <p:cNvSpPr/>
          <p:nvPr/>
        </p:nvSpPr>
        <p:spPr>
          <a:xfrm>
            <a:off x="5486400" y="1883664"/>
            <a:ext cx="3200400" cy="411480"/>
          </a:xfrm>
          <a:prstGeom prst="rect">
            <a:avLst/>
          </a:prstGeom>
          <a:noFill/>
          <a:ln/>
        </p:spPr>
        <p:txBody>
          <a:bodyPr wrap="square" lIns="0" tIns="0" rIns="0" bIns="0" rtlCol="0" anchor="ctr"/>
          <a:lstStyle/>
          <a:p>
            <a:pPr indent="0" marL="0">
              <a:buNone/>
            </a:pPr>
            <a:r>
              <a:rPr lang="en-US" sz="1100" dirty="0">
                <a:solidFill>
                  <a:srgbClr val="F0F4FF"/>
                </a:solidFill>
                <a:latin typeface="Calibri" pitchFamily="34" charset="0"/>
                <a:ea typeface="Calibri" pitchFamily="34" charset="-122"/>
                <a:cs typeface="Calibri" pitchFamily="34" charset="-120"/>
              </a:rPr>
              <a:t>GeM pooling for richer feature aggregation</a:t>
            </a:r>
            <a:endParaRPr lang="en-US" sz="1100" dirty="0"/>
          </a:p>
        </p:txBody>
      </p:sp>
      <p:sp>
        <p:nvSpPr>
          <p:cNvPr id="15" name="Shape 13"/>
          <p:cNvSpPr/>
          <p:nvPr/>
        </p:nvSpPr>
        <p:spPr>
          <a:xfrm>
            <a:off x="5120640" y="2432304"/>
            <a:ext cx="292608" cy="292608"/>
          </a:xfrm>
          <a:prstGeom prst="ellipse">
            <a:avLst/>
          </a:prstGeom>
          <a:solidFill>
            <a:srgbClr val="06B6D4"/>
          </a:solidFill>
          <a:ln w="12700">
            <a:solidFill>
              <a:srgbClr val="06B6D4"/>
            </a:solidFill>
            <a:prstDash val="solid"/>
          </a:ln>
        </p:spPr>
      </p:sp>
      <p:sp>
        <p:nvSpPr>
          <p:cNvPr id="16" name="Text 14"/>
          <p:cNvSpPr/>
          <p:nvPr/>
        </p:nvSpPr>
        <p:spPr>
          <a:xfrm>
            <a:off x="5120640" y="2432304"/>
            <a:ext cx="292608" cy="292608"/>
          </a:xfrm>
          <a:prstGeom prst="rect">
            <a:avLst/>
          </a:prstGeom>
          <a:noFill/>
          <a:ln/>
        </p:spPr>
        <p:txBody>
          <a:bodyPr wrap="square" lIns="0" tIns="0" rIns="0" bIns="0" rtlCol="0" anchor="ctr"/>
          <a:lstStyle/>
          <a:p>
            <a:pPr algn="ctr" indent="0" marL="0">
              <a:buNone/>
            </a:pPr>
            <a:r>
              <a:rPr lang="en-US" sz="900" b="1" dirty="0">
                <a:solidFill>
                  <a:srgbClr val="0D1B3E"/>
                </a:solidFill>
                <a:latin typeface="Calibri" pitchFamily="34" charset="0"/>
                <a:ea typeface="Calibri" pitchFamily="34" charset="-122"/>
                <a:cs typeface="Calibri" pitchFamily="34" charset="-120"/>
              </a:rPr>
              <a:t>03</a:t>
            </a:r>
            <a:endParaRPr lang="en-US" sz="900" dirty="0"/>
          </a:p>
        </p:txBody>
      </p:sp>
      <p:sp>
        <p:nvSpPr>
          <p:cNvPr id="17" name="Text 15"/>
          <p:cNvSpPr/>
          <p:nvPr/>
        </p:nvSpPr>
        <p:spPr>
          <a:xfrm>
            <a:off x="5486400" y="2414016"/>
            <a:ext cx="3200400" cy="411480"/>
          </a:xfrm>
          <a:prstGeom prst="rect">
            <a:avLst/>
          </a:prstGeom>
          <a:noFill/>
          <a:ln/>
        </p:spPr>
        <p:txBody>
          <a:bodyPr wrap="square" lIns="0" tIns="0" rIns="0" bIns="0" rtlCol="0" anchor="ctr"/>
          <a:lstStyle/>
          <a:p>
            <a:pPr indent="0" marL="0">
              <a:buNone/>
            </a:pPr>
            <a:r>
              <a:rPr lang="en-US" sz="1100" dirty="0">
                <a:solidFill>
                  <a:srgbClr val="F0F4FF"/>
                </a:solidFill>
                <a:latin typeface="Calibri" pitchFamily="34" charset="0"/>
                <a:ea typeface="Calibri" pitchFamily="34" charset="-122"/>
                <a:cs typeface="Calibri" pitchFamily="34" charset="-120"/>
              </a:rPr>
              <a:t>Cosine LR decay with linear warm-up epochs</a:t>
            </a:r>
            <a:endParaRPr lang="en-US" sz="1100" dirty="0"/>
          </a:p>
        </p:txBody>
      </p:sp>
      <p:sp>
        <p:nvSpPr>
          <p:cNvPr id="18" name="Shape 16"/>
          <p:cNvSpPr/>
          <p:nvPr/>
        </p:nvSpPr>
        <p:spPr>
          <a:xfrm>
            <a:off x="5120640" y="2962656"/>
            <a:ext cx="292608" cy="292608"/>
          </a:xfrm>
          <a:prstGeom prst="ellipse">
            <a:avLst/>
          </a:prstGeom>
          <a:solidFill>
            <a:srgbClr val="06B6D4"/>
          </a:solidFill>
          <a:ln w="12700">
            <a:solidFill>
              <a:srgbClr val="06B6D4"/>
            </a:solidFill>
            <a:prstDash val="solid"/>
          </a:ln>
        </p:spPr>
      </p:sp>
      <p:sp>
        <p:nvSpPr>
          <p:cNvPr id="19" name="Text 17"/>
          <p:cNvSpPr/>
          <p:nvPr/>
        </p:nvSpPr>
        <p:spPr>
          <a:xfrm>
            <a:off x="5120640" y="2962656"/>
            <a:ext cx="292608" cy="292608"/>
          </a:xfrm>
          <a:prstGeom prst="rect">
            <a:avLst/>
          </a:prstGeom>
          <a:noFill/>
          <a:ln/>
        </p:spPr>
        <p:txBody>
          <a:bodyPr wrap="square" lIns="0" tIns="0" rIns="0" bIns="0" rtlCol="0" anchor="ctr"/>
          <a:lstStyle/>
          <a:p>
            <a:pPr algn="ctr" indent="0" marL="0">
              <a:buNone/>
            </a:pPr>
            <a:r>
              <a:rPr lang="en-US" sz="900" b="1" dirty="0">
                <a:solidFill>
                  <a:srgbClr val="0D1B3E"/>
                </a:solidFill>
                <a:latin typeface="Calibri" pitchFamily="34" charset="0"/>
                <a:ea typeface="Calibri" pitchFamily="34" charset="-122"/>
                <a:cs typeface="Calibri" pitchFamily="34" charset="-120"/>
              </a:rPr>
              <a:t>04</a:t>
            </a:r>
            <a:endParaRPr lang="en-US" sz="900" dirty="0"/>
          </a:p>
        </p:txBody>
      </p:sp>
      <p:sp>
        <p:nvSpPr>
          <p:cNvPr id="20" name="Text 18"/>
          <p:cNvSpPr/>
          <p:nvPr/>
        </p:nvSpPr>
        <p:spPr>
          <a:xfrm>
            <a:off x="5486400" y="2944368"/>
            <a:ext cx="3200400" cy="411480"/>
          </a:xfrm>
          <a:prstGeom prst="rect">
            <a:avLst/>
          </a:prstGeom>
          <a:noFill/>
          <a:ln/>
        </p:spPr>
        <p:txBody>
          <a:bodyPr wrap="square" lIns="0" tIns="0" rIns="0" bIns="0" rtlCol="0" anchor="ctr"/>
          <a:lstStyle/>
          <a:p>
            <a:pPr indent="0" marL="0">
              <a:buNone/>
            </a:pPr>
            <a:r>
              <a:rPr lang="en-US" sz="1100" dirty="0">
                <a:solidFill>
                  <a:srgbClr val="F0F4FF"/>
                </a:solidFill>
                <a:latin typeface="Calibri" pitchFamily="34" charset="0"/>
                <a:ea typeface="Calibri" pitchFamily="34" charset="-122"/>
                <a:cs typeface="Calibri" pitchFamily="34" charset="-120"/>
              </a:rPr>
              <a:t>Label smoothing for better calibration</a:t>
            </a:r>
            <a:endParaRPr lang="en-US" sz="1100" dirty="0"/>
          </a:p>
        </p:txBody>
      </p:sp>
      <p:sp>
        <p:nvSpPr>
          <p:cNvPr id="21" name="Shape 19"/>
          <p:cNvSpPr/>
          <p:nvPr/>
        </p:nvSpPr>
        <p:spPr>
          <a:xfrm>
            <a:off x="5120640" y="3493008"/>
            <a:ext cx="292608" cy="292608"/>
          </a:xfrm>
          <a:prstGeom prst="ellipse">
            <a:avLst/>
          </a:prstGeom>
          <a:solidFill>
            <a:srgbClr val="06B6D4"/>
          </a:solidFill>
          <a:ln w="12700">
            <a:solidFill>
              <a:srgbClr val="06B6D4"/>
            </a:solidFill>
            <a:prstDash val="solid"/>
          </a:ln>
        </p:spPr>
      </p:sp>
      <p:sp>
        <p:nvSpPr>
          <p:cNvPr id="22" name="Text 20"/>
          <p:cNvSpPr/>
          <p:nvPr/>
        </p:nvSpPr>
        <p:spPr>
          <a:xfrm>
            <a:off x="5120640" y="3493008"/>
            <a:ext cx="292608" cy="292608"/>
          </a:xfrm>
          <a:prstGeom prst="rect">
            <a:avLst/>
          </a:prstGeom>
          <a:noFill/>
          <a:ln/>
        </p:spPr>
        <p:txBody>
          <a:bodyPr wrap="square" lIns="0" tIns="0" rIns="0" bIns="0" rtlCol="0" anchor="ctr"/>
          <a:lstStyle/>
          <a:p>
            <a:pPr algn="ctr" indent="0" marL="0">
              <a:buNone/>
            </a:pPr>
            <a:r>
              <a:rPr lang="en-US" sz="900" b="1" dirty="0">
                <a:solidFill>
                  <a:srgbClr val="0D1B3E"/>
                </a:solidFill>
                <a:latin typeface="Calibri" pitchFamily="34" charset="0"/>
                <a:ea typeface="Calibri" pitchFamily="34" charset="-122"/>
                <a:cs typeface="Calibri" pitchFamily="34" charset="-120"/>
              </a:rPr>
              <a:t>05</a:t>
            </a:r>
            <a:endParaRPr lang="en-US" sz="900" dirty="0"/>
          </a:p>
        </p:txBody>
      </p:sp>
      <p:sp>
        <p:nvSpPr>
          <p:cNvPr id="23" name="Text 21"/>
          <p:cNvSpPr/>
          <p:nvPr/>
        </p:nvSpPr>
        <p:spPr>
          <a:xfrm>
            <a:off x="5486400" y="3474720"/>
            <a:ext cx="3200400" cy="411480"/>
          </a:xfrm>
          <a:prstGeom prst="rect">
            <a:avLst/>
          </a:prstGeom>
          <a:noFill/>
          <a:ln/>
        </p:spPr>
        <p:txBody>
          <a:bodyPr wrap="square" lIns="0" tIns="0" rIns="0" bIns="0" rtlCol="0" anchor="ctr"/>
          <a:lstStyle/>
          <a:p>
            <a:pPr indent="0" marL="0">
              <a:buNone/>
            </a:pPr>
            <a:r>
              <a:rPr lang="en-US" sz="1100" dirty="0">
                <a:solidFill>
                  <a:srgbClr val="F0F4FF"/>
                </a:solidFill>
                <a:latin typeface="Calibri" pitchFamily="34" charset="0"/>
                <a:ea typeface="Calibri" pitchFamily="34" charset="-122"/>
                <a:cs typeface="Calibri" pitchFamily="34" charset="-120"/>
              </a:rPr>
              <a:t>Optimal threshold search on validation set</a:t>
            </a:r>
            <a:endParaRPr lang="en-US" sz="1100" dirty="0"/>
          </a:p>
        </p:txBody>
      </p:sp>
      <p:sp>
        <p:nvSpPr>
          <p:cNvPr id="24" name="Shape 22"/>
          <p:cNvSpPr/>
          <p:nvPr/>
        </p:nvSpPr>
        <p:spPr>
          <a:xfrm>
            <a:off x="5120640" y="4023360"/>
            <a:ext cx="292608" cy="292608"/>
          </a:xfrm>
          <a:prstGeom prst="ellipse">
            <a:avLst/>
          </a:prstGeom>
          <a:solidFill>
            <a:srgbClr val="06B6D4"/>
          </a:solidFill>
          <a:ln w="12700">
            <a:solidFill>
              <a:srgbClr val="06B6D4"/>
            </a:solidFill>
            <a:prstDash val="solid"/>
          </a:ln>
        </p:spPr>
      </p:sp>
      <p:sp>
        <p:nvSpPr>
          <p:cNvPr id="25" name="Text 23"/>
          <p:cNvSpPr/>
          <p:nvPr/>
        </p:nvSpPr>
        <p:spPr>
          <a:xfrm>
            <a:off x="5120640" y="4023360"/>
            <a:ext cx="292608" cy="292608"/>
          </a:xfrm>
          <a:prstGeom prst="rect">
            <a:avLst/>
          </a:prstGeom>
          <a:noFill/>
          <a:ln/>
        </p:spPr>
        <p:txBody>
          <a:bodyPr wrap="square" lIns="0" tIns="0" rIns="0" bIns="0" rtlCol="0" anchor="ctr"/>
          <a:lstStyle/>
          <a:p>
            <a:pPr algn="ctr" indent="0" marL="0">
              <a:buNone/>
            </a:pPr>
            <a:r>
              <a:rPr lang="en-US" sz="900" b="1" dirty="0">
                <a:solidFill>
                  <a:srgbClr val="0D1B3E"/>
                </a:solidFill>
                <a:latin typeface="Calibri" pitchFamily="34" charset="0"/>
                <a:ea typeface="Calibri" pitchFamily="34" charset="-122"/>
                <a:cs typeface="Calibri" pitchFamily="34" charset="-120"/>
              </a:rPr>
              <a:t>06</a:t>
            </a:r>
            <a:endParaRPr lang="en-US" sz="900" dirty="0"/>
          </a:p>
        </p:txBody>
      </p:sp>
      <p:sp>
        <p:nvSpPr>
          <p:cNvPr id="26" name="Text 24"/>
          <p:cNvSpPr/>
          <p:nvPr/>
        </p:nvSpPr>
        <p:spPr>
          <a:xfrm>
            <a:off x="5486400" y="4005072"/>
            <a:ext cx="3200400" cy="411480"/>
          </a:xfrm>
          <a:prstGeom prst="rect">
            <a:avLst/>
          </a:prstGeom>
          <a:noFill/>
          <a:ln/>
        </p:spPr>
        <p:txBody>
          <a:bodyPr wrap="square" lIns="0" tIns="0" rIns="0" bIns="0" rtlCol="0" anchor="ctr"/>
          <a:lstStyle/>
          <a:p>
            <a:pPr indent="0" marL="0">
              <a:buNone/>
            </a:pPr>
            <a:r>
              <a:rPr lang="en-US" sz="1100" dirty="0">
                <a:solidFill>
                  <a:srgbClr val="F0F4FF"/>
                </a:solidFill>
                <a:latin typeface="Calibri" pitchFamily="34" charset="0"/>
                <a:ea typeface="Calibri" pitchFamily="34" charset="-122"/>
                <a:cs typeface="Calibri" pitchFamily="34" charset="-120"/>
              </a:rPr>
              <a:t>Mixed-precision training for efficiency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563EB"/>
          </a:solidFill>
          <a:ln w="12700">
            <a:solidFill>
              <a:srgbClr val="2563EB"/>
            </a:solidFill>
            <a:prstDash val="solid"/>
          </a:ln>
        </p:spPr>
      </p:sp>
      <p:sp>
        <p:nvSpPr>
          <p:cNvPr id="3" name="Shape 1"/>
          <p:cNvSpPr/>
          <p:nvPr/>
        </p:nvSpPr>
        <p:spPr>
          <a:xfrm>
            <a:off x="0" y="0"/>
            <a:ext cx="9144000" cy="658368"/>
          </a:xfrm>
          <a:prstGeom prst="rect">
            <a:avLst/>
          </a:prstGeom>
          <a:solidFill>
            <a:srgbClr val="0D1B3E"/>
          </a:solidFill>
          <a:ln w="12700">
            <a:solidFill>
              <a:srgbClr val="0D1B3E"/>
            </a:solidFill>
            <a:prstDash val="solid"/>
          </a:ln>
        </p:spPr>
      </p:sp>
      <p:sp>
        <p:nvSpPr>
          <p:cNvPr id="4" name="Text 2"/>
          <p:cNvSpPr/>
          <p:nvPr/>
        </p:nvSpPr>
        <p:spPr>
          <a:xfrm>
            <a:off x="228600" y="36576"/>
            <a:ext cx="8686800" cy="585216"/>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Introduction</a:t>
            </a:r>
            <a:endParaRPr lang="en-US" sz="2200" dirty="0"/>
          </a:p>
        </p:txBody>
      </p:sp>
      <p:sp>
        <p:nvSpPr>
          <p:cNvPr id="5" name="Text 3"/>
          <p:cNvSpPr/>
          <p:nvPr/>
        </p:nvSpPr>
        <p:spPr>
          <a:xfrm>
            <a:off x="228600" y="749808"/>
            <a:ext cx="8686800" cy="347472"/>
          </a:xfrm>
          <a:prstGeom prst="rect">
            <a:avLst/>
          </a:prstGeom>
          <a:noFill/>
          <a:ln/>
        </p:spPr>
        <p:txBody>
          <a:bodyPr wrap="square" lIns="0" tIns="0" rIns="0" bIns="0" rtlCol="0" anchor="ctr"/>
          <a:lstStyle/>
          <a:p>
            <a:pPr indent="0" marL="0">
              <a:buNone/>
            </a:pPr>
            <a:r>
              <a:rPr lang="en-US" sz="1500" b="1" dirty="0">
                <a:solidFill>
                  <a:srgbClr val="0D1B3E"/>
                </a:solidFill>
                <a:latin typeface="Calibri" pitchFamily="34" charset="0"/>
                <a:ea typeface="Calibri" pitchFamily="34" charset="-122"/>
                <a:cs typeface="Calibri" pitchFamily="34" charset="-120"/>
              </a:rPr>
              <a:t>Problem Statement &amp; Motivation</a:t>
            </a:r>
            <a:endParaRPr lang="en-US" sz="1500" dirty="0"/>
          </a:p>
        </p:txBody>
      </p:sp>
      <p:sp>
        <p:nvSpPr>
          <p:cNvPr id="6" name="Text 4"/>
          <p:cNvSpPr/>
          <p:nvPr/>
        </p:nvSpPr>
        <p:spPr>
          <a:xfrm>
            <a:off x="228600" y="1115568"/>
            <a:ext cx="8686800" cy="8229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Binary image classification is a foundational task in computer vision with critical applications in medical imaging, quality control, and content moderation. Despite the availability of large pretrained models, custom architectures offer superior control over capacity, efficiency, and domain fit — especially when labeled data is limited.</a:t>
            </a:r>
            <a:endParaRPr lang="en-US" sz="1200" dirty="0"/>
          </a:p>
        </p:txBody>
      </p:sp>
      <p:sp>
        <p:nvSpPr>
          <p:cNvPr id="7" name="Shape 5"/>
          <p:cNvSpPr/>
          <p:nvPr/>
        </p:nvSpPr>
        <p:spPr>
          <a:xfrm>
            <a:off x="228600" y="2057400"/>
            <a:ext cx="2743200" cy="269748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228600" y="2057400"/>
            <a:ext cx="2743200" cy="347472"/>
          </a:xfrm>
          <a:prstGeom prst="rect">
            <a:avLst/>
          </a:prstGeom>
          <a:solidFill>
            <a:srgbClr val="2563EB"/>
          </a:solidFill>
          <a:ln w="12700">
            <a:solidFill>
              <a:srgbClr val="2563EB"/>
            </a:solidFill>
            <a:prstDash val="solid"/>
          </a:ln>
        </p:spPr>
      </p:sp>
      <p:sp>
        <p:nvSpPr>
          <p:cNvPr id="9" name="Text 7"/>
          <p:cNvSpPr/>
          <p:nvPr/>
        </p:nvSpPr>
        <p:spPr>
          <a:xfrm>
            <a:off x="338328" y="2075688"/>
            <a:ext cx="2523744" cy="310896"/>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Class Imbalance</a:t>
            </a:r>
            <a:endParaRPr lang="en-US" sz="1200" dirty="0"/>
          </a:p>
        </p:txBody>
      </p:sp>
      <p:sp>
        <p:nvSpPr>
          <p:cNvPr id="10" name="Text 8"/>
          <p:cNvSpPr/>
          <p:nvPr/>
        </p:nvSpPr>
        <p:spPr>
          <a:xfrm>
            <a:off x="338328" y="2459736"/>
            <a:ext cx="2523744" cy="2203704"/>
          </a:xfrm>
          <a:prstGeom prst="rect">
            <a:avLst/>
          </a:prstGeom>
          <a:noFill/>
          <a:ln/>
        </p:spPr>
        <p:txBody>
          <a:bodyPr wrap="square" rtlCol="0" anchor="t"/>
          <a:lstStyle/>
          <a:p>
            <a:pPr marL="342900" indent="-342900">
              <a:buSzPct val="100000"/>
              <a:buChar char="•"/>
            </a:pPr>
            <a:r>
              <a:rPr lang="en-US" sz="1100" dirty="0">
                <a:solidFill>
                  <a:srgbClr val="0F172A"/>
                </a:solidFill>
                <a:latin typeface="Calibri" pitchFamily="34" charset="0"/>
                <a:ea typeface="Calibri" pitchFamily="34" charset="-122"/>
                <a:cs typeface="Calibri" pitchFamily="34" charset="-120"/>
              </a:rPr>
              <a:t>Standard BCE penalizes all errors equally</a:t>
            </a:r>
            <a:endParaRPr lang="en-US" sz="1100" dirty="0"/>
          </a:p>
          <a:p>
            <a:pPr marL="342900" indent="-342900">
              <a:buSzPct val="100000"/>
              <a:buChar char="•"/>
            </a:pPr>
            <a:r>
              <a:rPr lang="en-US" sz="1100" dirty="0">
                <a:solidFill>
                  <a:srgbClr val="0F172A"/>
                </a:solidFill>
                <a:latin typeface="Calibri" pitchFamily="34" charset="0"/>
                <a:ea typeface="Calibri" pitchFamily="34" charset="-122"/>
                <a:cs typeface="Calibri" pitchFamily="34" charset="-120"/>
              </a:rPr>
              <a:t>Label smoothing reduces overconfidence</a:t>
            </a:r>
            <a:endParaRPr lang="en-US" sz="1100" dirty="0"/>
          </a:p>
          <a:p>
            <a:pPr marL="342900" indent="-342900">
              <a:buSzPct val="100000"/>
              <a:buChar char="•"/>
            </a:pPr>
            <a:r>
              <a:rPr lang="en-US" sz="1100" dirty="0">
                <a:solidFill>
                  <a:srgbClr val="0F172A"/>
                </a:solidFill>
                <a:latin typeface="Calibri" pitchFamily="34" charset="0"/>
                <a:ea typeface="Calibri" pitchFamily="34" charset="-122"/>
                <a:cs typeface="Calibri" pitchFamily="34" charset="-120"/>
              </a:rPr>
              <a:t>Optimal threshold tuning adjusts decision boundary</a:t>
            </a:r>
            <a:endParaRPr lang="en-US" sz="1100" dirty="0"/>
          </a:p>
        </p:txBody>
      </p:sp>
      <p:sp>
        <p:nvSpPr>
          <p:cNvPr id="11" name="Shape 9"/>
          <p:cNvSpPr/>
          <p:nvPr/>
        </p:nvSpPr>
        <p:spPr>
          <a:xfrm>
            <a:off x="3154680" y="2057400"/>
            <a:ext cx="2743200" cy="269748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2" name="Shape 10"/>
          <p:cNvSpPr/>
          <p:nvPr/>
        </p:nvSpPr>
        <p:spPr>
          <a:xfrm>
            <a:off x="3154680" y="2057400"/>
            <a:ext cx="2743200" cy="347472"/>
          </a:xfrm>
          <a:prstGeom prst="rect">
            <a:avLst/>
          </a:prstGeom>
          <a:solidFill>
            <a:srgbClr val="0891B2"/>
          </a:solidFill>
          <a:ln w="12700">
            <a:solidFill>
              <a:srgbClr val="0891B2"/>
            </a:solidFill>
            <a:prstDash val="solid"/>
          </a:ln>
        </p:spPr>
      </p:sp>
      <p:sp>
        <p:nvSpPr>
          <p:cNvPr id="13" name="Text 11"/>
          <p:cNvSpPr/>
          <p:nvPr/>
        </p:nvSpPr>
        <p:spPr>
          <a:xfrm>
            <a:off x="3264408" y="2075688"/>
            <a:ext cx="2523744" cy="310896"/>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Feature Discrimination</a:t>
            </a:r>
            <a:endParaRPr lang="en-US" sz="1200" dirty="0"/>
          </a:p>
        </p:txBody>
      </p:sp>
      <p:sp>
        <p:nvSpPr>
          <p:cNvPr id="14" name="Text 12"/>
          <p:cNvSpPr/>
          <p:nvPr/>
        </p:nvSpPr>
        <p:spPr>
          <a:xfrm>
            <a:off x="3264408" y="2459736"/>
            <a:ext cx="2523744" cy="2203704"/>
          </a:xfrm>
          <a:prstGeom prst="rect">
            <a:avLst/>
          </a:prstGeom>
          <a:noFill/>
          <a:ln/>
        </p:spPr>
        <p:txBody>
          <a:bodyPr wrap="square" rtlCol="0" anchor="t"/>
          <a:lstStyle/>
          <a:p>
            <a:pPr marL="342900" indent="-342900">
              <a:buSzPct val="100000"/>
              <a:buChar char="•"/>
            </a:pPr>
            <a:r>
              <a:rPr lang="en-US" sz="1100" dirty="0">
                <a:solidFill>
                  <a:srgbClr val="0F172A"/>
                </a:solidFill>
                <a:latin typeface="Calibri" pitchFamily="34" charset="0"/>
                <a:ea typeface="Calibri" pitchFamily="34" charset="-122"/>
                <a:cs typeface="Calibri" pitchFamily="34" charset="-120"/>
              </a:rPr>
              <a:t>Not all spatial regions are equally informative</a:t>
            </a:r>
            <a:endParaRPr lang="en-US" sz="1100" dirty="0"/>
          </a:p>
          <a:p>
            <a:pPr marL="342900" indent="-342900">
              <a:buSzPct val="100000"/>
              <a:buChar char="•"/>
            </a:pPr>
            <a:r>
              <a:rPr lang="en-US" sz="1100" dirty="0">
                <a:solidFill>
                  <a:srgbClr val="0F172A"/>
                </a:solidFill>
                <a:latin typeface="Calibri" pitchFamily="34" charset="0"/>
                <a:ea typeface="Calibri" pitchFamily="34" charset="-122"/>
                <a:cs typeface="Calibri" pitchFamily="34" charset="-120"/>
              </a:rPr>
              <a:t>CBAM focuses attention channel-wise &amp; spatially</a:t>
            </a:r>
            <a:endParaRPr lang="en-US" sz="1100" dirty="0"/>
          </a:p>
          <a:p>
            <a:pPr marL="342900" indent="-342900">
              <a:buSzPct val="100000"/>
              <a:buChar char="•"/>
            </a:pPr>
            <a:r>
              <a:rPr lang="en-US" sz="1100" dirty="0">
                <a:solidFill>
                  <a:srgbClr val="0F172A"/>
                </a:solidFill>
                <a:latin typeface="Calibri" pitchFamily="34" charset="0"/>
                <a:ea typeface="Calibri" pitchFamily="34" charset="-122"/>
                <a:cs typeface="Calibri" pitchFamily="34" charset="-120"/>
              </a:rPr>
              <a:t>GeM pooling preserves discriminative statistics</a:t>
            </a:r>
            <a:endParaRPr lang="en-US" sz="1100" dirty="0"/>
          </a:p>
        </p:txBody>
      </p:sp>
      <p:sp>
        <p:nvSpPr>
          <p:cNvPr id="15" name="Shape 13"/>
          <p:cNvSpPr/>
          <p:nvPr/>
        </p:nvSpPr>
        <p:spPr>
          <a:xfrm>
            <a:off x="6080760" y="2057400"/>
            <a:ext cx="2743200" cy="269748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6" name="Shape 14"/>
          <p:cNvSpPr/>
          <p:nvPr/>
        </p:nvSpPr>
        <p:spPr>
          <a:xfrm>
            <a:off x="6080760" y="2057400"/>
            <a:ext cx="2743200" cy="347472"/>
          </a:xfrm>
          <a:prstGeom prst="rect">
            <a:avLst/>
          </a:prstGeom>
          <a:solidFill>
            <a:srgbClr val="7C3AED"/>
          </a:solidFill>
          <a:ln w="12700">
            <a:solidFill>
              <a:srgbClr val="7C3AED"/>
            </a:solidFill>
            <a:prstDash val="solid"/>
          </a:ln>
        </p:spPr>
      </p:sp>
      <p:sp>
        <p:nvSpPr>
          <p:cNvPr id="17" name="Text 15"/>
          <p:cNvSpPr/>
          <p:nvPr/>
        </p:nvSpPr>
        <p:spPr>
          <a:xfrm>
            <a:off x="6190488" y="2075688"/>
            <a:ext cx="2523744" cy="310896"/>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Training Stability</a:t>
            </a:r>
            <a:endParaRPr lang="en-US" sz="1200" dirty="0"/>
          </a:p>
        </p:txBody>
      </p:sp>
      <p:sp>
        <p:nvSpPr>
          <p:cNvPr id="18" name="Text 16"/>
          <p:cNvSpPr/>
          <p:nvPr/>
        </p:nvSpPr>
        <p:spPr>
          <a:xfrm>
            <a:off x="6190488" y="2459736"/>
            <a:ext cx="2523744" cy="2203704"/>
          </a:xfrm>
          <a:prstGeom prst="rect">
            <a:avLst/>
          </a:prstGeom>
          <a:noFill/>
          <a:ln/>
        </p:spPr>
        <p:txBody>
          <a:bodyPr wrap="square" rtlCol="0" anchor="t"/>
          <a:lstStyle/>
          <a:p>
            <a:pPr marL="342900" indent="-342900">
              <a:buSzPct val="100000"/>
              <a:buChar char="•"/>
            </a:pPr>
            <a:r>
              <a:rPr lang="en-US" sz="1100" dirty="0">
                <a:solidFill>
                  <a:srgbClr val="0F172A"/>
                </a:solidFill>
                <a:latin typeface="Calibri" pitchFamily="34" charset="0"/>
                <a:ea typeface="Calibri" pitchFamily="34" charset="-122"/>
                <a:cs typeface="Calibri" pitchFamily="34" charset="-120"/>
              </a:rPr>
              <a:t>Learning rate too high → divergence</a:t>
            </a:r>
            <a:endParaRPr lang="en-US" sz="1100" dirty="0"/>
          </a:p>
          <a:p>
            <a:pPr marL="342900" indent="-342900">
              <a:buSzPct val="100000"/>
              <a:buChar char="•"/>
            </a:pPr>
            <a:r>
              <a:rPr lang="en-US" sz="1100" dirty="0">
                <a:solidFill>
                  <a:srgbClr val="0F172A"/>
                </a:solidFill>
                <a:latin typeface="Calibri" pitchFamily="34" charset="0"/>
                <a:ea typeface="Calibri" pitchFamily="34" charset="-122"/>
                <a:cs typeface="Calibri" pitchFamily="34" charset="-120"/>
              </a:rPr>
              <a:t>Cosine schedule with warm-up for smooth convergence</a:t>
            </a:r>
            <a:endParaRPr lang="en-US" sz="1100" dirty="0"/>
          </a:p>
          <a:p>
            <a:pPr marL="342900" indent="-342900">
              <a:buSzPct val="100000"/>
              <a:buChar char="•"/>
            </a:pPr>
            <a:r>
              <a:rPr lang="en-US" sz="1100" dirty="0">
                <a:solidFill>
                  <a:srgbClr val="0F172A"/>
                </a:solidFill>
                <a:latin typeface="Calibri" pitchFamily="34" charset="0"/>
                <a:ea typeface="Calibri" pitchFamily="34" charset="-122"/>
                <a:cs typeface="Calibri" pitchFamily="34" charset="-120"/>
              </a:rPr>
              <a:t>Gradient clipping &amp; mixed precision for stability</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563EB"/>
          </a:solidFill>
          <a:ln w="12700">
            <a:solidFill>
              <a:srgbClr val="2563EB"/>
            </a:solidFill>
            <a:prstDash val="solid"/>
          </a:ln>
        </p:spPr>
      </p:sp>
      <p:sp>
        <p:nvSpPr>
          <p:cNvPr id="3" name="Shape 1"/>
          <p:cNvSpPr/>
          <p:nvPr/>
        </p:nvSpPr>
        <p:spPr>
          <a:xfrm>
            <a:off x="0" y="0"/>
            <a:ext cx="9144000" cy="658368"/>
          </a:xfrm>
          <a:prstGeom prst="rect">
            <a:avLst/>
          </a:prstGeom>
          <a:solidFill>
            <a:srgbClr val="0D1B3E"/>
          </a:solidFill>
          <a:ln w="12700">
            <a:solidFill>
              <a:srgbClr val="0D1B3E"/>
            </a:solidFill>
            <a:prstDash val="solid"/>
          </a:ln>
        </p:spPr>
      </p:sp>
      <p:sp>
        <p:nvSpPr>
          <p:cNvPr id="4" name="Text 2"/>
          <p:cNvSpPr/>
          <p:nvPr/>
        </p:nvSpPr>
        <p:spPr>
          <a:xfrm>
            <a:off x="228600" y="36576"/>
            <a:ext cx="8686800" cy="585216"/>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Data Description</a:t>
            </a:r>
            <a:endParaRPr lang="en-US" sz="2200" dirty="0"/>
          </a:p>
        </p:txBody>
      </p:sp>
      <p:sp>
        <p:nvSpPr>
          <p:cNvPr id="5" name="Text 3"/>
          <p:cNvSpPr/>
          <p:nvPr/>
        </p:nvSpPr>
        <p:spPr>
          <a:xfrm>
            <a:off x="228600" y="749808"/>
            <a:ext cx="4023360" cy="347472"/>
          </a:xfrm>
          <a:prstGeom prst="rect">
            <a:avLst/>
          </a:prstGeom>
          <a:noFill/>
          <a:ln/>
        </p:spPr>
        <p:txBody>
          <a:bodyPr wrap="square" lIns="0" tIns="0" rIns="0" bIns="0" rtlCol="0" anchor="ctr"/>
          <a:lstStyle/>
          <a:p>
            <a:pPr indent="0" marL="0">
              <a:buNone/>
            </a:pPr>
            <a:r>
              <a:rPr lang="en-US" sz="1500" b="1" dirty="0">
                <a:solidFill>
                  <a:srgbClr val="0D1B3E"/>
                </a:solidFill>
                <a:latin typeface="Calibri" pitchFamily="34" charset="0"/>
                <a:ea typeface="Calibri" pitchFamily="34" charset="-122"/>
                <a:cs typeface="Calibri" pitchFamily="34" charset="-120"/>
              </a:rPr>
              <a:t>Dataset Structure</a:t>
            </a:r>
            <a:endParaRPr lang="en-US" sz="1500" dirty="0"/>
          </a:p>
        </p:txBody>
      </p:sp>
      <p:sp>
        <p:nvSpPr>
          <p:cNvPr id="6" name="Shape 4"/>
          <p:cNvSpPr/>
          <p:nvPr/>
        </p:nvSpPr>
        <p:spPr>
          <a:xfrm>
            <a:off x="228600" y="1170432"/>
            <a:ext cx="4023360" cy="347472"/>
          </a:xfrm>
          <a:prstGeom prst="rect">
            <a:avLst/>
          </a:prstGeom>
          <a:solidFill>
            <a:srgbClr val="EFF6FF"/>
          </a:solidFill>
          <a:ln w="6350">
            <a:solidFill>
              <a:srgbClr val="E2E8F0"/>
            </a:solidFill>
            <a:prstDash val="solid"/>
          </a:ln>
        </p:spPr>
      </p:sp>
      <p:sp>
        <p:nvSpPr>
          <p:cNvPr id="7" name="Text 5"/>
          <p:cNvSpPr/>
          <p:nvPr/>
        </p:nvSpPr>
        <p:spPr>
          <a:xfrm>
            <a:off x="320040" y="1170432"/>
            <a:ext cx="2194560" cy="347472"/>
          </a:xfrm>
          <a:prstGeom prst="rect">
            <a:avLst/>
          </a:prstGeom>
          <a:noFill/>
          <a:ln/>
        </p:spPr>
        <p:txBody>
          <a:bodyPr wrap="square" lIns="0" tIns="0" rIns="0" bIns="0" rtlCol="0" anchor="ctr"/>
          <a:lstStyle/>
          <a:p>
            <a:pPr indent="0" marL="0">
              <a:buNone/>
            </a:pPr>
            <a:r>
              <a:rPr lang="en-US" sz="1050" dirty="0">
                <a:solidFill>
                  <a:srgbClr val="2563EB"/>
                </a:solidFill>
                <a:latin typeface="Consolas" pitchFamily="34" charset="0"/>
                <a:ea typeface="Consolas" pitchFamily="34" charset="-122"/>
                <a:cs typeface="Consolas" pitchFamily="34" charset="-120"/>
              </a:rPr>
              <a:t>📁 data/</a:t>
            </a:r>
            <a:endParaRPr lang="en-US" sz="1050" dirty="0"/>
          </a:p>
        </p:txBody>
      </p:sp>
      <p:sp>
        <p:nvSpPr>
          <p:cNvPr id="8" name="Text 6"/>
          <p:cNvSpPr/>
          <p:nvPr/>
        </p:nvSpPr>
        <p:spPr>
          <a:xfrm>
            <a:off x="2468880" y="1170432"/>
            <a:ext cx="1691640" cy="34747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Root directory</a:t>
            </a:r>
            <a:endParaRPr lang="en-US" sz="1000" dirty="0"/>
          </a:p>
        </p:txBody>
      </p:sp>
      <p:sp>
        <p:nvSpPr>
          <p:cNvPr id="9" name="Shape 7"/>
          <p:cNvSpPr/>
          <p:nvPr/>
        </p:nvSpPr>
        <p:spPr>
          <a:xfrm>
            <a:off x="228600" y="1563624"/>
            <a:ext cx="4023360" cy="347472"/>
          </a:xfrm>
          <a:prstGeom prst="rect">
            <a:avLst/>
          </a:prstGeom>
          <a:solidFill>
            <a:srgbClr val="FFFFFF"/>
          </a:solidFill>
          <a:ln w="6350">
            <a:solidFill>
              <a:srgbClr val="E2E8F0"/>
            </a:solidFill>
            <a:prstDash val="solid"/>
          </a:ln>
        </p:spPr>
      </p:sp>
      <p:sp>
        <p:nvSpPr>
          <p:cNvPr id="10" name="Text 8"/>
          <p:cNvSpPr/>
          <p:nvPr/>
        </p:nvSpPr>
        <p:spPr>
          <a:xfrm>
            <a:off x="320040" y="1563624"/>
            <a:ext cx="2194560" cy="347472"/>
          </a:xfrm>
          <a:prstGeom prst="rect">
            <a:avLst/>
          </a:prstGeom>
          <a:noFill/>
          <a:ln/>
        </p:spPr>
        <p:txBody>
          <a:bodyPr wrap="square" lIns="0" tIns="0" rIns="0" bIns="0" rtlCol="0" anchor="ctr"/>
          <a:lstStyle/>
          <a:p>
            <a:pPr indent="0" marL="0">
              <a:buNone/>
            </a:pPr>
            <a:r>
              <a:rPr lang="en-US" sz="1050" dirty="0">
                <a:solidFill>
                  <a:srgbClr val="2563EB"/>
                </a:solidFill>
                <a:latin typeface="Consolas" pitchFamily="34" charset="0"/>
                <a:ea typeface="Consolas" pitchFamily="34" charset="-122"/>
                <a:cs typeface="Consolas" pitchFamily="34" charset="-120"/>
              </a:rPr>
              <a:t>  📁 train/</a:t>
            </a:r>
            <a:endParaRPr lang="en-US" sz="1050" dirty="0"/>
          </a:p>
        </p:txBody>
      </p:sp>
      <p:sp>
        <p:nvSpPr>
          <p:cNvPr id="11" name="Text 9"/>
          <p:cNvSpPr/>
          <p:nvPr/>
        </p:nvSpPr>
        <p:spPr>
          <a:xfrm>
            <a:off x="2468880" y="1563624"/>
            <a:ext cx="1691640" cy="34747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Labeled training images</a:t>
            </a:r>
            <a:endParaRPr lang="en-US" sz="1000" dirty="0"/>
          </a:p>
        </p:txBody>
      </p:sp>
      <p:sp>
        <p:nvSpPr>
          <p:cNvPr id="12" name="Shape 10"/>
          <p:cNvSpPr/>
          <p:nvPr/>
        </p:nvSpPr>
        <p:spPr>
          <a:xfrm>
            <a:off x="228600" y="1956816"/>
            <a:ext cx="4023360" cy="347472"/>
          </a:xfrm>
          <a:prstGeom prst="rect">
            <a:avLst/>
          </a:prstGeom>
          <a:solidFill>
            <a:srgbClr val="EFF6FF"/>
          </a:solidFill>
          <a:ln w="6350">
            <a:solidFill>
              <a:srgbClr val="E2E8F0"/>
            </a:solidFill>
            <a:prstDash val="solid"/>
          </a:ln>
        </p:spPr>
      </p:sp>
      <p:sp>
        <p:nvSpPr>
          <p:cNvPr id="13" name="Text 11"/>
          <p:cNvSpPr/>
          <p:nvPr/>
        </p:nvSpPr>
        <p:spPr>
          <a:xfrm>
            <a:off x="320040" y="1956816"/>
            <a:ext cx="2194560" cy="347472"/>
          </a:xfrm>
          <a:prstGeom prst="rect">
            <a:avLst/>
          </a:prstGeom>
          <a:noFill/>
          <a:ln/>
        </p:spPr>
        <p:txBody>
          <a:bodyPr wrap="square" lIns="0" tIns="0" rIns="0" bIns="0" rtlCol="0" anchor="ctr"/>
          <a:lstStyle/>
          <a:p>
            <a:pPr indent="0" marL="0">
              <a:buNone/>
            </a:pPr>
            <a:r>
              <a:rPr lang="en-US" sz="1050" dirty="0">
                <a:solidFill>
                  <a:srgbClr val="2563EB"/>
                </a:solidFill>
                <a:latin typeface="Consolas" pitchFamily="34" charset="0"/>
                <a:ea typeface="Consolas" pitchFamily="34" charset="-122"/>
                <a:cs typeface="Consolas" pitchFamily="34" charset="-120"/>
              </a:rPr>
              <a:t>    📁 0/</a:t>
            </a:r>
            <a:endParaRPr lang="en-US" sz="1050" dirty="0"/>
          </a:p>
        </p:txBody>
      </p:sp>
      <p:sp>
        <p:nvSpPr>
          <p:cNvPr id="14" name="Text 12"/>
          <p:cNvSpPr/>
          <p:nvPr/>
        </p:nvSpPr>
        <p:spPr>
          <a:xfrm>
            <a:off x="2468880" y="1956816"/>
            <a:ext cx="1691640" cy="34747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Negative class samples</a:t>
            </a:r>
            <a:endParaRPr lang="en-US" sz="1000" dirty="0"/>
          </a:p>
        </p:txBody>
      </p:sp>
      <p:sp>
        <p:nvSpPr>
          <p:cNvPr id="15" name="Shape 13"/>
          <p:cNvSpPr/>
          <p:nvPr/>
        </p:nvSpPr>
        <p:spPr>
          <a:xfrm>
            <a:off x="228600" y="2350008"/>
            <a:ext cx="4023360" cy="347472"/>
          </a:xfrm>
          <a:prstGeom prst="rect">
            <a:avLst/>
          </a:prstGeom>
          <a:solidFill>
            <a:srgbClr val="FFFFFF"/>
          </a:solidFill>
          <a:ln w="6350">
            <a:solidFill>
              <a:srgbClr val="E2E8F0"/>
            </a:solidFill>
            <a:prstDash val="solid"/>
          </a:ln>
        </p:spPr>
      </p:sp>
      <p:sp>
        <p:nvSpPr>
          <p:cNvPr id="16" name="Text 14"/>
          <p:cNvSpPr/>
          <p:nvPr/>
        </p:nvSpPr>
        <p:spPr>
          <a:xfrm>
            <a:off x="320040" y="2350008"/>
            <a:ext cx="2194560" cy="347472"/>
          </a:xfrm>
          <a:prstGeom prst="rect">
            <a:avLst/>
          </a:prstGeom>
          <a:noFill/>
          <a:ln/>
        </p:spPr>
        <p:txBody>
          <a:bodyPr wrap="square" lIns="0" tIns="0" rIns="0" bIns="0" rtlCol="0" anchor="ctr"/>
          <a:lstStyle/>
          <a:p>
            <a:pPr indent="0" marL="0">
              <a:buNone/>
            </a:pPr>
            <a:r>
              <a:rPr lang="en-US" sz="1050" dirty="0">
                <a:solidFill>
                  <a:srgbClr val="2563EB"/>
                </a:solidFill>
                <a:latin typeface="Consolas" pitchFamily="34" charset="0"/>
                <a:ea typeface="Consolas" pitchFamily="34" charset="-122"/>
                <a:cs typeface="Consolas" pitchFamily="34" charset="-120"/>
              </a:rPr>
              <a:t>    📁 1/</a:t>
            </a:r>
            <a:endParaRPr lang="en-US" sz="1050" dirty="0"/>
          </a:p>
        </p:txBody>
      </p:sp>
      <p:sp>
        <p:nvSpPr>
          <p:cNvPr id="17" name="Text 15"/>
          <p:cNvSpPr/>
          <p:nvPr/>
        </p:nvSpPr>
        <p:spPr>
          <a:xfrm>
            <a:off x="2468880" y="2350008"/>
            <a:ext cx="1691640" cy="34747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Positive class samples</a:t>
            </a:r>
            <a:endParaRPr lang="en-US" sz="1000" dirty="0"/>
          </a:p>
        </p:txBody>
      </p:sp>
      <p:sp>
        <p:nvSpPr>
          <p:cNvPr id="18" name="Shape 16"/>
          <p:cNvSpPr/>
          <p:nvPr/>
        </p:nvSpPr>
        <p:spPr>
          <a:xfrm>
            <a:off x="228600" y="2743200"/>
            <a:ext cx="4023360" cy="347472"/>
          </a:xfrm>
          <a:prstGeom prst="rect">
            <a:avLst/>
          </a:prstGeom>
          <a:solidFill>
            <a:srgbClr val="EFF6FF"/>
          </a:solidFill>
          <a:ln w="6350">
            <a:solidFill>
              <a:srgbClr val="E2E8F0"/>
            </a:solidFill>
            <a:prstDash val="solid"/>
          </a:ln>
        </p:spPr>
      </p:sp>
      <p:sp>
        <p:nvSpPr>
          <p:cNvPr id="19" name="Text 17"/>
          <p:cNvSpPr/>
          <p:nvPr/>
        </p:nvSpPr>
        <p:spPr>
          <a:xfrm>
            <a:off x="320040" y="2743200"/>
            <a:ext cx="2194560" cy="347472"/>
          </a:xfrm>
          <a:prstGeom prst="rect">
            <a:avLst/>
          </a:prstGeom>
          <a:noFill/>
          <a:ln/>
        </p:spPr>
        <p:txBody>
          <a:bodyPr wrap="square" lIns="0" tIns="0" rIns="0" bIns="0" rtlCol="0" anchor="ctr"/>
          <a:lstStyle/>
          <a:p>
            <a:pPr indent="0" marL="0">
              <a:buNone/>
            </a:pPr>
            <a:r>
              <a:rPr lang="en-US" sz="1050" dirty="0">
                <a:solidFill>
                  <a:srgbClr val="2563EB"/>
                </a:solidFill>
                <a:latin typeface="Consolas" pitchFamily="34" charset="0"/>
                <a:ea typeface="Consolas" pitchFamily="34" charset="-122"/>
                <a:cs typeface="Consolas" pitchFamily="34" charset="-120"/>
              </a:rPr>
              <a:t>  📁 test/</a:t>
            </a:r>
            <a:endParaRPr lang="en-US" sz="1050" dirty="0"/>
          </a:p>
        </p:txBody>
      </p:sp>
      <p:sp>
        <p:nvSpPr>
          <p:cNvPr id="20" name="Text 18"/>
          <p:cNvSpPr/>
          <p:nvPr/>
        </p:nvSpPr>
        <p:spPr>
          <a:xfrm>
            <a:off x="2468880" y="2743200"/>
            <a:ext cx="1691640" cy="34747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Unlabeled test images</a:t>
            </a:r>
            <a:endParaRPr lang="en-US" sz="1000" dirty="0"/>
          </a:p>
        </p:txBody>
      </p:sp>
      <p:sp>
        <p:nvSpPr>
          <p:cNvPr id="21" name="Text 19"/>
          <p:cNvSpPr/>
          <p:nvPr/>
        </p:nvSpPr>
        <p:spPr>
          <a:xfrm>
            <a:off x="228600" y="3172968"/>
            <a:ext cx="4023360" cy="320040"/>
          </a:xfrm>
          <a:prstGeom prst="rect">
            <a:avLst/>
          </a:prstGeom>
          <a:noFill/>
          <a:ln/>
        </p:spPr>
        <p:txBody>
          <a:bodyPr wrap="square" lIns="0" tIns="0" rIns="0" bIns="0"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Preprocessing Pipeline</a:t>
            </a:r>
            <a:endParaRPr lang="en-US" sz="1300" dirty="0"/>
          </a:p>
        </p:txBody>
      </p:sp>
      <p:sp>
        <p:nvSpPr>
          <p:cNvPr id="22" name="Text 20"/>
          <p:cNvSpPr/>
          <p:nvPr/>
        </p:nvSpPr>
        <p:spPr>
          <a:xfrm>
            <a:off x="228600" y="3520440"/>
            <a:ext cx="4023360" cy="118872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 Images loaded via PIL in RGB mode</a:t>
            </a:r>
            <a:endParaRPr lang="en-US" sz="1100" dirty="0"/>
          </a:p>
          <a:p>
            <a:pPr indent="0" marL="0">
              <a:buNone/>
            </a:pPr>
            <a:r>
              <a:rPr lang="en-US" sz="1100" dirty="0">
                <a:solidFill>
                  <a:srgbClr val="0F172A"/>
                </a:solidFill>
                <a:latin typeface="Calibri" pitchFamily="34" charset="0"/>
                <a:ea typeface="Calibri" pitchFamily="34" charset="-122"/>
                <a:cs typeface="Calibri" pitchFamily="34" charset="-120"/>
              </a:rPr>
              <a:t>• Resized to 224 × 224 pixels</a:t>
            </a:r>
            <a:endParaRPr lang="en-US" sz="1100" dirty="0"/>
          </a:p>
          <a:p>
            <a:pPr indent="0" marL="0">
              <a:buNone/>
            </a:pPr>
            <a:r>
              <a:rPr lang="en-US" sz="1100" dirty="0">
                <a:solidFill>
                  <a:srgbClr val="0F172A"/>
                </a:solidFill>
                <a:latin typeface="Calibri" pitchFamily="34" charset="0"/>
                <a:ea typeface="Calibri" pitchFamily="34" charset="-122"/>
                <a:cs typeface="Calibri" pitchFamily="34" charset="-120"/>
              </a:rPr>
              <a:t>• Normalized: μ = [0.485, 0.456, 0.406], σ = [0.229, 0.224, 0.225]</a:t>
            </a:r>
            <a:endParaRPr lang="en-US" sz="1100" dirty="0"/>
          </a:p>
          <a:p>
            <a:pPr indent="0" marL="0">
              <a:buNone/>
            </a:pPr>
            <a:r>
              <a:rPr lang="en-US" sz="1100" dirty="0">
                <a:solidFill>
                  <a:srgbClr val="0F172A"/>
                </a:solidFill>
                <a:latin typeface="Calibri" pitchFamily="34" charset="0"/>
                <a:ea typeface="Calibri" pitchFamily="34" charset="-122"/>
                <a:cs typeface="Calibri" pitchFamily="34" charset="-120"/>
              </a:rPr>
              <a:t>• 85% train / 15% validation stratified split</a:t>
            </a:r>
            <a:endParaRPr lang="en-US" sz="1100" dirty="0"/>
          </a:p>
        </p:txBody>
      </p:sp>
      <p:sp>
        <p:nvSpPr>
          <p:cNvPr id="23" name="Shape 21"/>
          <p:cNvSpPr/>
          <p:nvPr/>
        </p:nvSpPr>
        <p:spPr>
          <a:xfrm>
            <a:off x="4480560" y="749808"/>
            <a:ext cx="4434840" cy="4114800"/>
          </a:xfrm>
          <a:prstGeom prst="rect">
            <a:avLst/>
          </a:prstGeom>
          <a:solidFill>
            <a:srgbClr val="0D1B3E"/>
          </a:solidFill>
          <a:ln w="12700">
            <a:solidFill>
              <a:srgbClr val="0D1B3E"/>
            </a:solidFill>
            <a:prstDash val="solid"/>
          </a:ln>
        </p:spPr>
      </p:sp>
      <p:sp>
        <p:nvSpPr>
          <p:cNvPr id="24" name="Text 22"/>
          <p:cNvSpPr/>
          <p:nvPr/>
        </p:nvSpPr>
        <p:spPr>
          <a:xfrm>
            <a:off x="4572000" y="841248"/>
            <a:ext cx="4206240" cy="347472"/>
          </a:xfrm>
          <a:prstGeom prst="rect">
            <a:avLst/>
          </a:prstGeom>
          <a:noFill/>
          <a:ln/>
        </p:spPr>
        <p:txBody>
          <a:bodyPr wrap="square" lIns="0" tIns="0" rIns="0" bIns="0" rtlCol="0" anchor="ctr"/>
          <a:lstStyle/>
          <a:p>
            <a:pPr indent="0" marL="0">
              <a:buNone/>
            </a:pPr>
            <a:r>
              <a:rPr lang="en-US" sz="1300" b="1" dirty="0">
                <a:solidFill>
                  <a:srgbClr val="06B6D4"/>
                </a:solidFill>
                <a:latin typeface="Calibri" pitchFamily="34" charset="0"/>
                <a:ea typeface="Calibri" pitchFamily="34" charset="-122"/>
                <a:cs typeface="Calibri" pitchFamily="34" charset="-120"/>
              </a:rPr>
              <a:t>Training Augmentations</a:t>
            </a:r>
            <a:endParaRPr lang="en-US" sz="1300" dirty="0"/>
          </a:p>
        </p:txBody>
      </p:sp>
      <p:sp>
        <p:nvSpPr>
          <p:cNvPr id="25" name="Shape 23"/>
          <p:cNvSpPr/>
          <p:nvPr/>
        </p:nvSpPr>
        <p:spPr>
          <a:xfrm>
            <a:off x="4572000" y="1335024"/>
            <a:ext cx="54864" cy="457200"/>
          </a:xfrm>
          <a:prstGeom prst="rect">
            <a:avLst/>
          </a:prstGeom>
          <a:solidFill>
            <a:srgbClr val="2563EB"/>
          </a:solidFill>
          <a:ln w="12700">
            <a:solidFill>
              <a:srgbClr val="2563EB"/>
            </a:solidFill>
            <a:prstDash val="solid"/>
          </a:ln>
        </p:spPr>
      </p:sp>
      <p:sp>
        <p:nvSpPr>
          <p:cNvPr id="26" name="Text 24"/>
          <p:cNvSpPr/>
          <p:nvPr/>
        </p:nvSpPr>
        <p:spPr>
          <a:xfrm>
            <a:off x="4700016" y="1335024"/>
            <a:ext cx="411480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Random Resized Crop</a:t>
            </a:r>
            <a:endParaRPr lang="en-US" sz="1150" dirty="0"/>
          </a:p>
        </p:txBody>
      </p:sp>
      <p:sp>
        <p:nvSpPr>
          <p:cNvPr id="27" name="Text 25"/>
          <p:cNvSpPr/>
          <p:nvPr/>
        </p:nvSpPr>
        <p:spPr>
          <a:xfrm>
            <a:off x="4700016" y="1572768"/>
            <a:ext cx="4114800" cy="219456"/>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Scale 0.9–1.0, final 224×224</a:t>
            </a:r>
            <a:endParaRPr lang="en-US" sz="1000" dirty="0"/>
          </a:p>
        </p:txBody>
      </p:sp>
      <p:sp>
        <p:nvSpPr>
          <p:cNvPr id="28" name="Shape 26"/>
          <p:cNvSpPr/>
          <p:nvPr/>
        </p:nvSpPr>
        <p:spPr>
          <a:xfrm>
            <a:off x="4572000" y="1993392"/>
            <a:ext cx="54864" cy="457200"/>
          </a:xfrm>
          <a:prstGeom prst="rect">
            <a:avLst/>
          </a:prstGeom>
          <a:solidFill>
            <a:srgbClr val="0891B2"/>
          </a:solidFill>
          <a:ln w="12700">
            <a:solidFill>
              <a:srgbClr val="0891B2"/>
            </a:solidFill>
            <a:prstDash val="solid"/>
          </a:ln>
        </p:spPr>
      </p:sp>
      <p:sp>
        <p:nvSpPr>
          <p:cNvPr id="29" name="Text 27"/>
          <p:cNvSpPr/>
          <p:nvPr/>
        </p:nvSpPr>
        <p:spPr>
          <a:xfrm>
            <a:off x="4700016" y="1993392"/>
            <a:ext cx="411480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Random Horizontal Flip</a:t>
            </a:r>
            <a:endParaRPr lang="en-US" sz="1150" dirty="0"/>
          </a:p>
        </p:txBody>
      </p:sp>
      <p:sp>
        <p:nvSpPr>
          <p:cNvPr id="30" name="Text 28"/>
          <p:cNvSpPr/>
          <p:nvPr/>
        </p:nvSpPr>
        <p:spPr>
          <a:xfrm>
            <a:off x="4700016" y="2231136"/>
            <a:ext cx="4114800" cy="219456"/>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 = 0.5, free augmentation</a:t>
            </a:r>
            <a:endParaRPr lang="en-US" sz="1000" dirty="0"/>
          </a:p>
        </p:txBody>
      </p:sp>
      <p:sp>
        <p:nvSpPr>
          <p:cNvPr id="31" name="Shape 29"/>
          <p:cNvSpPr/>
          <p:nvPr/>
        </p:nvSpPr>
        <p:spPr>
          <a:xfrm>
            <a:off x="4572000" y="2651760"/>
            <a:ext cx="54864" cy="457200"/>
          </a:xfrm>
          <a:prstGeom prst="rect">
            <a:avLst/>
          </a:prstGeom>
          <a:solidFill>
            <a:srgbClr val="7C3AED"/>
          </a:solidFill>
          <a:ln w="12700">
            <a:solidFill>
              <a:srgbClr val="7C3AED"/>
            </a:solidFill>
            <a:prstDash val="solid"/>
          </a:ln>
        </p:spPr>
      </p:sp>
      <p:sp>
        <p:nvSpPr>
          <p:cNvPr id="32" name="Text 30"/>
          <p:cNvSpPr/>
          <p:nvPr/>
        </p:nvSpPr>
        <p:spPr>
          <a:xfrm>
            <a:off x="4700016" y="2651760"/>
            <a:ext cx="411480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Color Jitter</a:t>
            </a:r>
            <a:endParaRPr lang="en-US" sz="1150" dirty="0"/>
          </a:p>
        </p:txBody>
      </p:sp>
      <p:sp>
        <p:nvSpPr>
          <p:cNvPr id="33" name="Text 31"/>
          <p:cNvSpPr/>
          <p:nvPr/>
        </p:nvSpPr>
        <p:spPr>
          <a:xfrm>
            <a:off x="4700016" y="2889504"/>
            <a:ext cx="4114800" cy="219456"/>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Brightness, Contrast, Sat, Hue ±0.15</a:t>
            </a:r>
            <a:endParaRPr lang="en-US" sz="1000" dirty="0"/>
          </a:p>
        </p:txBody>
      </p:sp>
      <p:sp>
        <p:nvSpPr>
          <p:cNvPr id="34" name="Shape 32"/>
          <p:cNvSpPr/>
          <p:nvPr/>
        </p:nvSpPr>
        <p:spPr>
          <a:xfrm>
            <a:off x="4572000" y="3310128"/>
            <a:ext cx="54864" cy="457200"/>
          </a:xfrm>
          <a:prstGeom prst="rect">
            <a:avLst/>
          </a:prstGeom>
          <a:solidFill>
            <a:srgbClr val="F59E0B"/>
          </a:solidFill>
          <a:ln w="12700">
            <a:solidFill>
              <a:srgbClr val="F59E0B"/>
            </a:solidFill>
            <a:prstDash val="solid"/>
          </a:ln>
        </p:spPr>
      </p:sp>
      <p:sp>
        <p:nvSpPr>
          <p:cNvPr id="35" name="Text 33"/>
          <p:cNvSpPr/>
          <p:nvPr/>
        </p:nvSpPr>
        <p:spPr>
          <a:xfrm>
            <a:off x="4700016" y="3310128"/>
            <a:ext cx="411480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Gaussian Blur</a:t>
            </a:r>
            <a:endParaRPr lang="en-US" sz="1150" dirty="0"/>
          </a:p>
        </p:txBody>
      </p:sp>
      <p:sp>
        <p:nvSpPr>
          <p:cNvPr id="36" name="Text 34"/>
          <p:cNvSpPr/>
          <p:nvPr/>
        </p:nvSpPr>
        <p:spPr>
          <a:xfrm>
            <a:off x="4700016" y="3547872"/>
            <a:ext cx="4114800" cy="219456"/>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Kernel 3×3 applied with p = 0.2</a:t>
            </a:r>
            <a:endParaRPr lang="en-US" sz="1000" dirty="0"/>
          </a:p>
        </p:txBody>
      </p:sp>
      <p:sp>
        <p:nvSpPr>
          <p:cNvPr id="37" name="Shape 35"/>
          <p:cNvSpPr/>
          <p:nvPr/>
        </p:nvSpPr>
        <p:spPr>
          <a:xfrm>
            <a:off x="4572000" y="3968496"/>
            <a:ext cx="54864" cy="457200"/>
          </a:xfrm>
          <a:prstGeom prst="rect">
            <a:avLst/>
          </a:prstGeom>
          <a:solidFill>
            <a:srgbClr val="10B981"/>
          </a:solidFill>
          <a:ln w="12700">
            <a:solidFill>
              <a:srgbClr val="10B981"/>
            </a:solidFill>
            <a:prstDash val="solid"/>
          </a:ln>
        </p:spPr>
      </p:sp>
      <p:sp>
        <p:nvSpPr>
          <p:cNvPr id="38" name="Text 36"/>
          <p:cNvSpPr/>
          <p:nvPr/>
        </p:nvSpPr>
        <p:spPr>
          <a:xfrm>
            <a:off x="4700016" y="3968496"/>
            <a:ext cx="411480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ImageNet Normalization</a:t>
            </a:r>
            <a:endParaRPr lang="en-US" sz="1150" dirty="0"/>
          </a:p>
        </p:txBody>
      </p:sp>
      <p:sp>
        <p:nvSpPr>
          <p:cNvPr id="39" name="Text 37"/>
          <p:cNvSpPr/>
          <p:nvPr/>
        </p:nvSpPr>
        <p:spPr>
          <a:xfrm>
            <a:off x="4700016" y="4206240"/>
            <a:ext cx="4114800" cy="219456"/>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Standard mean &amp; std values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563EB"/>
          </a:solidFill>
          <a:ln w="12700">
            <a:solidFill>
              <a:srgbClr val="2563EB"/>
            </a:solidFill>
            <a:prstDash val="solid"/>
          </a:ln>
        </p:spPr>
      </p:sp>
      <p:sp>
        <p:nvSpPr>
          <p:cNvPr id="3" name="Shape 1"/>
          <p:cNvSpPr/>
          <p:nvPr/>
        </p:nvSpPr>
        <p:spPr>
          <a:xfrm>
            <a:off x="0" y="0"/>
            <a:ext cx="9144000" cy="658368"/>
          </a:xfrm>
          <a:prstGeom prst="rect">
            <a:avLst/>
          </a:prstGeom>
          <a:solidFill>
            <a:srgbClr val="0D1B3E"/>
          </a:solidFill>
          <a:ln w="12700">
            <a:solidFill>
              <a:srgbClr val="0D1B3E"/>
            </a:solidFill>
            <a:prstDash val="solid"/>
          </a:ln>
        </p:spPr>
      </p:sp>
      <p:sp>
        <p:nvSpPr>
          <p:cNvPr id="4" name="Text 2"/>
          <p:cNvSpPr/>
          <p:nvPr/>
        </p:nvSpPr>
        <p:spPr>
          <a:xfrm>
            <a:off x="228600" y="36576"/>
            <a:ext cx="8686800" cy="585216"/>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Methodology — Model Architecture</a:t>
            </a:r>
            <a:endParaRPr lang="en-US" sz="2200" dirty="0"/>
          </a:p>
        </p:txBody>
      </p:sp>
      <p:sp>
        <p:nvSpPr>
          <p:cNvPr id="5" name="Shape 3"/>
          <p:cNvSpPr/>
          <p:nvPr/>
        </p:nvSpPr>
        <p:spPr>
          <a:xfrm>
            <a:off x="228600" y="1371600"/>
            <a:ext cx="950976" cy="1051560"/>
          </a:xfrm>
          <a:prstGeom prst="rect">
            <a:avLst/>
          </a:prstGeom>
          <a:solidFill>
            <a:srgbClr val="0D1B3E"/>
          </a:solidFill>
          <a:ln w="12700">
            <a:solidFill>
              <a:srgbClr val="0D1B3E"/>
            </a:solidFill>
            <a:prstDash val="solid"/>
          </a:ln>
        </p:spPr>
      </p:sp>
      <p:sp>
        <p:nvSpPr>
          <p:cNvPr id="6" name="Text 4"/>
          <p:cNvSpPr/>
          <p:nvPr/>
        </p:nvSpPr>
        <p:spPr>
          <a:xfrm>
            <a:off x="228600" y="1371600"/>
            <a:ext cx="950976" cy="10515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Input</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3×224×224</a:t>
            </a:r>
            <a:endParaRPr lang="en-US" sz="900" dirty="0"/>
          </a:p>
        </p:txBody>
      </p:sp>
      <p:sp>
        <p:nvSpPr>
          <p:cNvPr id="7" name="Shape 5"/>
          <p:cNvSpPr/>
          <p:nvPr/>
        </p:nvSpPr>
        <p:spPr>
          <a:xfrm>
            <a:off x="1179576" y="1869948"/>
            <a:ext cx="137160" cy="54864"/>
          </a:xfrm>
          <a:prstGeom prst="rect">
            <a:avLst/>
          </a:prstGeom>
          <a:solidFill>
            <a:srgbClr val="94A3B8"/>
          </a:solidFill>
          <a:ln w="12700">
            <a:solidFill>
              <a:srgbClr val="94A3B8"/>
            </a:solidFill>
            <a:prstDash val="solid"/>
          </a:ln>
        </p:spPr>
      </p:sp>
      <p:sp>
        <p:nvSpPr>
          <p:cNvPr id="8" name="Shape 6"/>
          <p:cNvSpPr/>
          <p:nvPr/>
        </p:nvSpPr>
        <p:spPr>
          <a:xfrm>
            <a:off x="1316736" y="1371600"/>
            <a:ext cx="950976" cy="1051560"/>
          </a:xfrm>
          <a:prstGeom prst="rect">
            <a:avLst/>
          </a:prstGeom>
          <a:solidFill>
            <a:srgbClr val="2563EB"/>
          </a:solidFill>
          <a:ln w="12700">
            <a:solidFill>
              <a:srgbClr val="2563EB"/>
            </a:solidFill>
            <a:prstDash val="solid"/>
          </a:ln>
        </p:spPr>
      </p:sp>
      <p:sp>
        <p:nvSpPr>
          <p:cNvPr id="9" name="Text 7"/>
          <p:cNvSpPr/>
          <p:nvPr/>
        </p:nvSpPr>
        <p:spPr>
          <a:xfrm>
            <a:off x="1316736" y="1371600"/>
            <a:ext cx="950976" cy="10515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Stem</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7×7 Conv</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MaxPool</a:t>
            </a:r>
            <a:endParaRPr lang="en-US" sz="900" dirty="0"/>
          </a:p>
        </p:txBody>
      </p:sp>
      <p:sp>
        <p:nvSpPr>
          <p:cNvPr id="10" name="Shape 8"/>
          <p:cNvSpPr/>
          <p:nvPr/>
        </p:nvSpPr>
        <p:spPr>
          <a:xfrm>
            <a:off x="2267712" y="1869948"/>
            <a:ext cx="137160" cy="54864"/>
          </a:xfrm>
          <a:prstGeom prst="rect">
            <a:avLst/>
          </a:prstGeom>
          <a:solidFill>
            <a:srgbClr val="94A3B8"/>
          </a:solidFill>
          <a:ln w="12700">
            <a:solidFill>
              <a:srgbClr val="94A3B8"/>
            </a:solidFill>
            <a:prstDash val="solid"/>
          </a:ln>
        </p:spPr>
      </p:sp>
      <p:sp>
        <p:nvSpPr>
          <p:cNvPr id="11" name="Shape 9"/>
          <p:cNvSpPr/>
          <p:nvPr/>
        </p:nvSpPr>
        <p:spPr>
          <a:xfrm>
            <a:off x="2404872" y="1371600"/>
            <a:ext cx="950976" cy="1051560"/>
          </a:xfrm>
          <a:prstGeom prst="rect">
            <a:avLst/>
          </a:prstGeom>
          <a:solidFill>
            <a:srgbClr val="0891B2"/>
          </a:solidFill>
          <a:ln w="12700">
            <a:solidFill>
              <a:srgbClr val="0891B2"/>
            </a:solidFill>
            <a:prstDash val="solid"/>
          </a:ln>
        </p:spPr>
      </p:sp>
      <p:sp>
        <p:nvSpPr>
          <p:cNvPr id="12" name="Text 10"/>
          <p:cNvSpPr/>
          <p:nvPr/>
        </p:nvSpPr>
        <p:spPr>
          <a:xfrm>
            <a:off x="2404872" y="1371600"/>
            <a:ext cx="950976" cy="10515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Layer 1</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3× BasicBlock</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64 ch</a:t>
            </a:r>
            <a:endParaRPr lang="en-US" sz="900" dirty="0"/>
          </a:p>
        </p:txBody>
      </p:sp>
      <p:sp>
        <p:nvSpPr>
          <p:cNvPr id="13" name="Shape 11"/>
          <p:cNvSpPr/>
          <p:nvPr/>
        </p:nvSpPr>
        <p:spPr>
          <a:xfrm>
            <a:off x="3355848" y="1869948"/>
            <a:ext cx="137160" cy="54864"/>
          </a:xfrm>
          <a:prstGeom prst="rect">
            <a:avLst/>
          </a:prstGeom>
          <a:solidFill>
            <a:srgbClr val="94A3B8"/>
          </a:solidFill>
          <a:ln w="12700">
            <a:solidFill>
              <a:srgbClr val="94A3B8"/>
            </a:solidFill>
            <a:prstDash val="solid"/>
          </a:ln>
        </p:spPr>
      </p:sp>
      <p:sp>
        <p:nvSpPr>
          <p:cNvPr id="14" name="Shape 12"/>
          <p:cNvSpPr/>
          <p:nvPr/>
        </p:nvSpPr>
        <p:spPr>
          <a:xfrm>
            <a:off x="3493008" y="1371600"/>
            <a:ext cx="950976" cy="1051560"/>
          </a:xfrm>
          <a:prstGeom prst="rect">
            <a:avLst/>
          </a:prstGeom>
          <a:solidFill>
            <a:srgbClr val="0891B2"/>
          </a:solidFill>
          <a:ln w="12700">
            <a:solidFill>
              <a:srgbClr val="0891B2"/>
            </a:solidFill>
            <a:prstDash val="solid"/>
          </a:ln>
        </p:spPr>
      </p:sp>
      <p:sp>
        <p:nvSpPr>
          <p:cNvPr id="15" name="Text 13"/>
          <p:cNvSpPr/>
          <p:nvPr/>
        </p:nvSpPr>
        <p:spPr>
          <a:xfrm>
            <a:off x="3493008" y="1371600"/>
            <a:ext cx="950976" cy="10515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Layer 2</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4× BasicBlock</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128 ch</a:t>
            </a:r>
            <a:endParaRPr lang="en-US" sz="900" dirty="0"/>
          </a:p>
        </p:txBody>
      </p:sp>
      <p:sp>
        <p:nvSpPr>
          <p:cNvPr id="16" name="Shape 14"/>
          <p:cNvSpPr/>
          <p:nvPr/>
        </p:nvSpPr>
        <p:spPr>
          <a:xfrm>
            <a:off x="4443984" y="1869948"/>
            <a:ext cx="137160" cy="54864"/>
          </a:xfrm>
          <a:prstGeom prst="rect">
            <a:avLst/>
          </a:prstGeom>
          <a:solidFill>
            <a:srgbClr val="94A3B8"/>
          </a:solidFill>
          <a:ln w="12700">
            <a:solidFill>
              <a:srgbClr val="94A3B8"/>
            </a:solidFill>
            <a:prstDash val="solid"/>
          </a:ln>
        </p:spPr>
      </p:sp>
      <p:sp>
        <p:nvSpPr>
          <p:cNvPr id="17" name="Shape 15"/>
          <p:cNvSpPr/>
          <p:nvPr/>
        </p:nvSpPr>
        <p:spPr>
          <a:xfrm>
            <a:off x="4581144" y="1371600"/>
            <a:ext cx="950976" cy="1051560"/>
          </a:xfrm>
          <a:prstGeom prst="rect">
            <a:avLst/>
          </a:prstGeom>
          <a:solidFill>
            <a:srgbClr val="7C3AED"/>
          </a:solidFill>
          <a:ln w="12700">
            <a:solidFill>
              <a:srgbClr val="7C3AED"/>
            </a:solidFill>
            <a:prstDash val="solid"/>
          </a:ln>
        </p:spPr>
      </p:sp>
      <p:sp>
        <p:nvSpPr>
          <p:cNvPr id="18" name="Text 16"/>
          <p:cNvSpPr/>
          <p:nvPr/>
        </p:nvSpPr>
        <p:spPr>
          <a:xfrm>
            <a:off x="4581144" y="1371600"/>
            <a:ext cx="950976" cy="10515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Layer 3</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6× BasicBlock</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256 ch</a:t>
            </a:r>
            <a:endParaRPr lang="en-US" sz="900" dirty="0"/>
          </a:p>
        </p:txBody>
      </p:sp>
      <p:sp>
        <p:nvSpPr>
          <p:cNvPr id="19" name="Shape 17"/>
          <p:cNvSpPr/>
          <p:nvPr/>
        </p:nvSpPr>
        <p:spPr>
          <a:xfrm>
            <a:off x="5532120" y="1869948"/>
            <a:ext cx="137160" cy="54864"/>
          </a:xfrm>
          <a:prstGeom prst="rect">
            <a:avLst/>
          </a:prstGeom>
          <a:solidFill>
            <a:srgbClr val="94A3B8"/>
          </a:solidFill>
          <a:ln w="12700">
            <a:solidFill>
              <a:srgbClr val="94A3B8"/>
            </a:solidFill>
            <a:prstDash val="solid"/>
          </a:ln>
        </p:spPr>
      </p:sp>
      <p:sp>
        <p:nvSpPr>
          <p:cNvPr id="20" name="Shape 18"/>
          <p:cNvSpPr/>
          <p:nvPr/>
        </p:nvSpPr>
        <p:spPr>
          <a:xfrm>
            <a:off x="5669280" y="1371600"/>
            <a:ext cx="950976" cy="1051560"/>
          </a:xfrm>
          <a:prstGeom prst="rect">
            <a:avLst/>
          </a:prstGeom>
          <a:solidFill>
            <a:srgbClr val="7C3AED"/>
          </a:solidFill>
          <a:ln w="12700">
            <a:solidFill>
              <a:srgbClr val="7C3AED"/>
            </a:solidFill>
            <a:prstDash val="solid"/>
          </a:ln>
        </p:spPr>
      </p:sp>
      <p:sp>
        <p:nvSpPr>
          <p:cNvPr id="21" name="Text 19"/>
          <p:cNvSpPr/>
          <p:nvPr/>
        </p:nvSpPr>
        <p:spPr>
          <a:xfrm>
            <a:off x="5669280" y="1371600"/>
            <a:ext cx="950976" cy="10515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Layer 4</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3× BasicBlock</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512 ch</a:t>
            </a:r>
            <a:endParaRPr lang="en-US" sz="900" dirty="0"/>
          </a:p>
        </p:txBody>
      </p:sp>
      <p:sp>
        <p:nvSpPr>
          <p:cNvPr id="22" name="Shape 20"/>
          <p:cNvSpPr/>
          <p:nvPr/>
        </p:nvSpPr>
        <p:spPr>
          <a:xfrm>
            <a:off x="6620256" y="1869948"/>
            <a:ext cx="137160" cy="54864"/>
          </a:xfrm>
          <a:prstGeom prst="rect">
            <a:avLst/>
          </a:prstGeom>
          <a:solidFill>
            <a:srgbClr val="94A3B8"/>
          </a:solidFill>
          <a:ln w="12700">
            <a:solidFill>
              <a:srgbClr val="94A3B8"/>
            </a:solidFill>
            <a:prstDash val="solid"/>
          </a:ln>
        </p:spPr>
      </p:sp>
      <p:sp>
        <p:nvSpPr>
          <p:cNvPr id="23" name="Shape 21"/>
          <p:cNvSpPr/>
          <p:nvPr/>
        </p:nvSpPr>
        <p:spPr>
          <a:xfrm>
            <a:off x="6757416" y="1371600"/>
            <a:ext cx="950976" cy="1051560"/>
          </a:xfrm>
          <a:prstGeom prst="rect">
            <a:avLst/>
          </a:prstGeom>
          <a:solidFill>
            <a:srgbClr val="F59E0B"/>
          </a:solidFill>
          <a:ln w="12700">
            <a:solidFill>
              <a:srgbClr val="F59E0B"/>
            </a:solidFill>
            <a:prstDash val="solid"/>
          </a:ln>
        </p:spPr>
      </p:sp>
      <p:sp>
        <p:nvSpPr>
          <p:cNvPr id="24" name="Text 22"/>
          <p:cNvSpPr/>
          <p:nvPr/>
        </p:nvSpPr>
        <p:spPr>
          <a:xfrm>
            <a:off x="6757416" y="1371600"/>
            <a:ext cx="950976" cy="10515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GeM</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Pooling</a:t>
            </a:r>
            <a:endParaRPr lang="en-US" sz="900" dirty="0"/>
          </a:p>
        </p:txBody>
      </p:sp>
      <p:sp>
        <p:nvSpPr>
          <p:cNvPr id="25" name="Shape 23"/>
          <p:cNvSpPr/>
          <p:nvPr/>
        </p:nvSpPr>
        <p:spPr>
          <a:xfrm>
            <a:off x="7708392" y="1869948"/>
            <a:ext cx="137160" cy="54864"/>
          </a:xfrm>
          <a:prstGeom prst="rect">
            <a:avLst/>
          </a:prstGeom>
          <a:solidFill>
            <a:srgbClr val="94A3B8"/>
          </a:solidFill>
          <a:ln w="12700">
            <a:solidFill>
              <a:srgbClr val="94A3B8"/>
            </a:solidFill>
            <a:prstDash val="solid"/>
          </a:ln>
        </p:spPr>
      </p:sp>
      <p:sp>
        <p:nvSpPr>
          <p:cNvPr id="26" name="Shape 24"/>
          <p:cNvSpPr/>
          <p:nvPr/>
        </p:nvSpPr>
        <p:spPr>
          <a:xfrm>
            <a:off x="7845552" y="1371600"/>
            <a:ext cx="950976" cy="1051560"/>
          </a:xfrm>
          <a:prstGeom prst="rect">
            <a:avLst/>
          </a:prstGeom>
          <a:solidFill>
            <a:srgbClr val="10B981"/>
          </a:solidFill>
          <a:ln w="12700">
            <a:solidFill>
              <a:srgbClr val="10B981"/>
            </a:solidFill>
            <a:prstDash val="solid"/>
          </a:ln>
        </p:spPr>
      </p:sp>
      <p:sp>
        <p:nvSpPr>
          <p:cNvPr id="27" name="Text 25"/>
          <p:cNvSpPr/>
          <p:nvPr/>
        </p:nvSpPr>
        <p:spPr>
          <a:xfrm>
            <a:off x="7845552" y="1371600"/>
            <a:ext cx="950976" cy="10515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FC Head</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 1 logit</a:t>
            </a:r>
            <a:endParaRPr lang="en-US" sz="900" dirty="0"/>
          </a:p>
        </p:txBody>
      </p:sp>
      <p:sp>
        <p:nvSpPr>
          <p:cNvPr id="28" name="Text 26"/>
          <p:cNvSpPr/>
          <p:nvPr/>
        </p:nvSpPr>
        <p:spPr>
          <a:xfrm>
            <a:off x="228600" y="2633472"/>
            <a:ext cx="4206240" cy="320040"/>
          </a:xfrm>
          <a:prstGeom prst="rect">
            <a:avLst/>
          </a:prstGeom>
          <a:noFill/>
          <a:ln/>
        </p:spPr>
        <p:txBody>
          <a:bodyPr wrap="square" lIns="0" tIns="0" rIns="0" bIns="0"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CBAM Inside Each BasicBlock</a:t>
            </a:r>
            <a:endParaRPr lang="en-US" sz="1300" dirty="0"/>
          </a:p>
        </p:txBody>
      </p:sp>
      <p:sp>
        <p:nvSpPr>
          <p:cNvPr id="29" name="Shape 27"/>
          <p:cNvSpPr/>
          <p:nvPr/>
        </p:nvSpPr>
        <p:spPr>
          <a:xfrm>
            <a:off x="228600" y="3017520"/>
            <a:ext cx="4114800" cy="1737360"/>
          </a:xfrm>
          <a:prstGeom prst="rect">
            <a:avLst/>
          </a:prstGeom>
          <a:solidFill>
            <a:srgbClr val="EFF6FF"/>
          </a:solidFill>
          <a:ln w="6350">
            <a:solidFill>
              <a:srgbClr val="E2E8F0"/>
            </a:solidFill>
            <a:prstDash val="solid"/>
          </a:ln>
        </p:spPr>
      </p:sp>
      <p:sp>
        <p:nvSpPr>
          <p:cNvPr id="30" name="Shape 28"/>
          <p:cNvSpPr/>
          <p:nvPr/>
        </p:nvSpPr>
        <p:spPr>
          <a:xfrm>
            <a:off x="365760" y="3127248"/>
            <a:ext cx="329184" cy="329184"/>
          </a:xfrm>
          <a:prstGeom prst="ellipse">
            <a:avLst/>
          </a:prstGeom>
          <a:solidFill>
            <a:srgbClr val="2563EB"/>
          </a:solidFill>
          <a:ln w="12700">
            <a:solidFill>
              <a:srgbClr val="2563EB"/>
            </a:solidFill>
            <a:prstDash val="solid"/>
          </a:ln>
        </p:spPr>
      </p:sp>
      <p:sp>
        <p:nvSpPr>
          <p:cNvPr id="31" name="Text 29"/>
          <p:cNvSpPr/>
          <p:nvPr/>
        </p:nvSpPr>
        <p:spPr>
          <a:xfrm>
            <a:off x="365760" y="31272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2" name="Text 30"/>
          <p:cNvSpPr/>
          <p:nvPr/>
        </p:nvSpPr>
        <p:spPr>
          <a:xfrm>
            <a:off x="758952" y="3090672"/>
            <a:ext cx="3429000" cy="347472"/>
          </a:xfrm>
          <a:prstGeom prst="rect">
            <a:avLst/>
          </a:prstGeom>
          <a:noFill/>
          <a:ln/>
        </p:spPr>
        <p:txBody>
          <a:bodyPr wrap="square" lIns="0" tIns="0" rIns="0" bIns="0" rtlCol="0" anchor="ctr"/>
          <a:lstStyle/>
          <a:p>
            <a:pPr indent="0" marL="0">
              <a:buNone/>
            </a:pPr>
            <a:r>
              <a:rPr lang="en-US" sz="1200" b="1" dirty="0">
                <a:solidFill>
                  <a:srgbClr val="0D1B3E"/>
                </a:solidFill>
                <a:latin typeface="Calibri" pitchFamily="34" charset="0"/>
                <a:ea typeface="Calibri" pitchFamily="34" charset="-122"/>
                <a:cs typeface="Calibri" pitchFamily="34" charset="-120"/>
              </a:rPr>
              <a:t>Channel Attention</a:t>
            </a:r>
            <a:endParaRPr lang="en-US" sz="1200" dirty="0"/>
          </a:p>
        </p:txBody>
      </p:sp>
      <p:sp>
        <p:nvSpPr>
          <p:cNvPr id="33" name="Text 31"/>
          <p:cNvSpPr/>
          <p:nvPr/>
        </p:nvSpPr>
        <p:spPr>
          <a:xfrm>
            <a:off x="411480" y="3493008"/>
            <a:ext cx="3749040" cy="11887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Avg + Max pool → shared MLP → sigmoid gate → re-scale channels</a:t>
            </a:r>
            <a:endParaRPr lang="en-US" sz="1100" dirty="0"/>
          </a:p>
        </p:txBody>
      </p:sp>
      <p:sp>
        <p:nvSpPr>
          <p:cNvPr id="34" name="Shape 32"/>
          <p:cNvSpPr/>
          <p:nvPr/>
        </p:nvSpPr>
        <p:spPr>
          <a:xfrm>
            <a:off x="4526280" y="3017520"/>
            <a:ext cx="4114800" cy="1737360"/>
          </a:xfrm>
          <a:prstGeom prst="rect">
            <a:avLst/>
          </a:prstGeom>
          <a:solidFill>
            <a:srgbClr val="EFF6FF"/>
          </a:solidFill>
          <a:ln w="6350">
            <a:solidFill>
              <a:srgbClr val="E2E8F0"/>
            </a:solidFill>
            <a:prstDash val="solid"/>
          </a:ln>
        </p:spPr>
      </p:sp>
      <p:sp>
        <p:nvSpPr>
          <p:cNvPr id="35" name="Shape 33"/>
          <p:cNvSpPr/>
          <p:nvPr/>
        </p:nvSpPr>
        <p:spPr>
          <a:xfrm>
            <a:off x="4663440" y="3127248"/>
            <a:ext cx="329184" cy="329184"/>
          </a:xfrm>
          <a:prstGeom prst="ellipse">
            <a:avLst/>
          </a:prstGeom>
          <a:solidFill>
            <a:srgbClr val="0891B2"/>
          </a:solidFill>
          <a:ln w="12700">
            <a:solidFill>
              <a:srgbClr val="0891B2"/>
            </a:solidFill>
            <a:prstDash val="solid"/>
          </a:ln>
        </p:spPr>
      </p:sp>
      <p:sp>
        <p:nvSpPr>
          <p:cNvPr id="36" name="Text 34"/>
          <p:cNvSpPr/>
          <p:nvPr/>
        </p:nvSpPr>
        <p:spPr>
          <a:xfrm>
            <a:off x="4663440" y="31272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7" name="Text 35"/>
          <p:cNvSpPr/>
          <p:nvPr/>
        </p:nvSpPr>
        <p:spPr>
          <a:xfrm>
            <a:off x="5056632" y="3090672"/>
            <a:ext cx="3429000" cy="347472"/>
          </a:xfrm>
          <a:prstGeom prst="rect">
            <a:avLst/>
          </a:prstGeom>
          <a:noFill/>
          <a:ln/>
        </p:spPr>
        <p:txBody>
          <a:bodyPr wrap="square" lIns="0" tIns="0" rIns="0" bIns="0" rtlCol="0" anchor="ctr"/>
          <a:lstStyle/>
          <a:p>
            <a:pPr indent="0" marL="0">
              <a:buNone/>
            </a:pPr>
            <a:r>
              <a:rPr lang="en-US" sz="1200" b="1" dirty="0">
                <a:solidFill>
                  <a:srgbClr val="0D1B3E"/>
                </a:solidFill>
                <a:latin typeface="Calibri" pitchFamily="34" charset="0"/>
                <a:ea typeface="Calibri" pitchFamily="34" charset="-122"/>
                <a:cs typeface="Calibri" pitchFamily="34" charset="-120"/>
              </a:rPr>
              <a:t>Spatial Attention</a:t>
            </a:r>
            <a:endParaRPr lang="en-US" sz="1200" dirty="0"/>
          </a:p>
        </p:txBody>
      </p:sp>
      <p:sp>
        <p:nvSpPr>
          <p:cNvPr id="38" name="Text 36"/>
          <p:cNvSpPr/>
          <p:nvPr/>
        </p:nvSpPr>
        <p:spPr>
          <a:xfrm>
            <a:off x="4709160" y="3493008"/>
            <a:ext cx="3749040" cy="11887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Channel-wise avg &amp; max concat → 7×7 Conv → sigmoid → re-scale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563EB"/>
          </a:solidFill>
          <a:ln w="12700">
            <a:solidFill>
              <a:srgbClr val="2563EB"/>
            </a:solidFill>
            <a:prstDash val="solid"/>
          </a:ln>
        </p:spPr>
      </p:sp>
      <p:sp>
        <p:nvSpPr>
          <p:cNvPr id="3" name="Shape 1"/>
          <p:cNvSpPr/>
          <p:nvPr/>
        </p:nvSpPr>
        <p:spPr>
          <a:xfrm>
            <a:off x="0" y="0"/>
            <a:ext cx="9144000" cy="658368"/>
          </a:xfrm>
          <a:prstGeom prst="rect">
            <a:avLst/>
          </a:prstGeom>
          <a:solidFill>
            <a:srgbClr val="0D1B3E"/>
          </a:solidFill>
          <a:ln w="12700">
            <a:solidFill>
              <a:srgbClr val="0D1B3E"/>
            </a:solidFill>
            <a:prstDash val="solid"/>
          </a:ln>
        </p:spPr>
      </p:sp>
      <p:sp>
        <p:nvSpPr>
          <p:cNvPr id="4" name="Text 2"/>
          <p:cNvSpPr/>
          <p:nvPr/>
        </p:nvSpPr>
        <p:spPr>
          <a:xfrm>
            <a:off x="228600" y="36576"/>
            <a:ext cx="8686800" cy="585216"/>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Methodology — Training Strategy</a:t>
            </a:r>
            <a:endParaRPr lang="en-US" sz="2200" dirty="0"/>
          </a:p>
        </p:txBody>
      </p:sp>
      <p:sp>
        <p:nvSpPr>
          <p:cNvPr id="5" name="Shape 3"/>
          <p:cNvSpPr/>
          <p:nvPr/>
        </p:nvSpPr>
        <p:spPr>
          <a:xfrm>
            <a:off x="182880" y="804672"/>
            <a:ext cx="2834640" cy="196596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182880" y="804672"/>
            <a:ext cx="2834640" cy="347472"/>
          </a:xfrm>
          <a:prstGeom prst="rect">
            <a:avLst/>
          </a:prstGeom>
          <a:solidFill>
            <a:srgbClr val="2563EB"/>
          </a:solidFill>
          <a:ln w="12700">
            <a:solidFill>
              <a:srgbClr val="2563EB"/>
            </a:solidFill>
            <a:prstDash val="solid"/>
          </a:ln>
        </p:spPr>
      </p:sp>
      <p:sp>
        <p:nvSpPr>
          <p:cNvPr id="7" name="Text 5"/>
          <p:cNvSpPr/>
          <p:nvPr/>
        </p:nvSpPr>
        <p:spPr>
          <a:xfrm>
            <a:off x="292608" y="822960"/>
            <a:ext cx="2615184" cy="310896"/>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Optimizer: AdamW</a:t>
            </a:r>
            <a:endParaRPr lang="en-US" sz="1200" dirty="0"/>
          </a:p>
        </p:txBody>
      </p:sp>
      <p:sp>
        <p:nvSpPr>
          <p:cNvPr id="8" name="Text 6"/>
          <p:cNvSpPr/>
          <p:nvPr/>
        </p:nvSpPr>
        <p:spPr>
          <a:xfrm>
            <a:off x="292608" y="1207008"/>
            <a:ext cx="2615184" cy="1472184"/>
          </a:xfrm>
          <a:prstGeom prst="rect">
            <a:avLst/>
          </a:prstGeom>
          <a:noFill/>
          <a:ln/>
        </p:spPr>
        <p:txBody>
          <a:bodyPr wrap="square" rtlCol="0" anchor="t"/>
          <a:lstStyle/>
          <a:p>
            <a:pPr marL="342900" indent="-342900">
              <a:buSzPct val="100000"/>
              <a:buChar char="•"/>
            </a:pPr>
            <a:r>
              <a:rPr lang="en-US" sz="1100" dirty="0">
                <a:solidFill>
                  <a:srgbClr val="0F172A"/>
                </a:solidFill>
                <a:latin typeface="Calibri" pitchFamily="34" charset="0"/>
                <a:ea typeface="Calibri" pitchFamily="34" charset="-122"/>
                <a:cs typeface="Calibri" pitchFamily="34" charset="-120"/>
              </a:rPr>
              <a:t>lr = 7 × 10⁻⁴, weight decay = 1 × 10⁻⁴</a:t>
            </a:r>
            <a:endParaRPr lang="en-US" sz="1100" dirty="0"/>
          </a:p>
          <a:p>
            <a:pPr marL="342900" indent="-342900">
              <a:buSzPct val="100000"/>
              <a:buChar char="•"/>
            </a:pPr>
            <a:r>
              <a:rPr lang="en-US" sz="1100" dirty="0">
                <a:solidFill>
                  <a:srgbClr val="0F172A"/>
                </a:solidFill>
                <a:latin typeface="Calibri" pitchFamily="34" charset="0"/>
                <a:ea typeface="Calibri" pitchFamily="34" charset="-122"/>
                <a:cs typeface="Calibri" pitchFamily="34" charset="-120"/>
              </a:rPr>
              <a:t>Decoupled weight decay regularization</a:t>
            </a:r>
            <a:endParaRPr lang="en-US" sz="1100" dirty="0"/>
          </a:p>
          <a:p>
            <a:pPr marL="342900" indent="-342900">
              <a:buSzPct val="100000"/>
              <a:buChar char="•"/>
            </a:pPr>
            <a:r>
              <a:rPr lang="en-US" sz="1100" dirty="0">
                <a:solidFill>
                  <a:srgbClr val="0F172A"/>
                </a:solidFill>
                <a:latin typeface="Calibri" pitchFamily="34" charset="0"/>
                <a:ea typeface="Calibri" pitchFamily="34" charset="-122"/>
                <a:cs typeface="Calibri" pitchFamily="34" charset="-120"/>
              </a:rPr>
              <a:t>Applied to all model parameters</a:t>
            </a:r>
            <a:endParaRPr lang="en-US" sz="1100" dirty="0"/>
          </a:p>
        </p:txBody>
      </p:sp>
      <p:sp>
        <p:nvSpPr>
          <p:cNvPr id="9" name="Shape 7"/>
          <p:cNvSpPr/>
          <p:nvPr/>
        </p:nvSpPr>
        <p:spPr>
          <a:xfrm>
            <a:off x="3154680" y="804672"/>
            <a:ext cx="2834640" cy="196596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0" name="Shape 8"/>
          <p:cNvSpPr/>
          <p:nvPr/>
        </p:nvSpPr>
        <p:spPr>
          <a:xfrm>
            <a:off x="3154680" y="804672"/>
            <a:ext cx="2834640" cy="347472"/>
          </a:xfrm>
          <a:prstGeom prst="rect">
            <a:avLst/>
          </a:prstGeom>
          <a:solidFill>
            <a:srgbClr val="0891B2"/>
          </a:solidFill>
          <a:ln w="12700">
            <a:solidFill>
              <a:srgbClr val="0891B2"/>
            </a:solidFill>
            <a:prstDash val="solid"/>
          </a:ln>
        </p:spPr>
      </p:sp>
      <p:sp>
        <p:nvSpPr>
          <p:cNvPr id="11" name="Text 9"/>
          <p:cNvSpPr/>
          <p:nvPr/>
        </p:nvSpPr>
        <p:spPr>
          <a:xfrm>
            <a:off x="3264408" y="822960"/>
            <a:ext cx="2615184" cy="310896"/>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LR Schedule: Cosine + Warm-up</a:t>
            </a:r>
            <a:endParaRPr lang="en-US" sz="1200" dirty="0"/>
          </a:p>
        </p:txBody>
      </p:sp>
      <p:sp>
        <p:nvSpPr>
          <p:cNvPr id="12" name="Text 10"/>
          <p:cNvSpPr/>
          <p:nvPr/>
        </p:nvSpPr>
        <p:spPr>
          <a:xfrm>
            <a:off x="3264408" y="1207008"/>
            <a:ext cx="2615184" cy="1472184"/>
          </a:xfrm>
          <a:prstGeom prst="rect">
            <a:avLst/>
          </a:prstGeom>
          <a:noFill/>
          <a:ln/>
        </p:spPr>
        <p:txBody>
          <a:bodyPr wrap="square" rtlCol="0" anchor="t"/>
          <a:lstStyle/>
          <a:p>
            <a:pPr marL="342900" indent="-342900">
              <a:buSzPct val="100000"/>
              <a:buChar char="•"/>
            </a:pPr>
            <a:r>
              <a:rPr lang="en-US" sz="1100" dirty="0">
                <a:solidFill>
                  <a:srgbClr val="0F172A"/>
                </a:solidFill>
                <a:latin typeface="Calibri" pitchFamily="34" charset="0"/>
                <a:ea typeface="Calibri" pitchFamily="34" charset="-122"/>
                <a:cs typeface="Calibri" pitchFamily="34" charset="-120"/>
              </a:rPr>
              <a:t>5 warm-up epochs (linear ramp)</a:t>
            </a:r>
            <a:endParaRPr lang="en-US" sz="1100" dirty="0"/>
          </a:p>
          <a:p>
            <a:pPr marL="342900" indent="-342900">
              <a:buSzPct val="100000"/>
              <a:buChar char="•"/>
            </a:pPr>
            <a:r>
              <a:rPr lang="en-US" sz="1100" dirty="0">
                <a:solidFill>
                  <a:srgbClr val="0F172A"/>
                </a:solidFill>
                <a:latin typeface="Calibri" pitchFamily="34" charset="0"/>
                <a:ea typeface="Calibri" pitchFamily="34" charset="-122"/>
                <a:cs typeface="Calibri" pitchFamily="34" charset="-120"/>
              </a:rPr>
              <a:t>Cosine annealing over remaining 75 epochs</a:t>
            </a:r>
            <a:endParaRPr lang="en-US" sz="1100" dirty="0"/>
          </a:p>
          <a:p>
            <a:pPr marL="342900" indent="-342900">
              <a:buSzPct val="100000"/>
              <a:buChar char="•"/>
            </a:pPr>
            <a:r>
              <a:rPr lang="en-US" sz="1100" dirty="0">
                <a:solidFill>
                  <a:srgbClr val="0F172A"/>
                </a:solidFill>
                <a:latin typeface="Calibri" pitchFamily="34" charset="0"/>
                <a:ea typeface="Calibri" pitchFamily="34" charset="-122"/>
                <a:cs typeface="Calibri" pitchFamily="34" charset="-120"/>
              </a:rPr>
              <a:t>Minimum LR = 0.1% of peak LR</a:t>
            </a:r>
            <a:endParaRPr lang="en-US" sz="1100" dirty="0"/>
          </a:p>
        </p:txBody>
      </p:sp>
      <p:sp>
        <p:nvSpPr>
          <p:cNvPr id="13" name="Shape 11"/>
          <p:cNvSpPr/>
          <p:nvPr/>
        </p:nvSpPr>
        <p:spPr>
          <a:xfrm>
            <a:off x="6126480" y="804672"/>
            <a:ext cx="2834640" cy="196596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4" name="Shape 12"/>
          <p:cNvSpPr/>
          <p:nvPr/>
        </p:nvSpPr>
        <p:spPr>
          <a:xfrm>
            <a:off x="6126480" y="804672"/>
            <a:ext cx="2834640" cy="347472"/>
          </a:xfrm>
          <a:prstGeom prst="rect">
            <a:avLst/>
          </a:prstGeom>
          <a:solidFill>
            <a:srgbClr val="7C3AED"/>
          </a:solidFill>
          <a:ln w="12700">
            <a:solidFill>
              <a:srgbClr val="7C3AED"/>
            </a:solidFill>
            <a:prstDash val="solid"/>
          </a:ln>
        </p:spPr>
      </p:sp>
      <p:sp>
        <p:nvSpPr>
          <p:cNvPr id="15" name="Text 13"/>
          <p:cNvSpPr/>
          <p:nvPr/>
        </p:nvSpPr>
        <p:spPr>
          <a:xfrm>
            <a:off x="6236208" y="822960"/>
            <a:ext cx="2615184" cy="310896"/>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Loss: BCE + Label Smoothing</a:t>
            </a:r>
            <a:endParaRPr lang="en-US" sz="1200" dirty="0"/>
          </a:p>
        </p:txBody>
      </p:sp>
      <p:sp>
        <p:nvSpPr>
          <p:cNvPr id="16" name="Text 14"/>
          <p:cNvSpPr/>
          <p:nvPr/>
        </p:nvSpPr>
        <p:spPr>
          <a:xfrm>
            <a:off x="6236208" y="1207008"/>
            <a:ext cx="2615184" cy="1472184"/>
          </a:xfrm>
          <a:prstGeom prst="rect">
            <a:avLst/>
          </a:prstGeom>
          <a:noFill/>
          <a:ln/>
        </p:spPr>
        <p:txBody>
          <a:bodyPr wrap="square" rtlCol="0" anchor="t"/>
          <a:lstStyle/>
          <a:p>
            <a:pPr marL="342900" indent="-342900">
              <a:buSzPct val="100000"/>
              <a:buChar char="•"/>
            </a:pPr>
            <a:r>
              <a:rPr lang="en-US" sz="1100" dirty="0">
                <a:solidFill>
                  <a:srgbClr val="0F172A"/>
                </a:solidFill>
                <a:latin typeface="Calibri" pitchFamily="34" charset="0"/>
                <a:ea typeface="Calibri" pitchFamily="34" charset="-122"/>
                <a:cs typeface="Calibri" pitchFamily="34" charset="-120"/>
              </a:rPr>
              <a:t>Smoothing factor ε = 0.05</a:t>
            </a:r>
            <a:endParaRPr lang="en-US" sz="1100" dirty="0"/>
          </a:p>
          <a:p>
            <a:pPr marL="342900" indent="-342900">
              <a:buSzPct val="100000"/>
              <a:buChar char="•"/>
            </a:pPr>
            <a:r>
              <a:rPr lang="en-US" sz="1100" dirty="0">
                <a:solidFill>
                  <a:srgbClr val="0F172A"/>
                </a:solidFill>
                <a:latin typeface="Calibri" pitchFamily="34" charset="0"/>
                <a:ea typeface="Calibri" pitchFamily="34" charset="-122"/>
                <a:cs typeface="Calibri" pitchFamily="34" charset="-120"/>
              </a:rPr>
              <a:t>Soft targets: 1 → 0.95, 0 → 0.025</a:t>
            </a:r>
            <a:endParaRPr lang="en-US" sz="1100" dirty="0"/>
          </a:p>
          <a:p>
            <a:pPr marL="342900" indent="-342900">
              <a:buSzPct val="100000"/>
              <a:buChar char="•"/>
            </a:pPr>
            <a:r>
              <a:rPr lang="en-US" sz="1100" dirty="0">
                <a:solidFill>
                  <a:srgbClr val="0F172A"/>
                </a:solidFill>
                <a:latin typeface="Calibri" pitchFamily="34" charset="0"/>
                <a:ea typeface="Calibri" pitchFamily="34" charset="-122"/>
                <a:cs typeface="Calibri" pitchFamily="34" charset="-120"/>
              </a:rPr>
              <a:t>Prevents overconfidence &amp; improves calibration</a:t>
            </a:r>
            <a:endParaRPr lang="en-US" sz="1100" dirty="0"/>
          </a:p>
        </p:txBody>
      </p:sp>
      <p:sp>
        <p:nvSpPr>
          <p:cNvPr id="17" name="Shape 15"/>
          <p:cNvSpPr/>
          <p:nvPr/>
        </p:nvSpPr>
        <p:spPr>
          <a:xfrm>
            <a:off x="182880" y="2953512"/>
            <a:ext cx="2834640" cy="196596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18" name="Shape 16"/>
          <p:cNvSpPr/>
          <p:nvPr/>
        </p:nvSpPr>
        <p:spPr>
          <a:xfrm>
            <a:off x="182880" y="2953512"/>
            <a:ext cx="2834640" cy="347472"/>
          </a:xfrm>
          <a:prstGeom prst="rect">
            <a:avLst/>
          </a:prstGeom>
          <a:solidFill>
            <a:srgbClr val="F59E0B"/>
          </a:solidFill>
          <a:ln w="12700">
            <a:solidFill>
              <a:srgbClr val="F59E0B"/>
            </a:solidFill>
            <a:prstDash val="solid"/>
          </a:ln>
        </p:spPr>
      </p:sp>
      <p:sp>
        <p:nvSpPr>
          <p:cNvPr id="19" name="Text 17"/>
          <p:cNvSpPr/>
          <p:nvPr/>
        </p:nvSpPr>
        <p:spPr>
          <a:xfrm>
            <a:off x="292608" y="2971800"/>
            <a:ext cx="2615184" cy="310896"/>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Regularization</a:t>
            </a:r>
            <a:endParaRPr lang="en-US" sz="1200" dirty="0"/>
          </a:p>
        </p:txBody>
      </p:sp>
      <p:sp>
        <p:nvSpPr>
          <p:cNvPr id="20" name="Text 18"/>
          <p:cNvSpPr/>
          <p:nvPr/>
        </p:nvSpPr>
        <p:spPr>
          <a:xfrm>
            <a:off x="292608" y="3355848"/>
            <a:ext cx="2615184" cy="1472184"/>
          </a:xfrm>
          <a:prstGeom prst="rect">
            <a:avLst/>
          </a:prstGeom>
          <a:noFill/>
          <a:ln/>
        </p:spPr>
        <p:txBody>
          <a:bodyPr wrap="square" rtlCol="0" anchor="t"/>
          <a:lstStyle/>
          <a:p>
            <a:pPr marL="342900" indent="-342900">
              <a:buSzPct val="100000"/>
              <a:buChar char="•"/>
            </a:pPr>
            <a:r>
              <a:rPr lang="en-US" sz="1100" dirty="0">
                <a:solidFill>
                  <a:srgbClr val="0F172A"/>
                </a:solidFill>
                <a:latin typeface="Calibri" pitchFamily="34" charset="0"/>
                <a:ea typeface="Calibri" pitchFamily="34" charset="-122"/>
                <a:cs typeface="Calibri" pitchFamily="34" charset="-120"/>
              </a:rPr>
              <a:t>Dropout p = 0.3 (head) &amp; 0.15 (mid)</a:t>
            </a:r>
            <a:endParaRPr lang="en-US" sz="1100" dirty="0"/>
          </a:p>
          <a:p>
            <a:pPr marL="342900" indent="-342900">
              <a:buSzPct val="100000"/>
              <a:buChar char="•"/>
            </a:pPr>
            <a:r>
              <a:rPr lang="en-US" sz="1100" dirty="0">
                <a:solidFill>
                  <a:srgbClr val="0F172A"/>
                </a:solidFill>
                <a:latin typeface="Calibri" pitchFamily="34" charset="0"/>
                <a:ea typeface="Calibri" pitchFamily="34" charset="-122"/>
                <a:cs typeface="Calibri" pitchFamily="34" charset="-120"/>
              </a:rPr>
              <a:t>Gradient clipping max norm = 1.0</a:t>
            </a:r>
            <a:endParaRPr lang="en-US" sz="1100" dirty="0"/>
          </a:p>
          <a:p>
            <a:pPr marL="342900" indent="-342900">
              <a:buSzPct val="100000"/>
              <a:buChar char="•"/>
            </a:pPr>
            <a:r>
              <a:rPr lang="en-US" sz="1100" dirty="0">
                <a:solidFill>
                  <a:srgbClr val="0F172A"/>
                </a:solidFill>
                <a:latin typeface="Calibri" pitchFamily="34" charset="0"/>
                <a:ea typeface="Calibri" pitchFamily="34" charset="-122"/>
                <a:cs typeface="Calibri" pitchFamily="34" charset="-120"/>
              </a:rPr>
              <a:t>Mixed-precision (fp16) via AMP GradScaler</a:t>
            </a:r>
            <a:endParaRPr lang="en-US" sz="1100" dirty="0"/>
          </a:p>
        </p:txBody>
      </p:sp>
      <p:sp>
        <p:nvSpPr>
          <p:cNvPr id="21" name="Shape 19"/>
          <p:cNvSpPr/>
          <p:nvPr/>
        </p:nvSpPr>
        <p:spPr>
          <a:xfrm>
            <a:off x="3154680" y="2953512"/>
            <a:ext cx="2834640" cy="196596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2" name="Shape 20"/>
          <p:cNvSpPr/>
          <p:nvPr/>
        </p:nvSpPr>
        <p:spPr>
          <a:xfrm>
            <a:off x="3154680" y="2953512"/>
            <a:ext cx="2834640" cy="347472"/>
          </a:xfrm>
          <a:prstGeom prst="rect">
            <a:avLst/>
          </a:prstGeom>
          <a:solidFill>
            <a:srgbClr val="10B981"/>
          </a:solidFill>
          <a:ln w="12700">
            <a:solidFill>
              <a:srgbClr val="10B981"/>
            </a:solidFill>
            <a:prstDash val="solid"/>
          </a:ln>
        </p:spPr>
      </p:sp>
      <p:sp>
        <p:nvSpPr>
          <p:cNvPr id="23" name="Text 21"/>
          <p:cNvSpPr/>
          <p:nvPr/>
        </p:nvSpPr>
        <p:spPr>
          <a:xfrm>
            <a:off x="3264408" y="2971800"/>
            <a:ext cx="2615184" cy="310896"/>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Early Stopping</a:t>
            </a:r>
            <a:endParaRPr lang="en-US" sz="1200" dirty="0"/>
          </a:p>
        </p:txBody>
      </p:sp>
      <p:sp>
        <p:nvSpPr>
          <p:cNvPr id="24" name="Text 22"/>
          <p:cNvSpPr/>
          <p:nvPr/>
        </p:nvSpPr>
        <p:spPr>
          <a:xfrm>
            <a:off x="3264408" y="3355848"/>
            <a:ext cx="2615184" cy="1472184"/>
          </a:xfrm>
          <a:prstGeom prst="rect">
            <a:avLst/>
          </a:prstGeom>
          <a:noFill/>
          <a:ln/>
        </p:spPr>
        <p:txBody>
          <a:bodyPr wrap="square" rtlCol="0" anchor="t"/>
          <a:lstStyle/>
          <a:p>
            <a:pPr marL="342900" indent="-342900">
              <a:buSzPct val="100000"/>
              <a:buChar char="•"/>
            </a:pPr>
            <a:r>
              <a:rPr lang="en-US" sz="1100" dirty="0">
                <a:solidFill>
                  <a:srgbClr val="0F172A"/>
                </a:solidFill>
                <a:latin typeface="Calibri" pitchFamily="34" charset="0"/>
                <a:ea typeface="Calibri" pitchFamily="34" charset="-122"/>
                <a:cs typeface="Calibri" pitchFamily="34" charset="-120"/>
              </a:rPr>
              <a:t>Monitor validation accuracy</a:t>
            </a:r>
            <a:endParaRPr lang="en-US" sz="1100" dirty="0"/>
          </a:p>
          <a:p>
            <a:pPr marL="342900" indent="-342900">
              <a:buSzPct val="100000"/>
              <a:buChar char="•"/>
            </a:pPr>
            <a:r>
              <a:rPr lang="en-US" sz="1100" dirty="0">
                <a:solidFill>
                  <a:srgbClr val="0F172A"/>
                </a:solidFill>
                <a:latin typeface="Calibri" pitchFamily="34" charset="0"/>
                <a:ea typeface="Calibri" pitchFamily="34" charset="-122"/>
                <a:cs typeface="Calibri" pitchFamily="34" charset="-120"/>
              </a:rPr>
              <a:t>Patience = 10 epochs</a:t>
            </a:r>
            <a:endParaRPr lang="en-US" sz="1100" dirty="0"/>
          </a:p>
          <a:p>
            <a:pPr marL="342900" indent="-342900">
              <a:buSzPct val="100000"/>
              <a:buChar char="•"/>
            </a:pPr>
            <a:r>
              <a:rPr lang="en-US" sz="1100" dirty="0">
                <a:solidFill>
                  <a:srgbClr val="0F172A"/>
                </a:solidFill>
                <a:latin typeface="Calibri" pitchFamily="34" charset="0"/>
                <a:ea typeface="Calibri" pitchFamily="34" charset="-122"/>
                <a:cs typeface="Calibri" pitchFamily="34" charset="-120"/>
              </a:rPr>
              <a:t>Best weights auto-restored on improvement</a:t>
            </a:r>
            <a:endParaRPr lang="en-US" sz="1100" dirty="0"/>
          </a:p>
        </p:txBody>
      </p:sp>
      <p:sp>
        <p:nvSpPr>
          <p:cNvPr id="25" name="Shape 23"/>
          <p:cNvSpPr/>
          <p:nvPr/>
        </p:nvSpPr>
        <p:spPr>
          <a:xfrm>
            <a:off x="6126480" y="2953512"/>
            <a:ext cx="2834640" cy="1965960"/>
          </a:xfrm>
          <a:prstGeom prst="rect">
            <a:avLst/>
          </a:prstGeom>
          <a:solidFill>
            <a:srgbClr val="FFFFFF"/>
          </a:solidFill>
          <a:ln w="6350">
            <a:solidFill>
              <a:srgbClr val="E2E8F0"/>
            </a:solidFill>
            <a:prstDash val="solid"/>
          </a:ln>
          <a:effectLst>
            <a:outerShdw sx="100000" sy="100000" kx="0" ky="0" algn="bl" rotWithShape="0" blurRad="101600" dist="38100" dir="8100000">
              <a:srgbClr val="000000">
                <a:alpha val="10000"/>
              </a:srgbClr>
            </a:outerShdw>
          </a:effectLst>
        </p:spPr>
      </p:sp>
      <p:sp>
        <p:nvSpPr>
          <p:cNvPr id="26" name="Shape 24"/>
          <p:cNvSpPr/>
          <p:nvPr/>
        </p:nvSpPr>
        <p:spPr>
          <a:xfrm>
            <a:off x="6126480" y="2953512"/>
            <a:ext cx="2834640" cy="347472"/>
          </a:xfrm>
          <a:prstGeom prst="rect">
            <a:avLst/>
          </a:prstGeom>
          <a:solidFill>
            <a:srgbClr val="F97316"/>
          </a:solidFill>
          <a:ln w="12700">
            <a:solidFill>
              <a:srgbClr val="F97316"/>
            </a:solidFill>
            <a:prstDash val="solid"/>
          </a:ln>
        </p:spPr>
      </p:sp>
      <p:sp>
        <p:nvSpPr>
          <p:cNvPr id="27" name="Text 25"/>
          <p:cNvSpPr/>
          <p:nvPr/>
        </p:nvSpPr>
        <p:spPr>
          <a:xfrm>
            <a:off x="6236208" y="2971800"/>
            <a:ext cx="2615184" cy="310896"/>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Threshold Optimization</a:t>
            </a:r>
            <a:endParaRPr lang="en-US" sz="1200" dirty="0"/>
          </a:p>
        </p:txBody>
      </p:sp>
      <p:sp>
        <p:nvSpPr>
          <p:cNvPr id="28" name="Text 26"/>
          <p:cNvSpPr/>
          <p:nvPr/>
        </p:nvSpPr>
        <p:spPr>
          <a:xfrm>
            <a:off x="6236208" y="3355848"/>
            <a:ext cx="2615184" cy="1472184"/>
          </a:xfrm>
          <a:prstGeom prst="rect">
            <a:avLst/>
          </a:prstGeom>
          <a:noFill/>
          <a:ln/>
        </p:spPr>
        <p:txBody>
          <a:bodyPr wrap="square" rtlCol="0" anchor="t"/>
          <a:lstStyle/>
          <a:p>
            <a:pPr marL="342900" indent="-342900">
              <a:buSzPct val="100000"/>
              <a:buChar char="•"/>
            </a:pPr>
            <a:r>
              <a:rPr lang="en-US" sz="1100" dirty="0">
                <a:solidFill>
                  <a:srgbClr val="0F172A"/>
                </a:solidFill>
                <a:latin typeface="Calibri" pitchFamily="34" charset="0"/>
                <a:ea typeface="Calibri" pitchFamily="34" charset="-122"/>
                <a:cs typeface="Calibri" pitchFamily="34" charset="-120"/>
              </a:rPr>
              <a:t>Grid search over [0.2, 0.8] in 301 steps</a:t>
            </a:r>
            <a:endParaRPr lang="en-US" sz="1100" dirty="0"/>
          </a:p>
          <a:p>
            <a:pPr marL="342900" indent="-342900">
              <a:buSzPct val="100000"/>
              <a:buChar char="•"/>
            </a:pPr>
            <a:r>
              <a:rPr lang="en-US" sz="1100" dirty="0">
                <a:solidFill>
                  <a:srgbClr val="0F172A"/>
                </a:solidFill>
                <a:latin typeface="Calibri" pitchFamily="34" charset="0"/>
                <a:ea typeface="Calibri" pitchFamily="34" charset="-122"/>
                <a:cs typeface="Calibri" pitchFamily="34" charset="-120"/>
              </a:rPr>
              <a:t>Select threshold maximizing val accuracy</a:t>
            </a:r>
            <a:endParaRPr lang="en-US" sz="1100" dirty="0"/>
          </a:p>
          <a:p>
            <a:pPr marL="342900" indent="-342900">
              <a:buSzPct val="100000"/>
              <a:buChar char="•"/>
            </a:pPr>
            <a:r>
              <a:rPr lang="en-US" sz="1100" dirty="0">
                <a:solidFill>
                  <a:srgbClr val="0F172A"/>
                </a:solidFill>
                <a:latin typeface="Calibri" pitchFamily="34" charset="0"/>
                <a:ea typeface="Calibri" pitchFamily="34" charset="-122"/>
                <a:cs typeface="Calibri" pitchFamily="34" charset="-120"/>
              </a:rPr>
              <a:t>Applied at inference for better precision/recall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563EB"/>
          </a:solidFill>
          <a:ln w="12700">
            <a:solidFill>
              <a:srgbClr val="2563EB"/>
            </a:solidFill>
            <a:prstDash val="solid"/>
          </a:ln>
        </p:spPr>
      </p:sp>
      <p:sp>
        <p:nvSpPr>
          <p:cNvPr id="3" name="Shape 1"/>
          <p:cNvSpPr/>
          <p:nvPr/>
        </p:nvSpPr>
        <p:spPr>
          <a:xfrm>
            <a:off x="0" y="0"/>
            <a:ext cx="9144000" cy="658368"/>
          </a:xfrm>
          <a:prstGeom prst="rect">
            <a:avLst/>
          </a:prstGeom>
          <a:solidFill>
            <a:srgbClr val="0D1B3E"/>
          </a:solidFill>
          <a:ln w="12700">
            <a:solidFill>
              <a:srgbClr val="0D1B3E"/>
            </a:solidFill>
            <a:prstDash val="solid"/>
          </a:ln>
        </p:spPr>
      </p:sp>
      <p:sp>
        <p:nvSpPr>
          <p:cNvPr id="4" name="Text 2"/>
          <p:cNvSpPr/>
          <p:nvPr/>
        </p:nvSpPr>
        <p:spPr>
          <a:xfrm>
            <a:off x="228600" y="36576"/>
            <a:ext cx="8686800" cy="585216"/>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Experimentation — Configuration &amp; Setup</a:t>
            </a:r>
            <a:endParaRPr lang="en-US" sz="2200" dirty="0"/>
          </a:p>
        </p:txBody>
      </p:sp>
      <p:sp>
        <p:nvSpPr>
          <p:cNvPr id="5" name="Text 3"/>
          <p:cNvSpPr/>
          <p:nvPr/>
        </p:nvSpPr>
        <p:spPr>
          <a:xfrm>
            <a:off x="228600" y="749808"/>
            <a:ext cx="4572000" cy="347472"/>
          </a:xfrm>
          <a:prstGeom prst="rect">
            <a:avLst/>
          </a:prstGeom>
          <a:noFill/>
          <a:ln/>
        </p:spPr>
        <p:txBody>
          <a:bodyPr wrap="square" lIns="0" tIns="0" rIns="0" bIns="0"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Hyperparameter Configuration</a:t>
            </a:r>
            <a:endParaRPr lang="en-US" sz="1400" dirty="0"/>
          </a:p>
        </p:txBody>
      </p:sp>
      <p:sp>
        <p:nvSpPr>
          <p:cNvPr id="6" name="Shape 4"/>
          <p:cNvSpPr/>
          <p:nvPr/>
        </p:nvSpPr>
        <p:spPr>
          <a:xfrm>
            <a:off x="228600" y="1170432"/>
            <a:ext cx="1828800" cy="347472"/>
          </a:xfrm>
          <a:prstGeom prst="rect">
            <a:avLst/>
          </a:prstGeom>
          <a:solidFill>
            <a:srgbClr val="0D1B3E"/>
          </a:solidFill>
          <a:ln w="6350">
            <a:solidFill>
              <a:srgbClr val="E2E8F0"/>
            </a:solidFill>
            <a:prstDash val="solid"/>
          </a:ln>
        </p:spPr>
      </p:sp>
      <p:sp>
        <p:nvSpPr>
          <p:cNvPr id="7" name="Text 5"/>
          <p:cNvSpPr/>
          <p:nvPr/>
        </p:nvSpPr>
        <p:spPr>
          <a:xfrm>
            <a:off x="301752" y="1170432"/>
            <a:ext cx="1755648" cy="34747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Parameter</a:t>
            </a:r>
            <a:endParaRPr lang="en-US" sz="1050" dirty="0"/>
          </a:p>
        </p:txBody>
      </p:sp>
      <p:sp>
        <p:nvSpPr>
          <p:cNvPr id="8" name="Shape 6"/>
          <p:cNvSpPr/>
          <p:nvPr/>
        </p:nvSpPr>
        <p:spPr>
          <a:xfrm>
            <a:off x="2075688" y="1170432"/>
            <a:ext cx="1463040" cy="347472"/>
          </a:xfrm>
          <a:prstGeom prst="rect">
            <a:avLst/>
          </a:prstGeom>
          <a:solidFill>
            <a:srgbClr val="0D1B3E"/>
          </a:solidFill>
          <a:ln w="6350">
            <a:solidFill>
              <a:srgbClr val="E2E8F0"/>
            </a:solidFill>
            <a:prstDash val="solid"/>
          </a:ln>
        </p:spPr>
      </p:sp>
      <p:sp>
        <p:nvSpPr>
          <p:cNvPr id="9" name="Text 7"/>
          <p:cNvSpPr/>
          <p:nvPr/>
        </p:nvSpPr>
        <p:spPr>
          <a:xfrm>
            <a:off x="2148840" y="1170432"/>
            <a:ext cx="1389888" cy="34747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Value</a:t>
            </a:r>
            <a:endParaRPr lang="en-US" sz="1050" dirty="0"/>
          </a:p>
        </p:txBody>
      </p:sp>
      <p:sp>
        <p:nvSpPr>
          <p:cNvPr id="10" name="Shape 8"/>
          <p:cNvSpPr/>
          <p:nvPr/>
        </p:nvSpPr>
        <p:spPr>
          <a:xfrm>
            <a:off x="3557016" y="1170432"/>
            <a:ext cx="1828800" cy="347472"/>
          </a:xfrm>
          <a:prstGeom prst="rect">
            <a:avLst/>
          </a:prstGeom>
          <a:solidFill>
            <a:srgbClr val="0D1B3E"/>
          </a:solidFill>
          <a:ln w="6350">
            <a:solidFill>
              <a:srgbClr val="E2E8F0"/>
            </a:solidFill>
            <a:prstDash val="solid"/>
          </a:ln>
        </p:spPr>
      </p:sp>
      <p:sp>
        <p:nvSpPr>
          <p:cNvPr id="11" name="Text 9"/>
          <p:cNvSpPr/>
          <p:nvPr/>
        </p:nvSpPr>
        <p:spPr>
          <a:xfrm>
            <a:off x="3630168" y="1170432"/>
            <a:ext cx="1755648" cy="34747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Rationale</a:t>
            </a:r>
            <a:endParaRPr lang="en-US" sz="1050" dirty="0"/>
          </a:p>
        </p:txBody>
      </p:sp>
      <p:sp>
        <p:nvSpPr>
          <p:cNvPr id="12" name="Shape 10"/>
          <p:cNvSpPr/>
          <p:nvPr/>
        </p:nvSpPr>
        <p:spPr>
          <a:xfrm>
            <a:off x="228600" y="1517904"/>
            <a:ext cx="1828800" cy="347472"/>
          </a:xfrm>
          <a:prstGeom prst="rect">
            <a:avLst/>
          </a:prstGeom>
          <a:solidFill>
            <a:srgbClr val="FFFFFF"/>
          </a:solidFill>
          <a:ln w="6350">
            <a:solidFill>
              <a:srgbClr val="E2E8F0"/>
            </a:solidFill>
            <a:prstDash val="solid"/>
          </a:ln>
        </p:spPr>
      </p:sp>
      <p:sp>
        <p:nvSpPr>
          <p:cNvPr id="13" name="Text 11"/>
          <p:cNvSpPr/>
          <p:nvPr/>
        </p:nvSpPr>
        <p:spPr>
          <a:xfrm>
            <a:off x="301752" y="1517904"/>
            <a:ext cx="1755648" cy="347472"/>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Image Size</a:t>
            </a:r>
            <a:endParaRPr lang="en-US" sz="1000" dirty="0"/>
          </a:p>
        </p:txBody>
      </p:sp>
      <p:sp>
        <p:nvSpPr>
          <p:cNvPr id="14" name="Shape 12"/>
          <p:cNvSpPr/>
          <p:nvPr/>
        </p:nvSpPr>
        <p:spPr>
          <a:xfrm>
            <a:off x="2075688" y="1517904"/>
            <a:ext cx="1463040" cy="347472"/>
          </a:xfrm>
          <a:prstGeom prst="rect">
            <a:avLst/>
          </a:prstGeom>
          <a:solidFill>
            <a:srgbClr val="FFFFFF"/>
          </a:solidFill>
          <a:ln w="6350">
            <a:solidFill>
              <a:srgbClr val="E2E8F0"/>
            </a:solidFill>
            <a:prstDash val="solid"/>
          </a:ln>
        </p:spPr>
      </p:sp>
      <p:sp>
        <p:nvSpPr>
          <p:cNvPr id="15" name="Text 13"/>
          <p:cNvSpPr/>
          <p:nvPr/>
        </p:nvSpPr>
        <p:spPr>
          <a:xfrm>
            <a:off x="2148840" y="1517904"/>
            <a:ext cx="1389888" cy="347472"/>
          </a:xfrm>
          <a:prstGeom prst="rect">
            <a:avLst/>
          </a:prstGeom>
          <a:noFill/>
          <a:ln/>
        </p:spPr>
        <p:txBody>
          <a:bodyPr wrap="square" lIns="0" tIns="0" rIns="0" bIns="0" rtlCol="0" anchor="ctr"/>
          <a:lstStyle/>
          <a:p>
            <a:pPr indent="0" marL="0">
              <a:buNone/>
            </a:pPr>
            <a:r>
              <a:rPr lang="en-US" sz="1000" dirty="0">
                <a:solidFill>
                  <a:srgbClr val="2563EB"/>
                </a:solidFill>
                <a:latin typeface="Calibri" pitchFamily="34" charset="0"/>
                <a:ea typeface="Calibri" pitchFamily="34" charset="-122"/>
                <a:cs typeface="Calibri" pitchFamily="34" charset="-120"/>
              </a:rPr>
              <a:t>224 × 224</a:t>
            </a:r>
            <a:endParaRPr lang="en-US" sz="1000" dirty="0"/>
          </a:p>
        </p:txBody>
      </p:sp>
      <p:sp>
        <p:nvSpPr>
          <p:cNvPr id="16" name="Shape 14"/>
          <p:cNvSpPr/>
          <p:nvPr/>
        </p:nvSpPr>
        <p:spPr>
          <a:xfrm>
            <a:off x="3557016" y="1517904"/>
            <a:ext cx="1828800" cy="347472"/>
          </a:xfrm>
          <a:prstGeom prst="rect">
            <a:avLst/>
          </a:prstGeom>
          <a:solidFill>
            <a:srgbClr val="FFFFFF"/>
          </a:solidFill>
          <a:ln w="6350">
            <a:solidFill>
              <a:srgbClr val="E2E8F0"/>
            </a:solidFill>
            <a:prstDash val="solid"/>
          </a:ln>
        </p:spPr>
      </p:sp>
      <p:sp>
        <p:nvSpPr>
          <p:cNvPr id="17" name="Text 15"/>
          <p:cNvSpPr/>
          <p:nvPr/>
        </p:nvSpPr>
        <p:spPr>
          <a:xfrm>
            <a:off x="3630168" y="1517904"/>
            <a:ext cx="1755648" cy="347472"/>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ImageNet-compatible resolution</a:t>
            </a:r>
            <a:endParaRPr lang="en-US" sz="1000" dirty="0"/>
          </a:p>
        </p:txBody>
      </p:sp>
      <p:sp>
        <p:nvSpPr>
          <p:cNvPr id="18" name="Shape 16"/>
          <p:cNvSpPr/>
          <p:nvPr/>
        </p:nvSpPr>
        <p:spPr>
          <a:xfrm>
            <a:off x="228600" y="1865376"/>
            <a:ext cx="1828800" cy="347472"/>
          </a:xfrm>
          <a:prstGeom prst="rect">
            <a:avLst/>
          </a:prstGeom>
          <a:solidFill>
            <a:srgbClr val="EFF6FF"/>
          </a:solidFill>
          <a:ln w="6350">
            <a:solidFill>
              <a:srgbClr val="E2E8F0"/>
            </a:solidFill>
            <a:prstDash val="solid"/>
          </a:ln>
        </p:spPr>
      </p:sp>
      <p:sp>
        <p:nvSpPr>
          <p:cNvPr id="19" name="Text 17"/>
          <p:cNvSpPr/>
          <p:nvPr/>
        </p:nvSpPr>
        <p:spPr>
          <a:xfrm>
            <a:off x="301752" y="1865376"/>
            <a:ext cx="1755648" cy="347472"/>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Batch Size</a:t>
            </a:r>
            <a:endParaRPr lang="en-US" sz="1000" dirty="0"/>
          </a:p>
        </p:txBody>
      </p:sp>
      <p:sp>
        <p:nvSpPr>
          <p:cNvPr id="20" name="Shape 18"/>
          <p:cNvSpPr/>
          <p:nvPr/>
        </p:nvSpPr>
        <p:spPr>
          <a:xfrm>
            <a:off x="2075688" y="1865376"/>
            <a:ext cx="1463040" cy="347472"/>
          </a:xfrm>
          <a:prstGeom prst="rect">
            <a:avLst/>
          </a:prstGeom>
          <a:solidFill>
            <a:srgbClr val="EFF6FF"/>
          </a:solidFill>
          <a:ln w="6350">
            <a:solidFill>
              <a:srgbClr val="E2E8F0"/>
            </a:solidFill>
            <a:prstDash val="solid"/>
          </a:ln>
        </p:spPr>
      </p:sp>
      <p:sp>
        <p:nvSpPr>
          <p:cNvPr id="21" name="Text 19"/>
          <p:cNvSpPr/>
          <p:nvPr/>
        </p:nvSpPr>
        <p:spPr>
          <a:xfrm>
            <a:off x="2148840" y="1865376"/>
            <a:ext cx="1389888" cy="347472"/>
          </a:xfrm>
          <a:prstGeom prst="rect">
            <a:avLst/>
          </a:prstGeom>
          <a:noFill/>
          <a:ln/>
        </p:spPr>
        <p:txBody>
          <a:bodyPr wrap="square" lIns="0" tIns="0" rIns="0" bIns="0" rtlCol="0" anchor="ctr"/>
          <a:lstStyle/>
          <a:p>
            <a:pPr indent="0" marL="0">
              <a:buNone/>
            </a:pPr>
            <a:r>
              <a:rPr lang="en-US" sz="1000" dirty="0">
                <a:solidFill>
                  <a:srgbClr val="2563EB"/>
                </a:solidFill>
                <a:latin typeface="Calibri" pitchFamily="34" charset="0"/>
                <a:ea typeface="Calibri" pitchFamily="34" charset="-122"/>
                <a:cs typeface="Calibri" pitchFamily="34" charset="-120"/>
              </a:rPr>
              <a:t>128</a:t>
            </a:r>
            <a:endParaRPr lang="en-US" sz="1000" dirty="0"/>
          </a:p>
        </p:txBody>
      </p:sp>
      <p:sp>
        <p:nvSpPr>
          <p:cNvPr id="22" name="Shape 20"/>
          <p:cNvSpPr/>
          <p:nvPr/>
        </p:nvSpPr>
        <p:spPr>
          <a:xfrm>
            <a:off x="3557016" y="1865376"/>
            <a:ext cx="1828800" cy="347472"/>
          </a:xfrm>
          <a:prstGeom prst="rect">
            <a:avLst/>
          </a:prstGeom>
          <a:solidFill>
            <a:srgbClr val="EFF6FF"/>
          </a:solidFill>
          <a:ln w="6350">
            <a:solidFill>
              <a:srgbClr val="E2E8F0"/>
            </a:solidFill>
            <a:prstDash val="solid"/>
          </a:ln>
        </p:spPr>
      </p:sp>
      <p:sp>
        <p:nvSpPr>
          <p:cNvPr id="23" name="Text 21"/>
          <p:cNvSpPr/>
          <p:nvPr/>
        </p:nvSpPr>
        <p:spPr>
          <a:xfrm>
            <a:off x="3630168" y="1865376"/>
            <a:ext cx="1755648" cy="347472"/>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GPU-efficient, stable gradients</a:t>
            </a:r>
            <a:endParaRPr lang="en-US" sz="1000" dirty="0"/>
          </a:p>
        </p:txBody>
      </p:sp>
      <p:sp>
        <p:nvSpPr>
          <p:cNvPr id="24" name="Shape 22"/>
          <p:cNvSpPr/>
          <p:nvPr/>
        </p:nvSpPr>
        <p:spPr>
          <a:xfrm>
            <a:off x="228600" y="2212848"/>
            <a:ext cx="1828800" cy="347472"/>
          </a:xfrm>
          <a:prstGeom prst="rect">
            <a:avLst/>
          </a:prstGeom>
          <a:solidFill>
            <a:srgbClr val="FFFFFF"/>
          </a:solidFill>
          <a:ln w="6350">
            <a:solidFill>
              <a:srgbClr val="E2E8F0"/>
            </a:solidFill>
            <a:prstDash val="solid"/>
          </a:ln>
        </p:spPr>
      </p:sp>
      <p:sp>
        <p:nvSpPr>
          <p:cNvPr id="25" name="Text 23"/>
          <p:cNvSpPr/>
          <p:nvPr/>
        </p:nvSpPr>
        <p:spPr>
          <a:xfrm>
            <a:off x="301752" y="2212848"/>
            <a:ext cx="1755648" cy="347472"/>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Epochs</a:t>
            </a:r>
            <a:endParaRPr lang="en-US" sz="1000" dirty="0"/>
          </a:p>
        </p:txBody>
      </p:sp>
      <p:sp>
        <p:nvSpPr>
          <p:cNvPr id="26" name="Shape 24"/>
          <p:cNvSpPr/>
          <p:nvPr/>
        </p:nvSpPr>
        <p:spPr>
          <a:xfrm>
            <a:off x="2075688" y="2212848"/>
            <a:ext cx="1463040" cy="347472"/>
          </a:xfrm>
          <a:prstGeom prst="rect">
            <a:avLst/>
          </a:prstGeom>
          <a:solidFill>
            <a:srgbClr val="FFFFFF"/>
          </a:solidFill>
          <a:ln w="6350">
            <a:solidFill>
              <a:srgbClr val="E2E8F0"/>
            </a:solidFill>
            <a:prstDash val="solid"/>
          </a:ln>
        </p:spPr>
      </p:sp>
      <p:sp>
        <p:nvSpPr>
          <p:cNvPr id="27" name="Text 25"/>
          <p:cNvSpPr/>
          <p:nvPr/>
        </p:nvSpPr>
        <p:spPr>
          <a:xfrm>
            <a:off x="2148840" y="2212848"/>
            <a:ext cx="1389888" cy="347472"/>
          </a:xfrm>
          <a:prstGeom prst="rect">
            <a:avLst/>
          </a:prstGeom>
          <a:noFill/>
          <a:ln/>
        </p:spPr>
        <p:txBody>
          <a:bodyPr wrap="square" lIns="0" tIns="0" rIns="0" bIns="0" rtlCol="0" anchor="ctr"/>
          <a:lstStyle/>
          <a:p>
            <a:pPr indent="0" marL="0">
              <a:buNone/>
            </a:pPr>
            <a:r>
              <a:rPr lang="en-US" sz="1000" dirty="0">
                <a:solidFill>
                  <a:srgbClr val="2563EB"/>
                </a:solidFill>
                <a:latin typeface="Calibri" pitchFamily="34" charset="0"/>
                <a:ea typeface="Calibri" pitchFamily="34" charset="-122"/>
                <a:cs typeface="Calibri" pitchFamily="34" charset="-120"/>
              </a:rPr>
              <a:t>80 (max)</a:t>
            </a:r>
            <a:endParaRPr lang="en-US" sz="1000" dirty="0"/>
          </a:p>
        </p:txBody>
      </p:sp>
      <p:sp>
        <p:nvSpPr>
          <p:cNvPr id="28" name="Shape 26"/>
          <p:cNvSpPr/>
          <p:nvPr/>
        </p:nvSpPr>
        <p:spPr>
          <a:xfrm>
            <a:off x="3557016" y="2212848"/>
            <a:ext cx="1828800" cy="347472"/>
          </a:xfrm>
          <a:prstGeom prst="rect">
            <a:avLst/>
          </a:prstGeom>
          <a:solidFill>
            <a:srgbClr val="FFFFFF"/>
          </a:solidFill>
          <a:ln w="6350">
            <a:solidFill>
              <a:srgbClr val="E2E8F0"/>
            </a:solidFill>
            <a:prstDash val="solid"/>
          </a:ln>
        </p:spPr>
      </p:sp>
      <p:sp>
        <p:nvSpPr>
          <p:cNvPr id="29" name="Text 27"/>
          <p:cNvSpPr/>
          <p:nvPr/>
        </p:nvSpPr>
        <p:spPr>
          <a:xfrm>
            <a:off x="3630168" y="2212848"/>
            <a:ext cx="1755648" cy="347472"/>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Early stopping prevents waste</a:t>
            </a:r>
            <a:endParaRPr lang="en-US" sz="1000" dirty="0"/>
          </a:p>
        </p:txBody>
      </p:sp>
      <p:sp>
        <p:nvSpPr>
          <p:cNvPr id="30" name="Shape 28"/>
          <p:cNvSpPr/>
          <p:nvPr/>
        </p:nvSpPr>
        <p:spPr>
          <a:xfrm>
            <a:off x="228600" y="2560320"/>
            <a:ext cx="1828800" cy="347472"/>
          </a:xfrm>
          <a:prstGeom prst="rect">
            <a:avLst/>
          </a:prstGeom>
          <a:solidFill>
            <a:srgbClr val="EFF6FF"/>
          </a:solidFill>
          <a:ln w="6350">
            <a:solidFill>
              <a:srgbClr val="E2E8F0"/>
            </a:solidFill>
            <a:prstDash val="solid"/>
          </a:ln>
        </p:spPr>
      </p:sp>
      <p:sp>
        <p:nvSpPr>
          <p:cNvPr id="31" name="Text 29"/>
          <p:cNvSpPr/>
          <p:nvPr/>
        </p:nvSpPr>
        <p:spPr>
          <a:xfrm>
            <a:off x="301752" y="2560320"/>
            <a:ext cx="1755648" cy="347472"/>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Learning Rate</a:t>
            </a:r>
            <a:endParaRPr lang="en-US" sz="1000" dirty="0"/>
          </a:p>
        </p:txBody>
      </p:sp>
      <p:sp>
        <p:nvSpPr>
          <p:cNvPr id="32" name="Shape 30"/>
          <p:cNvSpPr/>
          <p:nvPr/>
        </p:nvSpPr>
        <p:spPr>
          <a:xfrm>
            <a:off x="2075688" y="2560320"/>
            <a:ext cx="1463040" cy="347472"/>
          </a:xfrm>
          <a:prstGeom prst="rect">
            <a:avLst/>
          </a:prstGeom>
          <a:solidFill>
            <a:srgbClr val="EFF6FF"/>
          </a:solidFill>
          <a:ln w="6350">
            <a:solidFill>
              <a:srgbClr val="E2E8F0"/>
            </a:solidFill>
            <a:prstDash val="solid"/>
          </a:ln>
        </p:spPr>
      </p:sp>
      <p:sp>
        <p:nvSpPr>
          <p:cNvPr id="33" name="Text 31"/>
          <p:cNvSpPr/>
          <p:nvPr/>
        </p:nvSpPr>
        <p:spPr>
          <a:xfrm>
            <a:off x="2148840" y="2560320"/>
            <a:ext cx="1389888" cy="347472"/>
          </a:xfrm>
          <a:prstGeom prst="rect">
            <a:avLst/>
          </a:prstGeom>
          <a:noFill/>
          <a:ln/>
        </p:spPr>
        <p:txBody>
          <a:bodyPr wrap="square" lIns="0" tIns="0" rIns="0" bIns="0" rtlCol="0" anchor="ctr"/>
          <a:lstStyle/>
          <a:p>
            <a:pPr indent="0" marL="0">
              <a:buNone/>
            </a:pPr>
            <a:r>
              <a:rPr lang="en-US" sz="1000" dirty="0">
                <a:solidFill>
                  <a:srgbClr val="2563EB"/>
                </a:solidFill>
                <a:latin typeface="Calibri" pitchFamily="34" charset="0"/>
                <a:ea typeface="Calibri" pitchFamily="34" charset="-122"/>
                <a:cs typeface="Calibri" pitchFamily="34" charset="-120"/>
              </a:rPr>
              <a:t>7 × 10⁻⁴</a:t>
            </a:r>
            <a:endParaRPr lang="en-US" sz="1000" dirty="0"/>
          </a:p>
        </p:txBody>
      </p:sp>
      <p:sp>
        <p:nvSpPr>
          <p:cNvPr id="34" name="Shape 32"/>
          <p:cNvSpPr/>
          <p:nvPr/>
        </p:nvSpPr>
        <p:spPr>
          <a:xfrm>
            <a:off x="3557016" y="2560320"/>
            <a:ext cx="1828800" cy="347472"/>
          </a:xfrm>
          <a:prstGeom prst="rect">
            <a:avLst/>
          </a:prstGeom>
          <a:solidFill>
            <a:srgbClr val="EFF6FF"/>
          </a:solidFill>
          <a:ln w="6350">
            <a:solidFill>
              <a:srgbClr val="E2E8F0"/>
            </a:solidFill>
            <a:prstDash val="solid"/>
          </a:ln>
        </p:spPr>
      </p:sp>
      <p:sp>
        <p:nvSpPr>
          <p:cNvPr id="35" name="Text 33"/>
          <p:cNvSpPr/>
          <p:nvPr/>
        </p:nvSpPr>
        <p:spPr>
          <a:xfrm>
            <a:off x="3630168" y="2560320"/>
            <a:ext cx="1755648" cy="347472"/>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Empirically tuned for AdamW</a:t>
            </a:r>
            <a:endParaRPr lang="en-US" sz="1000" dirty="0"/>
          </a:p>
        </p:txBody>
      </p:sp>
      <p:sp>
        <p:nvSpPr>
          <p:cNvPr id="36" name="Shape 34"/>
          <p:cNvSpPr/>
          <p:nvPr/>
        </p:nvSpPr>
        <p:spPr>
          <a:xfrm>
            <a:off x="228600" y="2907792"/>
            <a:ext cx="1828800" cy="347472"/>
          </a:xfrm>
          <a:prstGeom prst="rect">
            <a:avLst/>
          </a:prstGeom>
          <a:solidFill>
            <a:srgbClr val="FFFFFF"/>
          </a:solidFill>
          <a:ln w="6350">
            <a:solidFill>
              <a:srgbClr val="E2E8F0"/>
            </a:solidFill>
            <a:prstDash val="solid"/>
          </a:ln>
        </p:spPr>
      </p:sp>
      <p:sp>
        <p:nvSpPr>
          <p:cNvPr id="37" name="Text 35"/>
          <p:cNvSpPr/>
          <p:nvPr/>
        </p:nvSpPr>
        <p:spPr>
          <a:xfrm>
            <a:off x="301752" y="2907792"/>
            <a:ext cx="1755648" cy="347472"/>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Weight Decay</a:t>
            </a:r>
            <a:endParaRPr lang="en-US" sz="1000" dirty="0"/>
          </a:p>
        </p:txBody>
      </p:sp>
      <p:sp>
        <p:nvSpPr>
          <p:cNvPr id="38" name="Shape 36"/>
          <p:cNvSpPr/>
          <p:nvPr/>
        </p:nvSpPr>
        <p:spPr>
          <a:xfrm>
            <a:off x="2075688" y="2907792"/>
            <a:ext cx="1463040" cy="347472"/>
          </a:xfrm>
          <a:prstGeom prst="rect">
            <a:avLst/>
          </a:prstGeom>
          <a:solidFill>
            <a:srgbClr val="FFFFFF"/>
          </a:solidFill>
          <a:ln w="6350">
            <a:solidFill>
              <a:srgbClr val="E2E8F0"/>
            </a:solidFill>
            <a:prstDash val="solid"/>
          </a:ln>
        </p:spPr>
      </p:sp>
      <p:sp>
        <p:nvSpPr>
          <p:cNvPr id="39" name="Text 37"/>
          <p:cNvSpPr/>
          <p:nvPr/>
        </p:nvSpPr>
        <p:spPr>
          <a:xfrm>
            <a:off x="2148840" y="2907792"/>
            <a:ext cx="1389888" cy="347472"/>
          </a:xfrm>
          <a:prstGeom prst="rect">
            <a:avLst/>
          </a:prstGeom>
          <a:noFill/>
          <a:ln/>
        </p:spPr>
        <p:txBody>
          <a:bodyPr wrap="square" lIns="0" tIns="0" rIns="0" bIns="0" rtlCol="0" anchor="ctr"/>
          <a:lstStyle/>
          <a:p>
            <a:pPr indent="0" marL="0">
              <a:buNone/>
            </a:pPr>
            <a:r>
              <a:rPr lang="en-US" sz="1000" dirty="0">
                <a:solidFill>
                  <a:srgbClr val="2563EB"/>
                </a:solidFill>
                <a:latin typeface="Calibri" pitchFamily="34" charset="0"/>
                <a:ea typeface="Calibri" pitchFamily="34" charset="-122"/>
                <a:cs typeface="Calibri" pitchFamily="34" charset="-120"/>
              </a:rPr>
              <a:t>1 × 10⁻⁴</a:t>
            </a:r>
            <a:endParaRPr lang="en-US" sz="1000" dirty="0"/>
          </a:p>
        </p:txBody>
      </p:sp>
      <p:sp>
        <p:nvSpPr>
          <p:cNvPr id="40" name="Shape 38"/>
          <p:cNvSpPr/>
          <p:nvPr/>
        </p:nvSpPr>
        <p:spPr>
          <a:xfrm>
            <a:off x="3557016" y="2907792"/>
            <a:ext cx="1828800" cy="347472"/>
          </a:xfrm>
          <a:prstGeom prst="rect">
            <a:avLst/>
          </a:prstGeom>
          <a:solidFill>
            <a:srgbClr val="FFFFFF"/>
          </a:solidFill>
          <a:ln w="6350">
            <a:solidFill>
              <a:srgbClr val="E2E8F0"/>
            </a:solidFill>
            <a:prstDash val="solid"/>
          </a:ln>
        </p:spPr>
      </p:sp>
      <p:sp>
        <p:nvSpPr>
          <p:cNvPr id="41" name="Text 39"/>
          <p:cNvSpPr/>
          <p:nvPr/>
        </p:nvSpPr>
        <p:spPr>
          <a:xfrm>
            <a:off x="3630168" y="2907792"/>
            <a:ext cx="1755648" cy="347472"/>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Mild L2 regularization</a:t>
            </a:r>
            <a:endParaRPr lang="en-US" sz="1000" dirty="0"/>
          </a:p>
        </p:txBody>
      </p:sp>
      <p:sp>
        <p:nvSpPr>
          <p:cNvPr id="42" name="Shape 40"/>
          <p:cNvSpPr/>
          <p:nvPr/>
        </p:nvSpPr>
        <p:spPr>
          <a:xfrm>
            <a:off x="228600" y="3255264"/>
            <a:ext cx="1828800" cy="347472"/>
          </a:xfrm>
          <a:prstGeom prst="rect">
            <a:avLst/>
          </a:prstGeom>
          <a:solidFill>
            <a:srgbClr val="EFF6FF"/>
          </a:solidFill>
          <a:ln w="6350">
            <a:solidFill>
              <a:srgbClr val="E2E8F0"/>
            </a:solidFill>
            <a:prstDash val="solid"/>
          </a:ln>
        </p:spPr>
      </p:sp>
      <p:sp>
        <p:nvSpPr>
          <p:cNvPr id="43" name="Text 41"/>
          <p:cNvSpPr/>
          <p:nvPr/>
        </p:nvSpPr>
        <p:spPr>
          <a:xfrm>
            <a:off x="301752" y="3255264"/>
            <a:ext cx="1755648" cy="347472"/>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Warm-up Epochs</a:t>
            </a:r>
            <a:endParaRPr lang="en-US" sz="1000" dirty="0"/>
          </a:p>
        </p:txBody>
      </p:sp>
      <p:sp>
        <p:nvSpPr>
          <p:cNvPr id="44" name="Shape 42"/>
          <p:cNvSpPr/>
          <p:nvPr/>
        </p:nvSpPr>
        <p:spPr>
          <a:xfrm>
            <a:off x="2075688" y="3255264"/>
            <a:ext cx="1463040" cy="347472"/>
          </a:xfrm>
          <a:prstGeom prst="rect">
            <a:avLst/>
          </a:prstGeom>
          <a:solidFill>
            <a:srgbClr val="EFF6FF"/>
          </a:solidFill>
          <a:ln w="6350">
            <a:solidFill>
              <a:srgbClr val="E2E8F0"/>
            </a:solidFill>
            <a:prstDash val="solid"/>
          </a:ln>
        </p:spPr>
      </p:sp>
      <p:sp>
        <p:nvSpPr>
          <p:cNvPr id="45" name="Text 43"/>
          <p:cNvSpPr/>
          <p:nvPr/>
        </p:nvSpPr>
        <p:spPr>
          <a:xfrm>
            <a:off x="2148840" y="3255264"/>
            <a:ext cx="1389888" cy="347472"/>
          </a:xfrm>
          <a:prstGeom prst="rect">
            <a:avLst/>
          </a:prstGeom>
          <a:noFill/>
          <a:ln/>
        </p:spPr>
        <p:txBody>
          <a:bodyPr wrap="square" lIns="0" tIns="0" rIns="0" bIns="0" rtlCol="0" anchor="ctr"/>
          <a:lstStyle/>
          <a:p>
            <a:pPr indent="0" marL="0">
              <a:buNone/>
            </a:pPr>
            <a:r>
              <a:rPr lang="en-US" sz="1000" dirty="0">
                <a:solidFill>
                  <a:srgbClr val="2563EB"/>
                </a:solidFill>
                <a:latin typeface="Calibri" pitchFamily="34" charset="0"/>
                <a:ea typeface="Calibri" pitchFamily="34" charset="-122"/>
                <a:cs typeface="Calibri" pitchFamily="34" charset="-120"/>
              </a:rPr>
              <a:t>5</a:t>
            </a:r>
            <a:endParaRPr lang="en-US" sz="1000" dirty="0"/>
          </a:p>
        </p:txBody>
      </p:sp>
      <p:sp>
        <p:nvSpPr>
          <p:cNvPr id="46" name="Shape 44"/>
          <p:cNvSpPr/>
          <p:nvPr/>
        </p:nvSpPr>
        <p:spPr>
          <a:xfrm>
            <a:off x="3557016" y="3255264"/>
            <a:ext cx="1828800" cy="347472"/>
          </a:xfrm>
          <a:prstGeom prst="rect">
            <a:avLst/>
          </a:prstGeom>
          <a:solidFill>
            <a:srgbClr val="EFF6FF"/>
          </a:solidFill>
          <a:ln w="6350">
            <a:solidFill>
              <a:srgbClr val="E2E8F0"/>
            </a:solidFill>
            <a:prstDash val="solid"/>
          </a:ln>
        </p:spPr>
      </p:sp>
      <p:sp>
        <p:nvSpPr>
          <p:cNvPr id="47" name="Text 45"/>
          <p:cNvSpPr/>
          <p:nvPr/>
        </p:nvSpPr>
        <p:spPr>
          <a:xfrm>
            <a:off x="3630168" y="3255264"/>
            <a:ext cx="1755648" cy="347472"/>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Prevent early gradient explosion</a:t>
            </a:r>
            <a:endParaRPr lang="en-US" sz="1000" dirty="0"/>
          </a:p>
        </p:txBody>
      </p:sp>
      <p:sp>
        <p:nvSpPr>
          <p:cNvPr id="48" name="Shape 46"/>
          <p:cNvSpPr/>
          <p:nvPr/>
        </p:nvSpPr>
        <p:spPr>
          <a:xfrm>
            <a:off x="228600" y="3602736"/>
            <a:ext cx="1828800" cy="347472"/>
          </a:xfrm>
          <a:prstGeom prst="rect">
            <a:avLst/>
          </a:prstGeom>
          <a:solidFill>
            <a:srgbClr val="FFFFFF"/>
          </a:solidFill>
          <a:ln w="6350">
            <a:solidFill>
              <a:srgbClr val="E2E8F0"/>
            </a:solidFill>
            <a:prstDash val="solid"/>
          </a:ln>
        </p:spPr>
      </p:sp>
      <p:sp>
        <p:nvSpPr>
          <p:cNvPr id="49" name="Text 47"/>
          <p:cNvSpPr/>
          <p:nvPr/>
        </p:nvSpPr>
        <p:spPr>
          <a:xfrm>
            <a:off x="301752" y="3602736"/>
            <a:ext cx="1755648" cy="347472"/>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Dropout</a:t>
            </a:r>
            <a:endParaRPr lang="en-US" sz="1000" dirty="0"/>
          </a:p>
        </p:txBody>
      </p:sp>
      <p:sp>
        <p:nvSpPr>
          <p:cNvPr id="50" name="Shape 48"/>
          <p:cNvSpPr/>
          <p:nvPr/>
        </p:nvSpPr>
        <p:spPr>
          <a:xfrm>
            <a:off x="2075688" y="3602736"/>
            <a:ext cx="1463040" cy="347472"/>
          </a:xfrm>
          <a:prstGeom prst="rect">
            <a:avLst/>
          </a:prstGeom>
          <a:solidFill>
            <a:srgbClr val="FFFFFF"/>
          </a:solidFill>
          <a:ln w="6350">
            <a:solidFill>
              <a:srgbClr val="E2E8F0"/>
            </a:solidFill>
            <a:prstDash val="solid"/>
          </a:ln>
        </p:spPr>
      </p:sp>
      <p:sp>
        <p:nvSpPr>
          <p:cNvPr id="51" name="Text 49"/>
          <p:cNvSpPr/>
          <p:nvPr/>
        </p:nvSpPr>
        <p:spPr>
          <a:xfrm>
            <a:off x="2148840" y="3602736"/>
            <a:ext cx="1389888" cy="347472"/>
          </a:xfrm>
          <a:prstGeom prst="rect">
            <a:avLst/>
          </a:prstGeom>
          <a:noFill/>
          <a:ln/>
        </p:spPr>
        <p:txBody>
          <a:bodyPr wrap="square" lIns="0" tIns="0" rIns="0" bIns="0" rtlCol="0" anchor="ctr"/>
          <a:lstStyle/>
          <a:p>
            <a:pPr indent="0" marL="0">
              <a:buNone/>
            </a:pPr>
            <a:r>
              <a:rPr lang="en-US" sz="1000" dirty="0">
                <a:solidFill>
                  <a:srgbClr val="2563EB"/>
                </a:solidFill>
                <a:latin typeface="Calibri" pitchFamily="34" charset="0"/>
                <a:ea typeface="Calibri" pitchFamily="34" charset="-122"/>
                <a:cs typeface="Calibri" pitchFamily="34" charset="-120"/>
              </a:rPr>
              <a:t>0.3 / 0.15</a:t>
            </a:r>
            <a:endParaRPr lang="en-US" sz="1000" dirty="0"/>
          </a:p>
        </p:txBody>
      </p:sp>
      <p:sp>
        <p:nvSpPr>
          <p:cNvPr id="52" name="Shape 50"/>
          <p:cNvSpPr/>
          <p:nvPr/>
        </p:nvSpPr>
        <p:spPr>
          <a:xfrm>
            <a:off x="3557016" y="3602736"/>
            <a:ext cx="1828800" cy="347472"/>
          </a:xfrm>
          <a:prstGeom prst="rect">
            <a:avLst/>
          </a:prstGeom>
          <a:solidFill>
            <a:srgbClr val="FFFFFF"/>
          </a:solidFill>
          <a:ln w="6350">
            <a:solidFill>
              <a:srgbClr val="E2E8F0"/>
            </a:solidFill>
            <a:prstDash val="solid"/>
          </a:ln>
        </p:spPr>
      </p:sp>
      <p:sp>
        <p:nvSpPr>
          <p:cNvPr id="53" name="Text 51"/>
          <p:cNvSpPr/>
          <p:nvPr/>
        </p:nvSpPr>
        <p:spPr>
          <a:xfrm>
            <a:off x="3630168" y="3602736"/>
            <a:ext cx="1755648" cy="347472"/>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Dual dropout in classifier head</a:t>
            </a:r>
            <a:endParaRPr lang="en-US" sz="1000" dirty="0"/>
          </a:p>
        </p:txBody>
      </p:sp>
      <p:sp>
        <p:nvSpPr>
          <p:cNvPr id="54" name="Shape 52"/>
          <p:cNvSpPr/>
          <p:nvPr/>
        </p:nvSpPr>
        <p:spPr>
          <a:xfrm>
            <a:off x="228600" y="3950208"/>
            <a:ext cx="1828800" cy="347472"/>
          </a:xfrm>
          <a:prstGeom prst="rect">
            <a:avLst/>
          </a:prstGeom>
          <a:solidFill>
            <a:srgbClr val="EFF6FF"/>
          </a:solidFill>
          <a:ln w="6350">
            <a:solidFill>
              <a:srgbClr val="E2E8F0"/>
            </a:solidFill>
            <a:prstDash val="solid"/>
          </a:ln>
        </p:spPr>
      </p:sp>
      <p:sp>
        <p:nvSpPr>
          <p:cNvPr id="55" name="Text 53"/>
          <p:cNvSpPr/>
          <p:nvPr/>
        </p:nvSpPr>
        <p:spPr>
          <a:xfrm>
            <a:off x="301752" y="3950208"/>
            <a:ext cx="1755648" cy="347472"/>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Val Split</a:t>
            </a:r>
            <a:endParaRPr lang="en-US" sz="1000" dirty="0"/>
          </a:p>
        </p:txBody>
      </p:sp>
      <p:sp>
        <p:nvSpPr>
          <p:cNvPr id="56" name="Shape 54"/>
          <p:cNvSpPr/>
          <p:nvPr/>
        </p:nvSpPr>
        <p:spPr>
          <a:xfrm>
            <a:off x="2075688" y="3950208"/>
            <a:ext cx="1463040" cy="347472"/>
          </a:xfrm>
          <a:prstGeom prst="rect">
            <a:avLst/>
          </a:prstGeom>
          <a:solidFill>
            <a:srgbClr val="EFF6FF"/>
          </a:solidFill>
          <a:ln w="6350">
            <a:solidFill>
              <a:srgbClr val="E2E8F0"/>
            </a:solidFill>
            <a:prstDash val="solid"/>
          </a:ln>
        </p:spPr>
      </p:sp>
      <p:sp>
        <p:nvSpPr>
          <p:cNvPr id="57" name="Text 55"/>
          <p:cNvSpPr/>
          <p:nvPr/>
        </p:nvSpPr>
        <p:spPr>
          <a:xfrm>
            <a:off x="2148840" y="3950208"/>
            <a:ext cx="1389888" cy="347472"/>
          </a:xfrm>
          <a:prstGeom prst="rect">
            <a:avLst/>
          </a:prstGeom>
          <a:noFill/>
          <a:ln/>
        </p:spPr>
        <p:txBody>
          <a:bodyPr wrap="square" lIns="0" tIns="0" rIns="0" bIns="0" rtlCol="0" anchor="ctr"/>
          <a:lstStyle/>
          <a:p>
            <a:pPr indent="0" marL="0">
              <a:buNone/>
            </a:pPr>
            <a:r>
              <a:rPr lang="en-US" sz="1000" dirty="0">
                <a:solidFill>
                  <a:srgbClr val="2563EB"/>
                </a:solidFill>
                <a:latin typeface="Calibri" pitchFamily="34" charset="0"/>
                <a:ea typeface="Calibri" pitchFamily="34" charset="-122"/>
                <a:cs typeface="Calibri" pitchFamily="34" charset="-120"/>
              </a:rPr>
              <a:t>15%</a:t>
            </a:r>
            <a:endParaRPr lang="en-US" sz="1000" dirty="0"/>
          </a:p>
        </p:txBody>
      </p:sp>
      <p:sp>
        <p:nvSpPr>
          <p:cNvPr id="58" name="Shape 56"/>
          <p:cNvSpPr/>
          <p:nvPr/>
        </p:nvSpPr>
        <p:spPr>
          <a:xfrm>
            <a:off x="3557016" y="3950208"/>
            <a:ext cx="1828800" cy="347472"/>
          </a:xfrm>
          <a:prstGeom prst="rect">
            <a:avLst/>
          </a:prstGeom>
          <a:solidFill>
            <a:srgbClr val="EFF6FF"/>
          </a:solidFill>
          <a:ln w="6350">
            <a:solidFill>
              <a:srgbClr val="E2E8F0"/>
            </a:solidFill>
            <a:prstDash val="solid"/>
          </a:ln>
        </p:spPr>
      </p:sp>
      <p:sp>
        <p:nvSpPr>
          <p:cNvPr id="59" name="Text 57"/>
          <p:cNvSpPr/>
          <p:nvPr/>
        </p:nvSpPr>
        <p:spPr>
          <a:xfrm>
            <a:off x="3630168" y="3950208"/>
            <a:ext cx="1755648" cy="347472"/>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Held-out for threshold tuning</a:t>
            </a:r>
            <a:endParaRPr lang="en-US" sz="1000" dirty="0"/>
          </a:p>
        </p:txBody>
      </p:sp>
      <p:sp>
        <p:nvSpPr>
          <p:cNvPr id="60" name="Shape 58"/>
          <p:cNvSpPr/>
          <p:nvPr/>
        </p:nvSpPr>
        <p:spPr>
          <a:xfrm>
            <a:off x="228600" y="4297680"/>
            <a:ext cx="1828800" cy="347472"/>
          </a:xfrm>
          <a:prstGeom prst="rect">
            <a:avLst/>
          </a:prstGeom>
          <a:solidFill>
            <a:srgbClr val="FFFFFF"/>
          </a:solidFill>
          <a:ln w="6350">
            <a:solidFill>
              <a:srgbClr val="E2E8F0"/>
            </a:solidFill>
            <a:prstDash val="solid"/>
          </a:ln>
        </p:spPr>
      </p:sp>
      <p:sp>
        <p:nvSpPr>
          <p:cNvPr id="61" name="Text 59"/>
          <p:cNvSpPr/>
          <p:nvPr/>
        </p:nvSpPr>
        <p:spPr>
          <a:xfrm>
            <a:off x="301752" y="4297680"/>
            <a:ext cx="1755648" cy="347472"/>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Seed</a:t>
            </a:r>
            <a:endParaRPr lang="en-US" sz="1000" dirty="0"/>
          </a:p>
        </p:txBody>
      </p:sp>
      <p:sp>
        <p:nvSpPr>
          <p:cNvPr id="62" name="Shape 60"/>
          <p:cNvSpPr/>
          <p:nvPr/>
        </p:nvSpPr>
        <p:spPr>
          <a:xfrm>
            <a:off x="2075688" y="4297680"/>
            <a:ext cx="1463040" cy="347472"/>
          </a:xfrm>
          <a:prstGeom prst="rect">
            <a:avLst/>
          </a:prstGeom>
          <a:solidFill>
            <a:srgbClr val="FFFFFF"/>
          </a:solidFill>
          <a:ln w="6350">
            <a:solidFill>
              <a:srgbClr val="E2E8F0"/>
            </a:solidFill>
            <a:prstDash val="solid"/>
          </a:ln>
        </p:spPr>
      </p:sp>
      <p:sp>
        <p:nvSpPr>
          <p:cNvPr id="63" name="Text 61"/>
          <p:cNvSpPr/>
          <p:nvPr/>
        </p:nvSpPr>
        <p:spPr>
          <a:xfrm>
            <a:off x="2148840" y="4297680"/>
            <a:ext cx="1389888" cy="347472"/>
          </a:xfrm>
          <a:prstGeom prst="rect">
            <a:avLst/>
          </a:prstGeom>
          <a:noFill/>
          <a:ln/>
        </p:spPr>
        <p:txBody>
          <a:bodyPr wrap="square" lIns="0" tIns="0" rIns="0" bIns="0" rtlCol="0" anchor="ctr"/>
          <a:lstStyle/>
          <a:p>
            <a:pPr indent="0" marL="0">
              <a:buNone/>
            </a:pPr>
            <a:r>
              <a:rPr lang="en-US" sz="1000" dirty="0">
                <a:solidFill>
                  <a:srgbClr val="2563EB"/>
                </a:solidFill>
                <a:latin typeface="Calibri" pitchFamily="34" charset="0"/>
                <a:ea typeface="Calibri" pitchFamily="34" charset="-122"/>
                <a:cs typeface="Calibri" pitchFamily="34" charset="-120"/>
              </a:rPr>
              <a:t>42</a:t>
            </a:r>
            <a:endParaRPr lang="en-US" sz="1000" dirty="0"/>
          </a:p>
        </p:txBody>
      </p:sp>
      <p:sp>
        <p:nvSpPr>
          <p:cNvPr id="64" name="Shape 62"/>
          <p:cNvSpPr/>
          <p:nvPr/>
        </p:nvSpPr>
        <p:spPr>
          <a:xfrm>
            <a:off x="3557016" y="4297680"/>
            <a:ext cx="1828800" cy="347472"/>
          </a:xfrm>
          <a:prstGeom prst="rect">
            <a:avLst/>
          </a:prstGeom>
          <a:solidFill>
            <a:srgbClr val="FFFFFF"/>
          </a:solidFill>
          <a:ln w="6350">
            <a:solidFill>
              <a:srgbClr val="E2E8F0"/>
            </a:solidFill>
            <a:prstDash val="solid"/>
          </a:ln>
        </p:spPr>
      </p:sp>
      <p:sp>
        <p:nvSpPr>
          <p:cNvPr id="65" name="Text 63"/>
          <p:cNvSpPr/>
          <p:nvPr/>
        </p:nvSpPr>
        <p:spPr>
          <a:xfrm>
            <a:off x="3630168" y="4297680"/>
            <a:ext cx="1755648" cy="347472"/>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Full reproducibility</a:t>
            </a:r>
            <a:endParaRPr lang="en-US" sz="1000" dirty="0"/>
          </a:p>
        </p:txBody>
      </p:sp>
      <p:sp>
        <p:nvSpPr>
          <p:cNvPr id="66" name="Shape 64"/>
          <p:cNvSpPr/>
          <p:nvPr/>
        </p:nvSpPr>
        <p:spPr>
          <a:xfrm>
            <a:off x="5074920" y="749808"/>
            <a:ext cx="3840480" cy="4114800"/>
          </a:xfrm>
          <a:prstGeom prst="rect">
            <a:avLst/>
          </a:prstGeom>
          <a:solidFill>
            <a:srgbClr val="0D1B3E"/>
          </a:solidFill>
          <a:ln w="12700">
            <a:solidFill>
              <a:srgbClr val="0D1B3E"/>
            </a:solidFill>
            <a:prstDash val="solid"/>
          </a:ln>
        </p:spPr>
      </p:sp>
      <p:sp>
        <p:nvSpPr>
          <p:cNvPr id="67" name="Text 65"/>
          <p:cNvSpPr/>
          <p:nvPr/>
        </p:nvSpPr>
        <p:spPr>
          <a:xfrm>
            <a:off x="5166360" y="841248"/>
            <a:ext cx="3657600" cy="347472"/>
          </a:xfrm>
          <a:prstGeom prst="rect">
            <a:avLst/>
          </a:prstGeom>
          <a:noFill/>
          <a:ln/>
        </p:spPr>
        <p:txBody>
          <a:bodyPr wrap="square" lIns="0" tIns="0" rIns="0" bIns="0" rtlCol="0" anchor="ctr"/>
          <a:lstStyle/>
          <a:p>
            <a:pPr indent="0" marL="0">
              <a:buNone/>
            </a:pPr>
            <a:r>
              <a:rPr lang="en-US" sz="1300" b="1" dirty="0">
                <a:solidFill>
                  <a:srgbClr val="06B6D4"/>
                </a:solidFill>
                <a:latin typeface="Calibri" pitchFamily="34" charset="0"/>
                <a:ea typeface="Calibri" pitchFamily="34" charset="-122"/>
                <a:cs typeface="Calibri" pitchFamily="34" charset="-120"/>
              </a:rPr>
              <a:t>Environment &amp; Tools</a:t>
            </a:r>
            <a:endParaRPr lang="en-US" sz="1300" dirty="0"/>
          </a:p>
        </p:txBody>
      </p:sp>
      <p:sp>
        <p:nvSpPr>
          <p:cNvPr id="68" name="Text 66"/>
          <p:cNvSpPr/>
          <p:nvPr/>
        </p:nvSpPr>
        <p:spPr>
          <a:xfrm>
            <a:off x="5166360" y="1316736"/>
            <a:ext cx="1371600" cy="347472"/>
          </a:xfrm>
          <a:prstGeom prst="rect">
            <a:avLst/>
          </a:prstGeom>
          <a:noFill/>
          <a:ln/>
        </p:spPr>
        <p:txBody>
          <a:bodyPr wrap="square" lIns="0" tIns="0" rIns="0" bIns="0" rtlCol="0" anchor="ctr"/>
          <a:lstStyle/>
          <a:p>
            <a:pPr indent="0" marL="0">
              <a:buNone/>
            </a:pPr>
            <a:r>
              <a:rPr lang="en-US" sz="1050" b="1" dirty="0">
                <a:solidFill>
                  <a:srgbClr val="06B6D4"/>
                </a:solidFill>
                <a:latin typeface="Calibri" pitchFamily="34" charset="0"/>
                <a:ea typeface="Calibri" pitchFamily="34" charset="-122"/>
                <a:cs typeface="Calibri" pitchFamily="34" charset="-120"/>
              </a:rPr>
              <a:t>Framework:</a:t>
            </a:r>
            <a:endParaRPr lang="en-US" sz="1050" dirty="0"/>
          </a:p>
        </p:txBody>
      </p:sp>
      <p:sp>
        <p:nvSpPr>
          <p:cNvPr id="69" name="Text 67"/>
          <p:cNvSpPr/>
          <p:nvPr/>
        </p:nvSpPr>
        <p:spPr>
          <a:xfrm>
            <a:off x="6492240" y="1316736"/>
            <a:ext cx="2286000" cy="347472"/>
          </a:xfrm>
          <a:prstGeom prst="rect">
            <a:avLst/>
          </a:prstGeom>
          <a:noFill/>
          <a:ln/>
        </p:spPr>
        <p:txBody>
          <a:bodyPr wrap="square" lIns="0" tIns="0" rIns="0" bIns="0" rtlCol="0" anchor="ctr"/>
          <a:lstStyle/>
          <a:p>
            <a:pPr indent="0" marL="0">
              <a:buNone/>
            </a:pPr>
            <a:r>
              <a:rPr lang="en-US" sz="1050" dirty="0">
                <a:solidFill>
                  <a:srgbClr val="F0F4FF"/>
                </a:solidFill>
                <a:latin typeface="Calibri" pitchFamily="34" charset="0"/>
                <a:ea typeface="Calibri" pitchFamily="34" charset="-122"/>
                <a:cs typeface="Calibri" pitchFamily="34" charset="-120"/>
              </a:rPr>
              <a:t>PyTorch 2.x + torchvision</a:t>
            </a:r>
            <a:endParaRPr lang="en-US" sz="1050" dirty="0"/>
          </a:p>
        </p:txBody>
      </p:sp>
      <p:sp>
        <p:nvSpPr>
          <p:cNvPr id="70" name="Text 68"/>
          <p:cNvSpPr/>
          <p:nvPr/>
        </p:nvSpPr>
        <p:spPr>
          <a:xfrm>
            <a:off x="5166360" y="1801368"/>
            <a:ext cx="1371600" cy="347472"/>
          </a:xfrm>
          <a:prstGeom prst="rect">
            <a:avLst/>
          </a:prstGeom>
          <a:noFill/>
          <a:ln/>
        </p:spPr>
        <p:txBody>
          <a:bodyPr wrap="square" lIns="0" tIns="0" rIns="0" bIns="0" rtlCol="0" anchor="ctr"/>
          <a:lstStyle/>
          <a:p>
            <a:pPr indent="0" marL="0">
              <a:buNone/>
            </a:pPr>
            <a:r>
              <a:rPr lang="en-US" sz="1050" b="1" dirty="0">
                <a:solidFill>
                  <a:srgbClr val="06B6D4"/>
                </a:solidFill>
                <a:latin typeface="Calibri" pitchFamily="34" charset="0"/>
                <a:ea typeface="Calibri" pitchFamily="34" charset="-122"/>
                <a:cs typeface="Calibri" pitchFamily="34" charset="-120"/>
              </a:rPr>
              <a:t>Precision:</a:t>
            </a:r>
            <a:endParaRPr lang="en-US" sz="1050" dirty="0"/>
          </a:p>
        </p:txBody>
      </p:sp>
      <p:sp>
        <p:nvSpPr>
          <p:cNvPr id="71" name="Text 69"/>
          <p:cNvSpPr/>
          <p:nvPr/>
        </p:nvSpPr>
        <p:spPr>
          <a:xfrm>
            <a:off x="6492240" y="1801368"/>
            <a:ext cx="2286000" cy="347472"/>
          </a:xfrm>
          <a:prstGeom prst="rect">
            <a:avLst/>
          </a:prstGeom>
          <a:noFill/>
          <a:ln/>
        </p:spPr>
        <p:txBody>
          <a:bodyPr wrap="square" lIns="0" tIns="0" rIns="0" bIns="0" rtlCol="0" anchor="ctr"/>
          <a:lstStyle/>
          <a:p>
            <a:pPr indent="0" marL="0">
              <a:buNone/>
            </a:pPr>
            <a:r>
              <a:rPr lang="en-US" sz="1050" dirty="0">
                <a:solidFill>
                  <a:srgbClr val="F0F4FF"/>
                </a:solidFill>
                <a:latin typeface="Calibri" pitchFamily="34" charset="0"/>
                <a:ea typeface="Calibri" pitchFamily="34" charset="-122"/>
                <a:cs typeface="Calibri" pitchFamily="34" charset="-120"/>
              </a:rPr>
              <a:t>Mixed FP16 via torch.amp</a:t>
            </a:r>
            <a:endParaRPr lang="en-US" sz="1050" dirty="0"/>
          </a:p>
        </p:txBody>
      </p:sp>
      <p:sp>
        <p:nvSpPr>
          <p:cNvPr id="72" name="Text 70"/>
          <p:cNvSpPr/>
          <p:nvPr/>
        </p:nvSpPr>
        <p:spPr>
          <a:xfrm>
            <a:off x="5166360" y="2286000"/>
            <a:ext cx="1371600" cy="347472"/>
          </a:xfrm>
          <a:prstGeom prst="rect">
            <a:avLst/>
          </a:prstGeom>
          <a:noFill/>
          <a:ln/>
        </p:spPr>
        <p:txBody>
          <a:bodyPr wrap="square" lIns="0" tIns="0" rIns="0" bIns="0" rtlCol="0" anchor="ctr"/>
          <a:lstStyle/>
          <a:p>
            <a:pPr indent="0" marL="0">
              <a:buNone/>
            </a:pPr>
            <a:r>
              <a:rPr lang="en-US" sz="1050" b="1" dirty="0">
                <a:solidFill>
                  <a:srgbClr val="06B6D4"/>
                </a:solidFill>
                <a:latin typeface="Calibri" pitchFamily="34" charset="0"/>
                <a:ea typeface="Calibri" pitchFamily="34" charset="-122"/>
                <a:cs typeface="Calibri" pitchFamily="34" charset="-120"/>
              </a:rPr>
              <a:t>DataLoader:</a:t>
            </a:r>
            <a:endParaRPr lang="en-US" sz="1050" dirty="0"/>
          </a:p>
        </p:txBody>
      </p:sp>
      <p:sp>
        <p:nvSpPr>
          <p:cNvPr id="73" name="Text 71"/>
          <p:cNvSpPr/>
          <p:nvPr/>
        </p:nvSpPr>
        <p:spPr>
          <a:xfrm>
            <a:off x="6492240" y="2286000"/>
            <a:ext cx="2286000" cy="347472"/>
          </a:xfrm>
          <a:prstGeom prst="rect">
            <a:avLst/>
          </a:prstGeom>
          <a:noFill/>
          <a:ln/>
        </p:spPr>
        <p:txBody>
          <a:bodyPr wrap="square" lIns="0" tIns="0" rIns="0" bIns="0" rtlCol="0" anchor="ctr"/>
          <a:lstStyle/>
          <a:p>
            <a:pPr indent="0" marL="0">
              <a:buNone/>
            </a:pPr>
            <a:r>
              <a:rPr lang="en-US" sz="1050" dirty="0">
                <a:solidFill>
                  <a:srgbClr val="F0F4FF"/>
                </a:solidFill>
                <a:latin typeface="Calibri" pitchFamily="34" charset="0"/>
                <a:ea typeface="Calibri" pitchFamily="34" charset="-122"/>
                <a:cs typeface="Calibri" pitchFamily="34" charset="-120"/>
              </a:rPr>
              <a:t>4 workers + pin_memory</a:t>
            </a:r>
            <a:endParaRPr lang="en-US" sz="1050" dirty="0"/>
          </a:p>
        </p:txBody>
      </p:sp>
      <p:sp>
        <p:nvSpPr>
          <p:cNvPr id="74" name="Text 72"/>
          <p:cNvSpPr/>
          <p:nvPr/>
        </p:nvSpPr>
        <p:spPr>
          <a:xfrm>
            <a:off x="5166360" y="2770632"/>
            <a:ext cx="1371600" cy="347472"/>
          </a:xfrm>
          <a:prstGeom prst="rect">
            <a:avLst/>
          </a:prstGeom>
          <a:noFill/>
          <a:ln/>
        </p:spPr>
        <p:txBody>
          <a:bodyPr wrap="square" lIns="0" tIns="0" rIns="0" bIns="0" rtlCol="0" anchor="ctr"/>
          <a:lstStyle/>
          <a:p>
            <a:pPr indent="0" marL="0">
              <a:buNone/>
            </a:pPr>
            <a:r>
              <a:rPr lang="en-US" sz="1050" b="1" dirty="0">
                <a:solidFill>
                  <a:srgbClr val="06B6D4"/>
                </a:solidFill>
                <a:latin typeface="Calibri" pitchFamily="34" charset="0"/>
                <a:ea typeface="Calibri" pitchFamily="34" charset="-122"/>
                <a:cs typeface="Calibri" pitchFamily="34" charset="-120"/>
              </a:rPr>
              <a:t>Augmentation:</a:t>
            </a:r>
            <a:endParaRPr lang="en-US" sz="1050" dirty="0"/>
          </a:p>
        </p:txBody>
      </p:sp>
      <p:sp>
        <p:nvSpPr>
          <p:cNvPr id="75" name="Text 73"/>
          <p:cNvSpPr/>
          <p:nvPr/>
        </p:nvSpPr>
        <p:spPr>
          <a:xfrm>
            <a:off x="6492240" y="2770632"/>
            <a:ext cx="2286000" cy="347472"/>
          </a:xfrm>
          <a:prstGeom prst="rect">
            <a:avLst/>
          </a:prstGeom>
          <a:noFill/>
          <a:ln/>
        </p:spPr>
        <p:txBody>
          <a:bodyPr wrap="square" lIns="0" tIns="0" rIns="0" bIns="0" rtlCol="0" anchor="ctr"/>
          <a:lstStyle/>
          <a:p>
            <a:pPr indent="0" marL="0">
              <a:buNone/>
            </a:pPr>
            <a:r>
              <a:rPr lang="en-US" sz="1050" dirty="0">
                <a:solidFill>
                  <a:srgbClr val="F0F4FF"/>
                </a:solidFill>
                <a:latin typeface="Calibri" pitchFamily="34" charset="0"/>
                <a:ea typeface="Calibri" pitchFamily="34" charset="-122"/>
                <a:cs typeface="Calibri" pitchFamily="34" charset="-120"/>
              </a:rPr>
              <a:t>torchvision.transforms</a:t>
            </a:r>
            <a:endParaRPr lang="en-US" sz="1050" dirty="0"/>
          </a:p>
        </p:txBody>
      </p:sp>
      <p:sp>
        <p:nvSpPr>
          <p:cNvPr id="76" name="Text 74"/>
          <p:cNvSpPr/>
          <p:nvPr/>
        </p:nvSpPr>
        <p:spPr>
          <a:xfrm>
            <a:off x="5166360" y="3255264"/>
            <a:ext cx="1371600" cy="347472"/>
          </a:xfrm>
          <a:prstGeom prst="rect">
            <a:avLst/>
          </a:prstGeom>
          <a:noFill/>
          <a:ln/>
        </p:spPr>
        <p:txBody>
          <a:bodyPr wrap="square" lIns="0" tIns="0" rIns="0" bIns="0" rtlCol="0" anchor="ctr"/>
          <a:lstStyle/>
          <a:p>
            <a:pPr indent="0" marL="0">
              <a:buNone/>
            </a:pPr>
            <a:r>
              <a:rPr lang="en-US" sz="1050" b="1" dirty="0">
                <a:solidFill>
                  <a:srgbClr val="06B6D4"/>
                </a:solidFill>
                <a:latin typeface="Calibri" pitchFamily="34" charset="0"/>
                <a:ea typeface="Calibri" pitchFamily="34" charset="-122"/>
                <a:cs typeface="Calibri" pitchFamily="34" charset="-120"/>
              </a:rPr>
              <a:t>Reproducibility:</a:t>
            </a:r>
            <a:endParaRPr lang="en-US" sz="1050" dirty="0"/>
          </a:p>
        </p:txBody>
      </p:sp>
      <p:sp>
        <p:nvSpPr>
          <p:cNvPr id="77" name="Text 75"/>
          <p:cNvSpPr/>
          <p:nvPr/>
        </p:nvSpPr>
        <p:spPr>
          <a:xfrm>
            <a:off x="6492240" y="3255264"/>
            <a:ext cx="2286000" cy="347472"/>
          </a:xfrm>
          <a:prstGeom prst="rect">
            <a:avLst/>
          </a:prstGeom>
          <a:noFill/>
          <a:ln/>
        </p:spPr>
        <p:txBody>
          <a:bodyPr wrap="square" lIns="0" tIns="0" rIns="0" bIns="0" rtlCol="0" anchor="ctr"/>
          <a:lstStyle/>
          <a:p>
            <a:pPr indent="0" marL="0">
              <a:buNone/>
            </a:pPr>
            <a:r>
              <a:rPr lang="en-US" sz="1050" dirty="0">
                <a:solidFill>
                  <a:srgbClr val="F0F4FF"/>
                </a:solidFill>
                <a:latin typeface="Calibri" pitchFamily="34" charset="0"/>
                <a:ea typeface="Calibri" pitchFamily="34" charset="-122"/>
                <a:cs typeface="Calibri" pitchFamily="34" charset="-120"/>
              </a:rPr>
              <a:t>Full seed control (seed=42)</a:t>
            </a:r>
            <a:endParaRPr lang="en-US" sz="1050" dirty="0"/>
          </a:p>
        </p:txBody>
      </p:sp>
      <p:sp>
        <p:nvSpPr>
          <p:cNvPr id="78" name="Text 76"/>
          <p:cNvSpPr/>
          <p:nvPr/>
        </p:nvSpPr>
        <p:spPr>
          <a:xfrm>
            <a:off x="5166360" y="3739896"/>
            <a:ext cx="1371600" cy="347472"/>
          </a:xfrm>
          <a:prstGeom prst="rect">
            <a:avLst/>
          </a:prstGeom>
          <a:noFill/>
          <a:ln/>
        </p:spPr>
        <p:txBody>
          <a:bodyPr wrap="square" lIns="0" tIns="0" rIns="0" bIns="0" rtlCol="0" anchor="ctr"/>
          <a:lstStyle/>
          <a:p>
            <a:pPr indent="0" marL="0">
              <a:buNone/>
            </a:pPr>
            <a:r>
              <a:rPr lang="en-US" sz="1050" b="1" dirty="0">
                <a:solidFill>
                  <a:srgbClr val="06B6D4"/>
                </a:solidFill>
                <a:latin typeface="Calibri" pitchFamily="34" charset="0"/>
                <a:ea typeface="Calibri" pitchFamily="34" charset="-122"/>
                <a:cs typeface="Calibri" pitchFamily="34" charset="-120"/>
              </a:rPr>
              <a:t>Evaluation:</a:t>
            </a:r>
            <a:endParaRPr lang="en-US" sz="1050" dirty="0"/>
          </a:p>
        </p:txBody>
      </p:sp>
      <p:sp>
        <p:nvSpPr>
          <p:cNvPr id="79" name="Text 77"/>
          <p:cNvSpPr/>
          <p:nvPr/>
        </p:nvSpPr>
        <p:spPr>
          <a:xfrm>
            <a:off x="6492240" y="3739896"/>
            <a:ext cx="2286000" cy="347472"/>
          </a:xfrm>
          <a:prstGeom prst="rect">
            <a:avLst/>
          </a:prstGeom>
          <a:noFill/>
          <a:ln/>
        </p:spPr>
        <p:txBody>
          <a:bodyPr wrap="square" lIns="0" tIns="0" rIns="0" bIns="0" rtlCol="0" anchor="ctr"/>
          <a:lstStyle/>
          <a:p>
            <a:pPr indent="0" marL="0">
              <a:buNone/>
            </a:pPr>
            <a:r>
              <a:rPr lang="en-US" sz="1050" dirty="0">
                <a:solidFill>
                  <a:srgbClr val="F0F4FF"/>
                </a:solidFill>
                <a:latin typeface="Calibri" pitchFamily="34" charset="0"/>
                <a:ea typeface="Calibri" pitchFamily="34" charset="-122"/>
                <a:cs typeface="Calibri" pitchFamily="34" charset="-120"/>
              </a:rPr>
              <a:t>Accuracy + threshold grid search</a:t>
            </a:r>
            <a:endParaRPr lang="en-US" sz="1050" dirty="0"/>
          </a:p>
        </p:txBody>
      </p:sp>
      <p:sp>
        <p:nvSpPr>
          <p:cNvPr id="80" name="Text 78"/>
          <p:cNvSpPr/>
          <p:nvPr/>
        </p:nvSpPr>
        <p:spPr>
          <a:xfrm>
            <a:off x="5166360" y="4224528"/>
            <a:ext cx="1371600" cy="347472"/>
          </a:xfrm>
          <a:prstGeom prst="rect">
            <a:avLst/>
          </a:prstGeom>
          <a:noFill/>
          <a:ln/>
        </p:spPr>
        <p:txBody>
          <a:bodyPr wrap="square" lIns="0" tIns="0" rIns="0" bIns="0" rtlCol="0" anchor="ctr"/>
          <a:lstStyle/>
          <a:p>
            <a:pPr indent="0" marL="0">
              <a:buNone/>
            </a:pPr>
            <a:r>
              <a:rPr lang="en-US" sz="1050" b="1" dirty="0">
                <a:solidFill>
                  <a:srgbClr val="06B6D4"/>
                </a:solidFill>
                <a:latin typeface="Calibri" pitchFamily="34" charset="0"/>
                <a:ea typeface="Calibri" pitchFamily="34" charset="-122"/>
                <a:cs typeface="Calibri" pitchFamily="34" charset="-120"/>
              </a:rPr>
              <a:t>Output:</a:t>
            </a:r>
            <a:endParaRPr lang="en-US" sz="1050" dirty="0"/>
          </a:p>
        </p:txBody>
      </p:sp>
      <p:sp>
        <p:nvSpPr>
          <p:cNvPr id="81" name="Text 79"/>
          <p:cNvSpPr/>
          <p:nvPr/>
        </p:nvSpPr>
        <p:spPr>
          <a:xfrm>
            <a:off x="6492240" y="4224528"/>
            <a:ext cx="2286000" cy="347472"/>
          </a:xfrm>
          <a:prstGeom prst="rect">
            <a:avLst/>
          </a:prstGeom>
          <a:noFill/>
          <a:ln/>
        </p:spPr>
        <p:txBody>
          <a:bodyPr wrap="square" lIns="0" tIns="0" rIns="0" bIns="0" rtlCol="0" anchor="ctr"/>
          <a:lstStyle/>
          <a:p>
            <a:pPr indent="0" marL="0">
              <a:buNone/>
            </a:pPr>
            <a:r>
              <a:rPr lang="en-US" sz="1050" dirty="0">
                <a:solidFill>
                  <a:srgbClr val="F0F4FF"/>
                </a:solidFill>
                <a:latin typeface="Calibri" pitchFamily="34" charset="0"/>
                <a:ea typeface="Calibri" pitchFamily="34" charset="-122"/>
                <a:cs typeface="Calibri" pitchFamily="34" charset="-120"/>
              </a:rPr>
              <a:t>CSV submission (ID, TARGET)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563EB"/>
          </a:solidFill>
          <a:ln w="12700">
            <a:solidFill>
              <a:srgbClr val="2563EB"/>
            </a:solidFill>
            <a:prstDash val="solid"/>
          </a:ln>
        </p:spPr>
      </p:sp>
      <p:sp>
        <p:nvSpPr>
          <p:cNvPr id="3" name="Shape 1"/>
          <p:cNvSpPr/>
          <p:nvPr/>
        </p:nvSpPr>
        <p:spPr>
          <a:xfrm>
            <a:off x="0" y="0"/>
            <a:ext cx="9144000" cy="658368"/>
          </a:xfrm>
          <a:prstGeom prst="rect">
            <a:avLst/>
          </a:prstGeom>
          <a:solidFill>
            <a:srgbClr val="0D1B3E"/>
          </a:solidFill>
          <a:ln w="12700">
            <a:solidFill>
              <a:srgbClr val="0D1B3E"/>
            </a:solidFill>
            <a:prstDash val="solid"/>
          </a:ln>
        </p:spPr>
      </p:sp>
      <p:sp>
        <p:nvSpPr>
          <p:cNvPr id="4" name="Text 2"/>
          <p:cNvSpPr/>
          <p:nvPr/>
        </p:nvSpPr>
        <p:spPr>
          <a:xfrm>
            <a:off x="228600" y="36576"/>
            <a:ext cx="8686800" cy="585216"/>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Experimentation &amp; Results</a:t>
            </a:r>
            <a:endParaRPr lang="en-US" sz="2200" dirty="0"/>
          </a:p>
        </p:txBody>
      </p:sp>
      <p:sp>
        <p:nvSpPr>
          <p:cNvPr id="5" name="Shape 3"/>
          <p:cNvSpPr/>
          <p:nvPr/>
        </p:nvSpPr>
        <p:spPr>
          <a:xfrm>
            <a:off x="228600" y="749808"/>
            <a:ext cx="2011680" cy="1097280"/>
          </a:xfrm>
          <a:prstGeom prst="rect">
            <a:avLst/>
          </a:prstGeom>
          <a:solidFill>
            <a:srgbClr val="2563EB"/>
          </a:solidFill>
          <a:ln w="12700">
            <a:solidFill>
              <a:srgbClr val="2563EB"/>
            </a:solidFill>
            <a:prstDash val="solid"/>
          </a:ln>
          <a:effectLst>
            <a:outerShdw sx="100000" sy="100000" kx="0" ky="0" algn="bl" rotWithShape="0" blurRad="76200" dist="25400" dir="8100000">
              <a:srgbClr val="000000">
                <a:alpha val="12000"/>
              </a:srgbClr>
            </a:outerShdw>
          </a:effectLst>
        </p:spPr>
      </p:sp>
      <p:sp>
        <p:nvSpPr>
          <p:cNvPr id="6" name="Text 4"/>
          <p:cNvSpPr/>
          <p:nvPr/>
        </p:nvSpPr>
        <p:spPr>
          <a:xfrm>
            <a:off x="228600" y="841248"/>
            <a:ext cx="2011680" cy="59436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99.93%</a:t>
            </a:r>
            <a:endParaRPr lang="en-US" sz="3400" dirty="0"/>
          </a:p>
        </p:txBody>
      </p:sp>
      <p:sp>
        <p:nvSpPr>
          <p:cNvPr id="7" name="Text 5"/>
          <p:cNvSpPr/>
          <p:nvPr/>
        </p:nvSpPr>
        <p:spPr>
          <a:xfrm>
            <a:off x="228600" y="1408176"/>
            <a:ext cx="201168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Peak Val Accuracy</a:t>
            </a:r>
            <a:endParaRPr lang="en-US" sz="1100" dirty="0"/>
          </a:p>
        </p:txBody>
      </p:sp>
      <p:sp>
        <p:nvSpPr>
          <p:cNvPr id="8" name="Shape 6"/>
          <p:cNvSpPr/>
          <p:nvPr/>
        </p:nvSpPr>
        <p:spPr>
          <a:xfrm>
            <a:off x="2377440" y="749808"/>
            <a:ext cx="2011680" cy="1097280"/>
          </a:xfrm>
          <a:prstGeom prst="rect">
            <a:avLst/>
          </a:prstGeom>
          <a:solidFill>
            <a:srgbClr val="0891B2"/>
          </a:solidFill>
          <a:ln w="12700">
            <a:solidFill>
              <a:srgbClr val="0891B2"/>
            </a:solidFill>
            <a:prstDash val="solid"/>
          </a:ln>
          <a:effectLst>
            <a:outerShdw sx="100000" sy="100000" kx="0" ky="0" algn="bl" rotWithShape="0" blurRad="76200" dist="25400" dir="8100000">
              <a:srgbClr val="000000">
                <a:alpha val="12000"/>
              </a:srgbClr>
            </a:outerShdw>
          </a:effectLst>
        </p:spPr>
      </p:sp>
      <p:sp>
        <p:nvSpPr>
          <p:cNvPr id="9" name="Text 7"/>
          <p:cNvSpPr/>
          <p:nvPr/>
        </p:nvSpPr>
        <p:spPr>
          <a:xfrm>
            <a:off x="2377440" y="841248"/>
            <a:ext cx="2011680" cy="59436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0.200</a:t>
            </a:r>
            <a:endParaRPr lang="en-US" sz="3400" dirty="0"/>
          </a:p>
        </p:txBody>
      </p:sp>
      <p:sp>
        <p:nvSpPr>
          <p:cNvPr id="10" name="Text 8"/>
          <p:cNvSpPr/>
          <p:nvPr/>
        </p:nvSpPr>
        <p:spPr>
          <a:xfrm>
            <a:off x="2377440" y="1408176"/>
            <a:ext cx="201168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Optimal Threshold</a:t>
            </a:r>
            <a:endParaRPr lang="en-US" sz="1100" dirty="0"/>
          </a:p>
        </p:txBody>
      </p:sp>
      <p:sp>
        <p:nvSpPr>
          <p:cNvPr id="11" name="Shape 9"/>
          <p:cNvSpPr/>
          <p:nvPr/>
        </p:nvSpPr>
        <p:spPr>
          <a:xfrm>
            <a:off x="4526280" y="749808"/>
            <a:ext cx="2011680" cy="1097280"/>
          </a:xfrm>
          <a:prstGeom prst="rect">
            <a:avLst/>
          </a:prstGeom>
          <a:solidFill>
            <a:srgbClr val="7C3AED"/>
          </a:solidFill>
          <a:ln w="12700">
            <a:solidFill>
              <a:srgbClr val="7C3AED"/>
            </a:solidFill>
            <a:prstDash val="solid"/>
          </a:ln>
          <a:effectLst>
            <a:outerShdw sx="100000" sy="100000" kx="0" ky="0" algn="bl" rotWithShape="0" blurRad="76200" dist="25400" dir="8100000">
              <a:srgbClr val="000000">
                <a:alpha val="12000"/>
              </a:srgbClr>
            </a:outerShdw>
          </a:effectLst>
        </p:spPr>
      </p:sp>
      <p:sp>
        <p:nvSpPr>
          <p:cNvPr id="12" name="Text 10"/>
          <p:cNvSpPr/>
          <p:nvPr/>
        </p:nvSpPr>
        <p:spPr>
          <a:xfrm>
            <a:off x="4526280" y="841248"/>
            <a:ext cx="2011680" cy="59436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Ep 39</a:t>
            </a:r>
            <a:endParaRPr lang="en-US" sz="3400" dirty="0"/>
          </a:p>
        </p:txBody>
      </p:sp>
      <p:sp>
        <p:nvSpPr>
          <p:cNvPr id="13" name="Text 11"/>
          <p:cNvSpPr/>
          <p:nvPr/>
        </p:nvSpPr>
        <p:spPr>
          <a:xfrm>
            <a:off x="4526280" y="1408176"/>
            <a:ext cx="201168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Early Stop (of 80)</a:t>
            </a:r>
            <a:endParaRPr lang="en-US" sz="1100" dirty="0"/>
          </a:p>
        </p:txBody>
      </p:sp>
      <p:sp>
        <p:nvSpPr>
          <p:cNvPr id="14" name="Shape 12"/>
          <p:cNvSpPr/>
          <p:nvPr/>
        </p:nvSpPr>
        <p:spPr>
          <a:xfrm>
            <a:off x="6675120" y="749808"/>
            <a:ext cx="2011680" cy="1097280"/>
          </a:xfrm>
          <a:prstGeom prst="rect">
            <a:avLst/>
          </a:prstGeom>
          <a:solidFill>
            <a:srgbClr val="10B981"/>
          </a:solidFill>
          <a:ln w="12700">
            <a:solidFill>
              <a:srgbClr val="10B981"/>
            </a:solidFill>
            <a:prstDash val="solid"/>
          </a:ln>
          <a:effectLst>
            <a:outerShdw sx="100000" sy="100000" kx="0" ky="0" algn="bl" rotWithShape="0" blurRad="76200" dist="25400" dir="8100000">
              <a:srgbClr val="000000">
                <a:alpha val="12000"/>
              </a:srgbClr>
            </a:outerShdw>
          </a:effectLst>
        </p:spPr>
      </p:sp>
      <p:sp>
        <p:nvSpPr>
          <p:cNvPr id="15" name="Text 13"/>
          <p:cNvSpPr/>
          <p:nvPr/>
        </p:nvSpPr>
        <p:spPr>
          <a:xfrm>
            <a:off x="6675120" y="841248"/>
            <a:ext cx="2011680" cy="59436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5,010</a:t>
            </a:r>
            <a:endParaRPr lang="en-US" sz="3400" dirty="0"/>
          </a:p>
        </p:txBody>
      </p:sp>
      <p:sp>
        <p:nvSpPr>
          <p:cNvPr id="16" name="Text 14"/>
          <p:cNvSpPr/>
          <p:nvPr/>
        </p:nvSpPr>
        <p:spPr>
          <a:xfrm>
            <a:off x="6675120" y="1408176"/>
            <a:ext cx="201168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Test Predictions</a:t>
            </a:r>
            <a:endParaRPr lang="en-US" sz="1100" dirty="0"/>
          </a:p>
        </p:txBody>
      </p:sp>
      <p:graphicFrame>
        <p:nvGraphicFramePr>
          <p:cNvPr id="17" name="Chart 0" descr=""/>
          <p:cNvGraphicFramePr/>
          <p:nvPr/>
        </p:nvGraphicFramePr>
        <p:xfrm>
          <a:off x="228600" y="1965960"/>
          <a:ext cx="5303520" cy="283464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p:nvPr/>
        </p:nvSpPr>
        <p:spPr>
          <a:xfrm>
            <a:off x="5715000" y="1965960"/>
            <a:ext cx="3200400" cy="320040"/>
          </a:xfrm>
          <a:prstGeom prst="rect">
            <a:avLst/>
          </a:prstGeom>
          <a:noFill/>
          <a:ln/>
        </p:spPr>
        <p:txBody>
          <a:bodyPr wrap="square" lIns="0" tIns="0" rIns="0" bIns="0"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Key Observations</a:t>
            </a:r>
            <a:endParaRPr lang="en-US" sz="1300" dirty="0"/>
          </a:p>
        </p:txBody>
      </p:sp>
      <p:sp>
        <p:nvSpPr>
          <p:cNvPr id="19" name="Shape 16"/>
          <p:cNvSpPr/>
          <p:nvPr/>
        </p:nvSpPr>
        <p:spPr>
          <a:xfrm>
            <a:off x="5715000" y="2359152"/>
            <a:ext cx="3200400" cy="457200"/>
          </a:xfrm>
          <a:prstGeom prst="rect">
            <a:avLst/>
          </a:prstGeom>
          <a:solidFill>
            <a:srgbClr val="EFF6FF"/>
          </a:solidFill>
          <a:ln w="6350">
            <a:solidFill>
              <a:srgbClr val="E2E8F0"/>
            </a:solidFill>
            <a:prstDash val="solid"/>
          </a:ln>
        </p:spPr>
      </p:sp>
      <p:sp>
        <p:nvSpPr>
          <p:cNvPr id="20" name="Text 17"/>
          <p:cNvSpPr/>
          <p:nvPr/>
        </p:nvSpPr>
        <p:spPr>
          <a:xfrm>
            <a:off x="5760720" y="2359152"/>
            <a:ext cx="914400" cy="457200"/>
          </a:xfrm>
          <a:prstGeom prst="rect">
            <a:avLst/>
          </a:prstGeom>
          <a:noFill/>
          <a:ln/>
        </p:spPr>
        <p:txBody>
          <a:bodyPr wrap="square" lIns="0" tIns="0" rIns="0" bIns="0" rtlCol="0" anchor="ctr"/>
          <a:lstStyle/>
          <a:p>
            <a:pPr indent="0" marL="0">
              <a:buNone/>
            </a:pPr>
            <a:r>
              <a:rPr lang="en-US" sz="1100" b="1" dirty="0">
                <a:solidFill>
                  <a:srgbClr val="2563EB"/>
                </a:solidFill>
                <a:latin typeface="Calibri" pitchFamily="34" charset="0"/>
                <a:ea typeface="Calibri" pitchFamily="34" charset="-122"/>
                <a:cs typeface="Calibri" pitchFamily="34" charset="-120"/>
              </a:rPr>
              <a:t>Ep 1→8</a:t>
            </a:r>
            <a:endParaRPr lang="en-US" sz="1100" dirty="0"/>
          </a:p>
        </p:txBody>
      </p:sp>
      <p:sp>
        <p:nvSpPr>
          <p:cNvPr id="21" name="Text 18"/>
          <p:cNvSpPr/>
          <p:nvPr/>
        </p:nvSpPr>
        <p:spPr>
          <a:xfrm>
            <a:off x="6675120" y="2359152"/>
            <a:ext cx="2194560" cy="45720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Val acc surged 89% → 97.6%</a:t>
            </a:r>
            <a:endParaRPr lang="en-US" sz="1050" dirty="0"/>
          </a:p>
        </p:txBody>
      </p:sp>
      <p:sp>
        <p:nvSpPr>
          <p:cNvPr id="22" name="Shape 19"/>
          <p:cNvSpPr/>
          <p:nvPr/>
        </p:nvSpPr>
        <p:spPr>
          <a:xfrm>
            <a:off x="5715000" y="2889504"/>
            <a:ext cx="3200400" cy="457200"/>
          </a:xfrm>
          <a:prstGeom prst="rect">
            <a:avLst/>
          </a:prstGeom>
          <a:solidFill>
            <a:srgbClr val="FFFFFF"/>
          </a:solidFill>
          <a:ln w="6350">
            <a:solidFill>
              <a:srgbClr val="E2E8F0"/>
            </a:solidFill>
            <a:prstDash val="solid"/>
          </a:ln>
        </p:spPr>
      </p:sp>
      <p:sp>
        <p:nvSpPr>
          <p:cNvPr id="23" name="Text 20"/>
          <p:cNvSpPr/>
          <p:nvPr/>
        </p:nvSpPr>
        <p:spPr>
          <a:xfrm>
            <a:off x="5760720" y="2889504"/>
            <a:ext cx="914400" cy="457200"/>
          </a:xfrm>
          <a:prstGeom prst="rect">
            <a:avLst/>
          </a:prstGeom>
          <a:noFill/>
          <a:ln/>
        </p:spPr>
        <p:txBody>
          <a:bodyPr wrap="square" lIns="0" tIns="0" rIns="0" bIns="0" rtlCol="0" anchor="ctr"/>
          <a:lstStyle/>
          <a:p>
            <a:pPr indent="0" marL="0">
              <a:buNone/>
            </a:pPr>
            <a:r>
              <a:rPr lang="en-US" sz="1100" b="1" dirty="0">
                <a:solidFill>
                  <a:srgbClr val="2563EB"/>
                </a:solidFill>
                <a:latin typeface="Calibri" pitchFamily="34" charset="0"/>
                <a:ea typeface="Calibri" pitchFamily="34" charset="-122"/>
                <a:cs typeface="Calibri" pitchFamily="34" charset="-120"/>
              </a:rPr>
              <a:t>Ep 18</a:t>
            </a:r>
            <a:endParaRPr lang="en-US" sz="1100" dirty="0"/>
          </a:p>
        </p:txBody>
      </p:sp>
      <p:sp>
        <p:nvSpPr>
          <p:cNvPr id="24" name="Text 21"/>
          <p:cNvSpPr/>
          <p:nvPr/>
        </p:nvSpPr>
        <p:spPr>
          <a:xfrm>
            <a:off x="6675120" y="2889504"/>
            <a:ext cx="2194560" cy="45720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Val hit 99.67% — near-perfect</a:t>
            </a:r>
            <a:endParaRPr lang="en-US" sz="1050" dirty="0"/>
          </a:p>
        </p:txBody>
      </p:sp>
      <p:sp>
        <p:nvSpPr>
          <p:cNvPr id="25" name="Shape 22"/>
          <p:cNvSpPr/>
          <p:nvPr/>
        </p:nvSpPr>
        <p:spPr>
          <a:xfrm>
            <a:off x="5715000" y="3419856"/>
            <a:ext cx="3200400" cy="457200"/>
          </a:xfrm>
          <a:prstGeom prst="rect">
            <a:avLst/>
          </a:prstGeom>
          <a:solidFill>
            <a:srgbClr val="EFF6FF"/>
          </a:solidFill>
          <a:ln w="6350">
            <a:solidFill>
              <a:srgbClr val="E2E8F0"/>
            </a:solidFill>
            <a:prstDash val="solid"/>
          </a:ln>
        </p:spPr>
      </p:sp>
      <p:sp>
        <p:nvSpPr>
          <p:cNvPr id="26" name="Text 23"/>
          <p:cNvSpPr/>
          <p:nvPr/>
        </p:nvSpPr>
        <p:spPr>
          <a:xfrm>
            <a:off x="5760720" y="3419856"/>
            <a:ext cx="914400" cy="457200"/>
          </a:xfrm>
          <a:prstGeom prst="rect">
            <a:avLst/>
          </a:prstGeom>
          <a:noFill/>
          <a:ln/>
        </p:spPr>
        <p:txBody>
          <a:bodyPr wrap="square" lIns="0" tIns="0" rIns="0" bIns="0" rtlCol="0" anchor="ctr"/>
          <a:lstStyle/>
          <a:p>
            <a:pPr indent="0" marL="0">
              <a:buNone/>
            </a:pPr>
            <a:r>
              <a:rPr lang="en-US" sz="1100" b="1" dirty="0">
                <a:solidFill>
                  <a:srgbClr val="2563EB"/>
                </a:solidFill>
                <a:latin typeface="Calibri" pitchFamily="34" charset="0"/>
                <a:ea typeface="Calibri" pitchFamily="34" charset="-122"/>
                <a:cs typeface="Calibri" pitchFamily="34" charset="-120"/>
              </a:rPr>
              <a:t>Ep 29</a:t>
            </a:r>
            <a:endParaRPr lang="en-US" sz="1100" dirty="0"/>
          </a:p>
        </p:txBody>
      </p:sp>
      <p:sp>
        <p:nvSpPr>
          <p:cNvPr id="27" name="Text 24"/>
          <p:cNvSpPr/>
          <p:nvPr/>
        </p:nvSpPr>
        <p:spPr>
          <a:xfrm>
            <a:off x="6675120" y="3419856"/>
            <a:ext cx="2194560" cy="45720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Best val acc: 99.93%</a:t>
            </a:r>
            <a:endParaRPr lang="en-US" sz="1050" dirty="0"/>
          </a:p>
        </p:txBody>
      </p:sp>
      <p:sp>
        <p:nvSpPr>
          <p:cNvPr id="28" name="Shape 25"/>
          <p:cNvSpPr/>
          <p:nvPr/>
        </p:nvSpPr>
        <p:spPr>
          <a:xfrm>
            <a:off x="5715000" y="3950208"/>
            <a:ext cx="3200400" cy="457200"/>
          </a:xfrm>
          <a:prstGeom prst="rect">
            <a:avLst/>
          </a:prstGeom>
          <a:solidFill>
            <a:srgbClr val="FFFFFF"/>
          </a:solidFill>
          <a:ln w="6350">
            <a:solidFill>
              <a:srgbClr val="E2E8F0"/>
            </a:solidFill>
            <a:prstDash val="solid"/>
          </a:ln>
        </p:spPr>
      </p:sp>
      <p:sp>
        <p:nvSpPr>
          <p:cNvPr id="29" name="Text 26"/>
          <p:cNvSpPr/>
          <p:nvPr/>
        </p:nvSpPr>
        <p:spPr>
          <a:xfrm>
            <a:off x="5760720" y="3950208"/>
            <a:ext cx="914400" cy="457200"/>
          </a:xfrm>
          <a:prstGeom prst="rect">
            <a:avLst/>
          </a:prstGeom>
          <a:noFill/>
          <a:ln/>
        </p:spPr>
        <p:txBody>
          <a:bodyPr wrap="square" lIns="0" tIns="0" rIns="0" bIns="0" rtlCol="0" anchor="ctr"/>
          <a:lstStyle/>
          <a:p>
            <a:pPr indent="0" marL="0">
              <a:buNone/>
            </a:pPr>
            <a:r>
              <a:rPr lang="en-US" sz="1100" b="1" dirty="0">
                <a:solidFill>
                  <a:srgbClr val="2563EB"/>
                </a:solidFill>
                <a:latin typeface="Calibri" pitchFamily="34" charset="0"/>
                <a:ea typeface="Calibri" pitchFamily="34" charset="-122"/>
                <a:cs typeface="Calibri" pitchFamily="34" charset="-120"/>
              </a:rPr>
              <a:t>Ep 39</a:t>
            </a:r>
            <a:endParaRPr lang="en-US" sz="1100" dirty="0"/>
          </a:p>
        </p:txBody>
      </p:sp>
      <p:sp>
        <p:nvSpPr>
          <p:cNvPr id="30" name="Text 27"/>
          <p:cNvSpPr/>
          <p:nvPr/>
        </p:nvSpPr>
        <p:spPr>
          <a:xfrm>
            <a:off x="6675120" y="3950208"/>
            <a:ext cx="2194560" cy="45720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Early stop — saved 41 epochs</a:t>
            </a:r>
            <a:endParaRPr lang="en-US" sz="1050" dirty="0"/>
          </a:p>
        </p:txBody>
      </p:sp>
      <p:sp>
        <p:nvSpPr>
          <p:cNvPr id="31" name="Shape 28"/>
          <p:cNvSpPr/>
          <p:nvPr/>
        </p:nvSpPr>
        <p:spPr>
          <a:xfrm>
            <a:off x="5715000" y="4480560"/>
            <a:ext cx="3200400" cy="457200"/>
          </a:xfrm>
          <a:prstGeom prst="rect">
            <a:avLst/>
          </a:prstGeom>
          <a:solidFill>
            <a:srgbClr val="EFF6FF"/>
          </a:solidFill>
          <a:ln w="6350">
            <a:solidFill>
              <a:srgbClr val="E2E8F0"/>
            </a:solidFill>
            <a:prstDash val="solid"/>
          </a:ln>
        </p:spPr>
      </p:sp>
      <p:sp>
        <p:nvSpPr>
          <p:cNvPr id="32" name="Text 29"/>
          <p:cNvSpPr/>
          <p:nvPr/>
        </p:nvSpPr>
        <p:spPr>
          <a:xfrm>
            <a:off x="5760720" y="4480560"/>
            <a:ext cx="914400" cy="457200"/>
          </a:xfrm>
          <a:prstGeom prst="rect">
            <a:avLst/>
          </a:prstGeom>
          <a:noFill/>
          <a:ln/>
        </p:spPr>
        <p:txBody>
          <a:bodyPr wrap="square" lIns="0" tIns="0" rIns="0" bIns="0" rtlCol="0" anchor="ctr"/>
          <a:lstStyle/>
          <a:p>
            <a:pPr indent="0" marL="0">
              <a:buNone/>
            </a:pPr>
            <a:r>
              <a:rPr lang="en-US" sz="1100" b="1" dirty="0">
                <a:solidFill>
                  <a:srgbClr val="2563EB"/>
                </a:solidFill>
                <a:latin typeface="Calibri" pitchFamily="34" charset="0"/>
                <a:ea typeface="Calibri" pitchFamily="34" charset="-122"/>
                <a:cs typeface="Calibri" pitchFamily="34" charset="-120"/>
              </a:rPr>
              <a:t>t=0.20</a:t>
            </a:r>
            <a:endParaRPr lang="en-US" sz="1100" dirty="0"/>
          </a:p>
        </p:txBody>
      </p:sp>
      <p:sp>
        <p:nvSpPr>
          <p:cNvPr id="33" name="Text 30"/>
          <p:cNvSpPr/>
          <p:nvPr/>
        </p:nvSpPr>
        <p:spPr>
          <a:xfrm>
            <a:off x="6675120" y="4480560"/>
            <a:ext cx="2194560" cy="45720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Threshold → 100% val accuracy</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6B6D4"/>
          </a:solidFill>
          <a:ln w="12700">
            <a:solidFill>
              <a:srgbClr val="06B6D4"/>
            </a:solidFill>
            <a:prstDash val="solid"/>
          </a:ln>
        </p:spPr>
      </p:sp>
      <p:sp>
        <p:nvSpPr>
          <p:cNvPr id="3" name="Shape 1"/>
          <p:cNvSpPr/>
          <p:nvPr/>
        </p:nvSpPr>
        <p:spPr>
          <a:xfrm>
            <a:off x="0" y="5079492"/>
            <a:ext cx="9144000" cy="64008"/>
          </a:xfrm>
          <a:prstGeom prst="rect">
            <a:avLst/>
          </a:prstGeom>
          <a:solidFill>
            <a:srgbClr val="2563EB"/>
          </a:solidFill>
          <a:ln w="12700">
            <a:solidFill>
              <a:srgbClr val="2563EB"/>
            </a:solidFill>
            <a:prstDash val="solid"/>
          </a:ln>
        </p:spPr>
      </p:sp>
      <p:sp>
        <p:nvSpPr>
          <p:cNvPr id="4" name="Text 2"/>
          <p:cNvSpPr/>
          <p:nvPr/>
        </p:nvSpPr>
        <p:spPr>
          <a:xfrm>
            <a:off x="457200" y="320040"/>
            <a:ext cx="8229600" cy="5029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Conclusion &amp; Future Work</a:t>
            </a:r>
            <a:endParaRPr lang="en-US" sz="2800" dirty="0"/>
          </a:p>
        </p:txBody>
      </p:sp>
      <p:sp>
        <p:nvSpPr>
          <p:cNvPr id="5" name="Shape 3"/>
          <p:cNvSpPr/>
          <p:nvPr/>
        </p:nvSpPr>
        <p:spPr>
          <a:xfrm>
            <a:off x="365760" y="960120"/>
            <a:ext cx="4069080" cy="3794760"/>
          </a:xfrm>
          <a:prstGeom prst="rect">
            <a:avLst/>
          </a:prstGeom>
          <a:solidFill>
            <a:srgbClr val="162249"/>
          </a:solidFill>
          <a:ln w="19050">
            <a:solidFill>
              <a:srgbClr val="06B6D4"/>
            </a:solidFill>
            <a:prstDash val="solid"/>
          </a:ln>
        </p:spPr>
      </p:sp>
      <p:sp>
        <p:nvSpPr>
          <p:cNvPr id="6" name="Text 4"/>
          <p:cNvSpPr/>
          <p:nvPr/>
        </p:nvSpPr>
        <p:spPr>
          <a:xfrm>
            <a:off x="530352" y="1078992"/>
            <a:ext cx="3749040" cy="384048"/>
          </a:xfrm>
          <a:prstGeom prst="rect">
            <a:avLst/>
          </a:prstGeom>
          <a:noFill/>
          <a:ln/>
        </p:spPr>
        <p:txBody>
          <a:bodyPr wrap="square" lIns="0" tIns="0" rIns="0" bIns="0" rtlCol="0" anchor="ctr"/>
          <a:lstStyle/>
          <a:p>
            <a:pPr indent="0" marL="0">
              <a:buNone/>
            </a:pPr>
            <a:r>
              <a:rPr lang="en-US" sz="1300" b="1" dirty="0">
                <a:solidFill>
                  <a:srgbClr val="06B6D4"/>
                </a:solidFill>
                <a:latin typeface="Calibri" pitchFamily="34" charset="0"/>
                <a:ea typeface="Calibri" pitchFamily="34" charset="-122"/>
                <a:cs typeface="Calibri" pitchFamily="34" charset="-120"/>
              </a:rPr>
              <a:t>✅  Takeaways</a:t>
            </a:r>
            <a:endParaRPr lang="en-US" sz="1300" dirty="0"/>
          </a:p>
        </p:txBody>
      </p:sp>
      <p:sp>
        <p:nvSpPr>
          <p:cNvPr id="7" name="Text 5"/>
          <p:cNvSpPr/>
          <p:nvPr/>
        </p:nvSpPr>
        <p:spPr>
          <a:xfrm>
            <a:off x="502920" y="1536192"/>
            <a:ext cx="3794760" cy="3108960"/>
          </a:xfrm>
          <a:prstGeom prst="rect">
            <a:avLst/>
          </a:prstGeom>
          <a:noFill/>
          <a:ln/>
        </p:spPr>
        <p:txBody>
          <a:bodyPr wrap="square" rtlCol="0" anchor="t"/>
          <a:lstStyle/>
          <a:p>
            <a:pPr marL="342900" indent="-342900">
              <a:buSzPct val="100000"/>
              <a:buChar char="•"/>
            </a:pPr>
            <a:r>
              <a:rPr lang="en-US" sz="1150" dirty="0">
                <a:solidFill>
                  <a:srgbClr val="F0F4FF"/>
                </a:solidFill>
                <a:latin typeface="Calibri" pitchFamily="34" charset="0"/>
                <a:ea typeface="Calibri" pitchFamily="34" charset="-122"/>
                <a:cs typeface="Calibri" pitchFamily="34" charset="-120"/>
              </a:rPr>
              <a:t>Peak validation accuracy: 99.93% at epoch 29</a:t>
            </a:r>
            <a:endParaRPr lang="en-US" sz="1150" dirty="0"/>
          </a:p>
          <a:p>
            <a:pPr marL="342900" indent="-342900">
              <a:buSzPct val="100000"/>
              <a:buChar char="•"/>
            </a:pPr>
            <a:r>
              <a:rPr lang="en-US" sz="1150" dirty="0">
                <a:solidFill>
                  <a:srgbClr val="F0F4FF"/>
                </a:solidFill>
                <a:latin typeface="Calibri" pitchFamily="34" charset="0"/>
                <a:ea typeface="Calibri" pitchFamily="34" charset="-122"/>
                <a:cs typeface="Calibri" pitchFamily="34" charset="-120"/>
              </a:rPr>
              <a:t>Early stopping triggered at epoch 39 — saving 41 epochs</a:t>
            </a:r>
            <a:endParaRPr lang="en-US" sz="1150" dirty="0"/>
          </a:p>
          <a:p>
            <a:pPr marL="342900" indent="-342900">
              <a:buSzPct val="100000"/>
              <a:buChar char="•"/>
            </a:pPr>
            <a:r>
              <a:rPr lang="en-US" sz="1150" dirty="0">
                <a:solidFill>
                  <a:srgbClr val="F0F4FF"/>
                </a:solidFill>
                <a:latin typeface="Calibri" pitchFamily="34" charset="0"/>
                <a:ea typeface="Calibri" pitchFamily="34" charset="-122"/>
                <a:cs typeface="Calibri" pitchFamily="34" charset="-120"/>
              </a:rPr>
              <a:t>Threshold t=0.200 yielded 100% val accuracy on search</a:t>
            </a:r>
            <a:endParaRPr lang="en-US" sz="1150" dirty="0"/>
          </a:p>
          <a:p>
            <a:pPr marL="342900" indent="-342900">
              <a:buSzPct val="100000"/>
              <a:buChar char="•"/>
            </a:pPr>
            <a:r>
              <a:rPr lang="en-US" sz="1150" dirty="0">
                <a:solidFill>
                  <a:srgbClr val="F0F4FF"/>
                </a:solidFill>
                <a:latin typeface="Calibri" pitchFamily="34" charset="0"/>
                <a:ea typeface="Calibri" pitchFamily="34" charset="-122"/>
                <a:cs typeface="Calibri" pitchFamily="34" charset="-120"/>
              </a:rPr>
              <a:t>Full dataset retraining converged to loss ~0.1587</a:t>
            </a:r>
            <a:endParaRPr lang="en-US" sz="1150" dirty="0"/>
          </a:p>
          <a:p>
            <a:pPr marL="342900" indent="-342900">
              <a:buSzPct val="100000"/>
              <a:buChar char="•"/>
            </a:pPr>
            <a:r>
              <a:rPr lang="en-US" sz="1150" dirty="0">
                <a:solidFill>
                  <a:srgbClr val="F0F4FF"/>
                </a:solidFill>
                <a:latin typeface="Calibri" pitchFamily="34" charset="0"/>
                <a:ea typeface="Calibri" pitchFamily="34" charset="-122"/>
                <a:cs typeface="Calibri" pitchFamily="34" charset="-120"/>
              </a:rPr>
              <a:t>5,010 test predictions exported to submission.csv</a:t>
            </a:r>
            <a:endParaRPr lang="en-US" sz="1150" dirty="0"/>
          </a:p>
        </p:txBody>
      </p:sp>
      <p:sp>
        <p:nvSpPr>
          <p:cNvPr id="8" name="Shape 6"/>
          <p:cNvSpPr/>
          <p:nvPr/>
        </p:nvSpPr>
        <p:spPr>
          <a:xfrm>
            <a:off x="4754880" y="960120"/>
            <a:ext cx="4069080" cy="3794760"/>
          </a:xfrm>
          <a:prstGeom prst="rect">
            <a:avLst/>
          </a:prstGeom>
          <a:solidFill>
            <a:srgbClr val="162249"/>
          </a:solidFill>
          <a:ln w="19050">
            <a:solidFill>
              <a:srgbClr val="F59E0B"/>
            </a:solidFill>
            <a:prstDash val="solid"/>
          </a:ln>
        </p:spPr>
      </p:sp>
      <p:sp>
        <p:nvSpPr>
          <p:cNvPr id="9" name="Text 7"/>
          <p:cNvSpPr/>
          <p:nvPr/>
        </p:nvSpPr>
        <p:spPr>
          <a:xfrm>
            <a:off x="4919472" y="1078992"/>
            <a:ext cx="3749040" cy="384048"/>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  Future Directions</a:t>
            </a:r>
            <a:endParaRPr lang="en-US" sz="1300" dirty="0"/>
          </a:p>
        </p:txBody>
      </p:sp>
      <p:sp>
        <p:nvSpPr>
          <p:cNvPr id="10" name="Text 8"/>
          <p:cNvSpPr/>
          <p:nvPr/>
        </p:nvSpPr>
        <p:spPr>
          <a:xfrm>
            <a:off x="4892040" y="1536192"/>
            <a:ext cx="3794760" cy="3108960"/>
          </a:xfrm>
          <a:prstGeom prst="rect">
            <a:avLst/>
          </a:prstGeom>
          <a:noFill/>
          <a:ln/>
        </p:spPr>
        <p:txBody>
          <a:bodyPr wrap="square" rtlCol="0" anchor="t"/>
          <a:lstStyle/>
          <a:p>
            <a:pPr marL="342900" indent="-342900">
              <a:buSzPct val="100000"/>
              <a:buChar char="•"/>
            </a:pPr>
            <a:r>
              <a:rPr lang="en-US" sz="1150" dirty="0">
                <a:solidFill>
                  <a:srgbClr val="F0F4FF"/>
                </a:solidFill>
                <a:latin typeface="Calibri" pitchFamily="34" charset="0"/>
                <a:ea typeface="Calibri" pitchFamily="34" charset="-122"/>
                <a:cs typeface="Calibri" pitchFamily="34" charset="-120"/>
              </a:rPr>
              <a:t>Test-time augmentation (TTA) enabled by flag</a:t>
            </a:r>
            <a:endParaRPr lang="en-US" sz="1150" dirty="0"/>
          </a:p>
          <a:p>
            <a:pPr marL="342900" indent="-342900">
              <a:buSzPct val="100000"/>
              <a:buChar char="•"/>
            </a:pPr>
            <a:r>
              <a:rPr lang="en-US" sz="1150" dirty="0">
                <a:solidFill>
                  <a:srgbClr val="F0F4FF"/>
                </a:solidFill>
                <a:latin typeface="Calibri" pitchFamily="34" charset="0"/>
                <a:ea typeface="Calibri" pitchFamily="34" charset="-122"/>
                <a:cs typeface="Calibri" pitchFamily="34" charset="-120"/>
              </a:rPr>
              <a:t>Pretrained backbone initialization (transfer learning)</a:t>
            </a:r>
            <a:endParaRPr lang="en-US" sz="1150" dirty="0"/>
          </a:p>
          <a:p>
            <a:pPr marL="342900" indent="-342900">
              <a:buSzPct val="100000"/>
              <a:buChar char="•"/>
            </a:pPr>
            <a:r>
              <a:rPr lang="en-US" sz="1150" dirty="0">
                <a:solidFill>
                  <a:srgbClr val="F0F4FF"/>
                </a:solidFill>
                <a:latin typeface="Calibri" pitchFamily="34" charset="0"/>
                <a:ea typeface="Calibri" pitchFamily="34" charset="-122"/>
                <a:cs typeface="Calibri" pitchFamily="34" charset="-120"/>
              </a:rPr>
              <a:t>EfficientNet / ConvNeXt backbone comparison</a:t>
            </a:r>
            <a:endParaRPr lang="en-US" sz="1150" dirty="0"/>
          </a:p>
          <a:p>
            <a:pPr marL="342900" indent="-342900">
              <a:buSzPct val="100000"/>
              <a:buChar char="•"/>
            </a:pPr>
            <a:r>
              <a:rPr lang="en-US" sz="1150" dirty="0">
                <a:solidFill>
                  <a:srgbClr val="F0F4FF"/>
                </a:solidFill>
                <a:latin typeface="Calibri" pitchFamily="34" charset="0"/>
                <a:ea typeface="Calibri" pitchFamily="34" charset="-122"/>
                <a:cs typeface="Calibri" pitchFamily="34" charset="-120"/>
              </a:rPr>
              <a:t>Self-supervised pretraining on unlabeled data</a:t>
            </a:r>
            <a:endParaRPr lang="en-US" sz="1150" dirty="0"/>
          </a:p>
          <a:p>
            <a:pPr marL="342900" indent="-342900">
              <a:buSzPct val="100000"/>
              <a:buChar char="•"/>
            </a:pPr>
            <a:r>
              <a:rPr lang="en-US" sz="1150" dirty="0">
                <a:solidFill>
                  <a:srgbClr val="F0F4FF"/>
                </a:solidFill>
                <a:latin typeface="Calibri" pitchFamily="34" charset="0"/>
                <a:ea typeface="Calibri" pitchFamily="34" charset="-122"/>
                <a:cs typeface="Calibri" pitchFamily="34" charset="-120"/>
              </a:rPr>
              <a:t>Ensemble multiple models for higher accuracy</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Binary Image Classification with CBAM-Enhanced ResNet</dc:title>
  <dc:subject>PptxGenJS Presentation</dc:subject>
  <dc:creator>PptxGenJS</dc:creator>
  <cp:lastModifiedBy>PptxGenJS</cp:lastModifiedBy>
  <cp:revision>1</cp:revision>
  <dcterms:created xsi:type="dcterms:W3CDTF">2026-04-20T06:04:59Z</dcterms:created>
  <dcterms:modified xsi:type="dcterms:W3CDTF">2026-04-20T06:04:59Z</dcterms:modified>
</cp:coreProperties>
</file>