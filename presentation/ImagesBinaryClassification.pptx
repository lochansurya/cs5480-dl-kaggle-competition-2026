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0000"/>
                </a:solidFill>
                <a:latin typeface="Arial"/>
              </a:defRPr>
            </a:pPr>
            <a:r>
              <a:rPr sz="1800" b="0" i="0" u="none" strike="noStrike">
                <a:solidFill>
                  <a:srgbClr val="000000"/>
                </a:solidFill>
                <a:latin typeface="Arial"/>
              </a:rPr>
              <a:t>Training &amp; Validation Accuracy — Full 80 Epochs</a:t>
            </a:r>
          </a:p>
        </c:rich>
      </c:tx>
      <c:layout/>
      <c:overlay val="0"/>
    </c:title>
    <c:autoTitleDeleted val="0"/>
    <c:plotArea>
      <c:layout/>
      <c:lineChart>
        <c:varyColors val="0"/>
        <c:ser>
          <c:idx val="0"/>
          <c:order val="0"/>
          <c:tx>
            <c:strRef>
              <c:f>Sheet1!$B$1</c:f>
              <c:strCache>
                <c:ptCount val="1"/>
                <c:pt idx="0">
                  <c:v>Train Accuracy</c:v>
                </c:pt>
              </c:strCache>
            </c:strRef>
          </c:tx>
          <c:spPr>
            <a:solidFill>
              <a:srgbClr val="2563EB"/>
            </a:solidFill>
            <a:ln w="31750" cap="flat">
              <a:solidFill>
                <a:srgbClr val="2563E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563EB"/>
              </a:solidFill>
              <a:ln w="9525" cap="flat">
                <a:solidFill>
                  <a:srgbClr val="2563EB"/>
                </a:solidFill>
                <a:prstDash val="solid"/>
                <a:round/>
              </a:ln>
              <a:effectLst/>
            </c:spPr>
          </c:marker>
          <c:cat>
            <c:multiLvlStrRef>
              <c:f>Sheet1!$A$2:$A$16</c:f>
              <c:multiLvlStrCache>
                <c:ptCount val="15"/>
                <c:lvl>
                  <c:pt idx="0">
                    <c:v>E1</c:v>
                  </c:pt>
                  <c:pt idx="1">
                    <c:v>E5</c:v>
                  </c:pt>
                  <c:pt idx="2">
                    <c:v>E10</c:v>
                  </c:pt>
                  <c:pt idx="3">
                    <c:v>E15</c:v>
                  </c:pt>
                  <c:pt idx="4">
                    <c:v>E20</c:v>
                  </c:pt>
                  <c:pt idx="5">
                    <c:v>E25</c:v>
                  </c:pt>
                  <c:pt idx="6">
                    <c:v>E30</c:v>
                  </c:pt>
                  <c:pt idx="7">
                    <c:v>E35</c:v>
                  </c:pt>
                  <c:pt idx="8">
                    <c:v>E40</c:v>
                  </c:pt>
                  <c:pt idx="9">
                    <c:v>E45</c:v>
                  </c:pt>
                  <c:pt idx="10">
                    <c:v>E50</c:v>
                  </c:pt>
                  <c:pt idx="11">
                    <c:v>E55</c:v>
                  </c:pt>
                  <c:pt idx="12">
                    <c:v>E60</c:v>
                  </c:pt>
                  <c:pt idx="13">
                    <c:v>E70</c:v>
                  </c:pt>
                  <c:pt idx="14">
                    <c:v>E80</c:v>
                  </c:pt>
                </c:lvl>
              </c:multiLvlStrCache>
            </c:multiLvlStrRef>
          </c:cat>
          <c:val>
            <c:numRef>
              <c:f>Sheet1!$B$2:$B$16</c:f>
              <c:numCache>
                <c:formatCode>General</c:formatCode>
                <c:ptCount val="15"/>
                <c:pt idx="0">
                  <c:v>0.8015</c:v>
                </c:pt>
                <c:pt idx="1">
                  <c:v>0.94</c:v>
                </c:pt>
                <c:pt idx="2">
                  <c:v>0.9578</c:v>
                </c:pt>
                <c:pt idx="3">
                  <c:v>0.9712</c:v>
                </c:pt>
                <c:pt idx="4">
                  <c:v>0.9801</c:v>
                </c:pt>
                <c:pt idx="5">
                  <c:v>0.9829</c:v>
                </c:pt>
                <c:pt idx="6">
                  <c:v>0.9892</c:v>
                </c:pt>
                <c:pt idx="7">
                  <c:v>0.9921</c:v>
                </c:pt>
                <c:pt idx="8">
                  <c:v>0.9954</c:v>
                </c:pt>
                <c:pt idx="9">
                  <c:v>0.997</c:v>
                </c:pt>
                <c:pt idx="10">
                  <c:v>0.9979</c:v>
                </c:pt>
                <c:pt idx="11">
                  <c:v>0.9985</c:v>
                </c:pt>
                <c:pt idx="12">
                  <c:v>0.9988</c:v>
                </c:pt>
                <c:pt idx="13">
                  <c:v>0.9993</c:v>
                </c:pt>
                <c:pt idx="14">
                  <c:v>0.9993</c:v>
                </c:pt>
              </c:numCache>
            </c:numRef>
          </c:val>
          <c:smooth val="1"/>
        </c:ser>
        <c:ser>
          <c:idx val="1"/>
          <c:order val="1"/>
          <c:tx>
            <c:strRef>
              <c:f>Sheet1!$C$1</c:f>
              <c:strCache>
                <c:ptCount val="1"/>
                <c:pt idx="0">
                  <c:v>Val Accuracy</c:v>
                </c:pt>
              </c:strCache>
            </c:strRef>
          </c:tx>
          <c:spPr>
            <a:solidFill>
              <a:srgbClr val="F59E0B"/>
            </a:solidFill>
            <a:ln w="31750" cap="flat">
              <a:solidFill>
                <a:srgbClr val="F59E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9E0B"/>
              </a:solidFill>
              <a:ln w="9525" cap="flat">
                <a:solidFill>
                  <a:srgbClr val="F59E0B"/>
                </a:solidFill>
                <a:prstDash val="solid"/>
                <a:round/>
              </a:ln>
              <a:effectLst/>
            </c:spPr>
          </c:marker>
          <c:cat>
            <c:multiLvlStrRef>
              <c:f>Sheet1!$A$2:$A$16</c:f>
              <c:multiLvlStrCache>
                <c:ptCount val="15"/>
                <c:lvl>
                  <c:pt idx="0">
                    <c:v>E1</c:v>
                  </c:pt>
                  <c:pt idx="1">
                    <c:v>E5</c:v>
                  </c:pt>
                  <c:pt idx="2">
                    <c:v>E10</c:v>
                  </c:pt>
                  <c:pt idx="3">
                    <c:v>E15</c:v>
                  </c:pt>
                  <c:pt idx="4">
                    <c:v>E20</c:v>
                  </c:pt>
                  <c:pt idx="5">
                    <c:v>E25</c:v>
                  </c:pt>
                  <c:pt idx="6">
                    <c:v>E30</c:v>
                  </c:pt>
                  <c:pt idx="7">
                    <c:v>E35</c:v>
                  </c:pt>
                  <c:pt idx="8">
                    <c:v>E40</c:v>
                  </c:pt>
                  <c:pt idx="9">
                    <c:v>E45</c:v>
                  </c:pt>
                  <c:pt idx="10">
                    <c:v>E50</c:v>
                  </c:pt>
                  <c:pt idx="11">
                    <c:v>E55</c:v>
                  </c:pt>
                  <c:pt idx="12">
                    <c:v>E60</c:v>
                  </c:pt>
                  <c:pt idx="13">
                    <c:v>E70</c:v>
                  </c:pt>
                  <c:pt idx="14">
                    <c:v>E80</c:v>
                  </c:pt>
                </c:lvl>
              </c:multiLvlStrCache>
            </c:multiLvlStrRef>
          </c:cat>
          <c:val>
            <c:numRef>
              <c:f>Sheet1!$C$2:$C$16</c:f>
              <c:numCache>
                <c:formatCode>General</c:formatCode>
                <c:ptCount val="15"/>
                <c:pt idx="0">
                  <c:v>0.9119</c:v>
                </c:pt>
                <c:pt idx="1">
                  <c:v>0.9237</c:v>
                </c:pt>
                <c:pt idx="2">
                  <c:v>0.9711</c:v>
                </c:pt>
                <c:pt idx="3">
                  <c:v>0.9774</c:v>
                </c:pt>
                <c:pt idx="4">
                  <c:v>0.9652</c:v>
                </c:pt>
                <c:pt idx="5">
                  <c:v>0.9911</c:v>
                </c:pt>
                <c:pt idx="6">
                  <c:v>0.987</c:v>
                </c:pt>
                <c:pt idx="7">
                  <c:v>0.9933</c:v>
                </c:pt>
                <c:pt idx="8">
                  <c:v>0.99</c:v>
                </c:pt>
                <c:pt idx="9">
                  <c:v>0.9985</c:v>
                </c:pt>
                <c:pt idx="10">
                  <c:v>0.9993</c:v>
                </c:pt>
                <c:pt idx="11">
                  <c:v>1</c:v>
                </c:pt>
                <c:pt idx="12">
                  <c:v>0.9996</c:v>
                </c:pt>
                <c:pt idx="13">
                  <c:v>1</c:v>
                </c:pt>
                <c:pt idx="14">
                  <c:v>1</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1.01"/>
          <c:min val="0.88"/>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6858000" y="-731520"/>
            <a:ext cx="3200400" cy="3200400"/>
          </a:xfrm>
          <a:prstGeom prst="ellipse">
            <a:avLst/>
          </a:prstGeom>
          <a:solidFill>
            <a:srgbClr val="0891B2">
              <a:alpha val="20000"/>
            </a:srgbClr>
          </a:solidFill>
          <a:ln w="12700">
            <a:solidFill>
              <a:srgbClr val="0891B2">
                <a:alpha val="20000"/>
              </a:srgbClr>
            </a:solidFill>
            <a:prstDash val="solid"/>
          </a:ln>
        </p:spPr>
      </p:sp>
      <p:sp>
        <p:nvSpPr>
          <p:cNvPr id="3" name="Shape 1"/>
          <p:cNvSpPr/>
          <p:nvPr/>
        </p:nvSpPr>
        <p:spPr>
          <a:xfrm>
            <a:off x="-731520" y="2926080"/>
            <a:ext cx="2560320" cy="2560320"/>
          </a:xfrm>
          <a:prstGeom prst="ellipse">
            <a:avLst/>
          </a:prstGeom>
          <a:solidFill>
            <a:srgbClr val="2563EB">
              <a:alpha val="15000"/>
            </a:srgbClr>
          </a:solidFill>
          <a:ln w="12700">
            <a:solidFill>
              <a:srgbClr val="2563EB">
                <a:alpha val="15000"/>
              </a:srgbClr>
            </a:solidFill>
            <a:prstDash val="solid"/>
          </a:ln>
        </p:spPr>
      </p:sp>
      <p:sp>
        <p:nvSpPr>
          <p:cNvPr id="4" name="Shape 2"/>
          <p:cNvSpPr/>
          <p:nvPr/>
        </p:nvSpPr>
        <p:spPr>
          <a:xfrm>
            <a:off x="0" y="0"/>
            <a:ext cx="9144000" cy="64008"/>
          </a:xfrm>
          <a:prstGeom prst="rect">
            <a:avLst/>
          </a:prstGeom>
          <a:solidFill>
            <a:srgbClr val="06B6D4"/>
          </a:solidFill>
          <a:ln w="12700">
            <a:solidFill>
              <a:srgbClr val="06B6D4"/>
            </a:solidFill>
            <a:prstDash val="solid"/>
          </a:ln>
        </p:spPr>
      </p:sp>
      <p:sp>
        <p:nvSpPr>
          <p:cNvPr id="5" name="Shape 3"/>
          <p:cNvSpPr/>
          <p:nvPr/>
        </p:nvSpPr>
        <p:spPr>
          <a:xfrm>
            <a:off x="0" y="5079492"/>
            <a:ext cx="9144000" cy="64008"/>
          </a:xfrm>
          <a:prstGeom prst="rect">
            <a:avLst/>
          </a:prstGeom>
          <a:solidFill>
            <a:srgbClr val="2563EB"/>
          </a:solidFill>
          <a:ln w="12700">
            <a:solidFill>
              <a:srgbClr val="2563EB"/>
            </a:solidFill>
            <a:prstDash val="solid"/>
          </a:ln>
        </p:spPr>
      </p:sp>
      <p:sp>
        <p:nvSpPr>
          <p:cNvPr id="6" name="Text 4"/>
          <p:cNvSpPr/>
          <p:nvPr/>
        </p:nvSpPr>
        <p:spPr>
          <a:xfrm>
            <a:off x="457200" y="685800"/>
            <a:ext cx="8229600" cy="685800"/>
          </a:xfrm>
          <a:prstGeom prst="rect">
            <a:avLst/>
          </a:prstGeom>
          <a:noFill/>
          <a:ln/>
        </p:spPr>
        <p:txBody>
          <a:bodyPr wrap="square" lIns="0" tIns="0" rIns="0" bIns="0" rtlCol="0" anchor="ctr"/>
          <a:lstStyle/>
          <a:p>
            <a:pPr algn="ctr" indent="0" marL="0">
              <a:buNone/>
            </a:pPr>
            <a:r>
              <a:rPr lang="en-US" sz="1400" b="1" dirty="0">
                <a:solidFill>
                  <a:srgbClr val="06B6D4"/>
                </a:solidFill>
                <a:latin typeface="Calibri" pitchFamily="34" charset="0"/>
                <a:ea typeface="Calibri" pitchFamily="34" charset="-122"/>
                <a:cs typeface="Calibri" pitchFamily="34" charset="-120"/>
              </a:rPr>
              <a:t>Binary Image Classification</a:t>
            </a:r>
            <a:endParaRPr lang="en-US" sz="1400" dirty="0"/>
          </a:p>
        </p:txBody>
      </p:sp>
      <p:sp>
        <p:nvSpPr>
          <p:cNvPr id="7" name="Text 5"/>
          <p:cNvSpPr/>
          <p:nvPr/>
        </p:nvSpPr>
        <p:spPr>
          <a:xfrm>
            <a:off x="457200" y="1298448"/>
            <a:ext cx="8229600" cy="1463040"/>
          </a:xfrm>
          <a:prstGeom prst="rect">
            <a:avLst/>
          </a:prstGeom>
          <a:noFill/>
          <a:ln/>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CBAM-Enhanced ResNet</a:t>
            </a:r>
            <a:endParaRPr lang="en-US" sz="3800" dirty="0"/>
          </a:p>
          <a:p>
            <a:pPr algn="ctr" indent="0" marL="0">
              <a:buNone/>
            </a:pPr>
            <a:r>
              <a:rPr lang="en-US" sz="3800" b="1" dirty="0">
                <a:solidFill>
                  <a:srgbClr val="FFFFFF"/>
                </a:solidFill>
                <a:latin typeface="Calibri" pitchFamily="34" charset="0"/>
                <a:ea typeface="Calibri" pitchFamily="34" charset="-122"/>
                <a:cs typeface="Calibri" pitchFamily="34" charset="-120"/>
              </a:rPr>
              <a:t>with GeM Pooling</a:t>
            </a:r>
            <a:endParaRPr lang="en-US" sz="3800" dirty="0"/>
          </a:p>
        </p:txBody>
      </p:sp>
      <p:sp>
        <p:nvSpPr>
          <p:cNvPr id="8" name="Text 6"/>
          <p:cNvSpPr/>
          <p:nvPr/>
        </p:nvSpPr>
        <p:spPr>
          <a:xfrm>
            <a:off x="731520" y="2834640"/>
            <a:ext cx="7680960" cy="777240"/>
          </a:xfrm>
          <a:prstGeom prst="rect">
            <a:avLst/>
          </a:prstGeom>
          <a:noFill/>
          <a:ln/>
        </p:spPr>
        <p:txBody>
          <a:bodyPr wrap="square" lIns="0" tIns="0" rIns="0" bIns="0" rtlCol="0" anchor="ctr"/>
          <a:lstStyle/>
          <a:p>
            <a:pPr algn="ctr" indent="0" marL="0">
              <a:buNone/>
            </a:pPr>
            <a:r>
              <a:rPr lang="en-US" sz="1300" dirty="0">
                <a:solidFill>
                  <a:srgbClr val="94A3B8"/>
                </a:solidFill>
                <a:latin typeface="Calibri" pitchFamily="34" charset="0"/>
                <a:ea typeface="Calibri" pitchFamily="34" charset="-122"/>
                <a:cs typeface="Calibri" pitchFamily="34" charset="-120"/>
              </a:rPr>
              <a:t>A deep learning pipeline for binary medical / general image classification</a:t>
            </a:r>
            <a:endParaRPr lang="en-US" sz="1300" dirty="0"/>
          </a:p>
          <a:p>
            <a:pPr algn="ctr" indent="0" marL="0">
              <a:buNone/>
            </a:pPr>
            <a:r>
              <a:rPr lang="en-US" sz="1300" dirty="0">
                <a:solidFill>
                  <a:srgbClr val="94A3B8"/>
                </a:solidFill>
                <a:latin typeface="Calibri" pitchFamily="34" charset="0"/>
                <a:ea typeface="Calibri" pitchFamily="34" charset="-122"/>
                <a:cs typeface="Calibri" pitchFamily="34" charset="-120"/>
              </a:rPr>
              <a:t>featuring attention mechanisms, adaptive pooling &amp; robust training strategies</a:t>
            </a:r>
            <a:endParaRPr lang="en-US" sz="1300" dirty="0"/>
          </a:p>
        </p:txBody>
      </p:sp>
      <p:sp>
        <p:nvSpPr>
          <p:cNvPr id="9" name="Shape 7"/>
          <p:cNvSpPr/>
          <p:nvPr/>
        </p:nvSpPr>
        <p:spPr>
          <a:xfrm>
            <a:off x="868680" y="3794760"/>
            <a:ext cx="1371600" cy="347472"/>
          </a:xfrm>
          <a:prstGeom prst="roundRect">
            <a:avLst>
              <a:gd name="adj" fmla="val 15789"/>
            </a:avLst>
          </a:prstGeom>
          <a:solidFill>
            <a:srgbClr val="162249"/>
          </a:solidFill>
          <a:ln w="12700">
            <a:solidFill>
              <a:srgbClr val="2563EB"/>
            </a:solidFill>
            <a:prstDash val="solid"/>
          </a:ln>
        </p:spPr>
      </p:sp>
      <p:sp>
        <p:nvSpPr>
          <p:cNvPr id="10" name="Text 8"/>
          <p:cNvSpPr/>
          <p:nvPr/>
        </p:nvSpPr>
        <p:spPr>
          <a:xfrm>
            <a:off x="868680" y="3794760"/>
            <a:ext cx="1371600" cy="347472"/>
          </a:xfrm>
          <a:prstGeom prst="rect">
            <a:avLst/>
          </a:prstGeom>
          <a:noFill/>
          <a:ln/>
        </p:spPr>
        <p:txBody>
          <a:bodyPr wrap="square" lIns="0" tIns="0" rIns="0" bIns="0" rtlCol="0" anchor="ctr"/>
          <a:lstStyle/>
          <a:p>
            <a:pPr algn="ctr" indent="0" marL="0">
              <a:buNone/>
            </a:pPr>
            <a:r>
              <a:rPr lang="en-US" sz="900" b="1" dirty="0">
                <a:solidFill>
                  <a:srgbClr val="06B6D4"/>
                </a:solidFill>
                <a:latin typeface="Calibri" pitchFamily="34" charset="0"/>
                <a:ea typeface="Calibri" pitchFamily="34" charset="-122"/>
                <a:cs typeface="Calibri" pitchFamily="34" charset="-120"/>
              </a:rPr>
              <a:t>PyTorch</a:t>
            </a:r>
            <a:endParaRPr lang="en-US" sz="900" dirty="0"/>
          </a:p>
        </p:txBody>
      </p:sp>
      <p:sp>
        <p:nvSpPr>
          <p:cNvPr id="11" name="Shape 9"/>
          <p:cNvSpPr/>
          <p:nvPr/>
        </p:nvSpPr>
        <p:spPr>
          <a:xfrm>
            <a:off x="2377440" y="3794760"/>
            <a:ext cx="1371600" cy="347472"/>
          </a:xfrm>
          <a:prstGeom prst="roundRect">
            <a:avLst>
              <a:gd name="adj" fmla="val 15789"/>
            </a:avLst>
          </a:prstGeom>
          <a:solidFill>
            <a:srgbClr val="162249"/>
          </a:solidFill>
          <a:ln w="12700">
            <a:solidFill>
              <a:srgbClr val="2563EB"/>
            </a:solidFill>
            <a:prstDash val="solid"/>
          </a:ln>
        </p:spPr>
      </p:sp>
      <p:sp>
        <p:nvSpPr>
          <p:cNvPr id="12" name="Text 10"/>
          <p:cNvSpPr/>
          <p:nvPr/>
        </p:nvSpPr>
        <p:spPr>
          <a:xfrm>
            <a:off x="2377440" y="3794760"/>
            <a:ext cx="1371600" cy="347472"/>
          </a:xfrm>
          <a:prstGeom prst="rect">
            <a:avLst/>
          </a:prstGeom>
          <a:noFill/>
          <a:ln/>
        </p:spPr>
        <p:txBody>
          <a:bodyPr wrap="square" lIns="0" tIns="0" rIns="0" bIns="0" rtlCol="0" anchor="ctr"/>
          <a:lstStyle/>
          <a:p>
            <a:pPr algn="ctr" indent="0" marL="0">
              <a:buNone/>
            </a:pPr>
            <a:r>
              <a:rPr lang="en-US" sz="900" b="1" dirty="0">
                <a:solidFill>
                  <a:srgbClr val="06B6D4"/>
                </a:solidFill>
                <a:latin typeface="Calibri" pitchFamily="34" charset="0"/>
                <a:ea typeface="Calibri" pitchFamily="34" charset="-122"/>
                <a:cs typeface="Calibri" pitchFamily="34" charset="-120"/>
              </a:rPr>
              <a:t>CBAM Attention</a:t>
            </a:r>
            <a:endParaRPr lang="en-US" sz="900" dirty="0"/>
          </a:p>
        </p:txBody>
      </p:sp>
      <p:sp>
        <p:nvSpPr>
          <p:cNvPr id="13" name="Shape 11"/>
          <p:cNvSpPr/>
          <p:nvPr/>
        </p:nvSpPr>
        <p:spPr>
          <a:xfrm>
            <a:off x="3886200" y="3794760"/>
            <a:ext cx="1371600" cy="347472"/>
          </a:xfrm>
          <a:prstGeom prst="roundRect">
            <a:avLst>
              <a:gd name="adj" fmla="val 15789"/>
            </a:avLst>
          </a:prstGeom>
          <a:solidFill>
            <a:srgbClr val="162249"/>
          </a:solidFill>
          <a:ln w="12700">
            <a:solidFill>
              <a:srgbClr val="2563EB"/>
            </a:solidFill>
            <a:prstDash val="solid"/>
          </a:ln>
        </p:spPr>
      </p:sp>
      <p:sp>
        <p:nvSpPr>
          <p:cNvPr id="14" name="Text 12"/>
          <p:cNvSpPr/>
          <p:nvPr/>
        </p:nvSpPr>
        <p:spPr>
          <a:xfrm>
            <a:off x="3886200" y="3794760"/>
            <a:ext cx="1371600" cy="347472"/>
          </a:xfrm>
          <a:prstGeom prst="rect">
            <a:avLst/>
          </a:prstGeom>
          <a:noFill/>
          <a:ln/>
        </p:spPr>
        <p:txBody>
          <a:bodyPr wrap="square" lIns="0" tIns="0" rIns="0" bIns="0" rtlCol="0" anchor="ctr"/>
          <a:lstStyle/>
          <a:p>
            <a:pPr algn="ctr" indent="0" marL="0">
              <a:buNone/>
            </a:pPr>
            <a:r>
              <a:rPr lang="en-US" sz="900" b="1" dirty="0">
                <a:solidFill>
                  <a:srgbClr val="06B6D4"/>
                </a:solidFill>
                <a:latin typeface="Calibri" pitchFamily="34" charset="0"/>
                <a:ea typeface="Calibri" pitchFamily="34" charset="-122"/>
                <a:cs typeface="Calibri" pitchFamily="34" charset="-120"/>
              </a:rPr>
              <a:t>GeM Pooling</a:t>
            </a:r>
            <a:endParaRPr lang="en-US" sz="900" dirty="0"/>
          </a:p>
        </p:txBody>
      </p:sp>
      <p:sp>
        <p:nvSpPr>
          <p:cNvPr id="15" name="Shape 13"/>
          <p:cNvSpPr/>
          <p:nvPr/>
        </p:nvSpPr>
        <p:spPr>
          <a:xfrm>
            <a:off x="5394960" y="3794760"/>
            <a:ext cx="1371600" cy="347472"/>
          </a:xfrm>
          <a:prstGeom prst="roundRect">
            <a:avLst>
              <a:gd name="adj" fmla="val 15789"/>
            </a:avLst>
          </a:prstGeom>
          <a:solidFill>
            <a:srgbClr val="162249"/>
          </a:solidFill>
          <a:ln w="12700">
            <a:solidFill>
              <a:srgbClr val="2563EB"/>
            </a:solidFill>
            <a:prstDash val="solid"/>
          </a:ln>
        </p:spPr>
      </p:sp>
      <p:sp>
        <p:nvSpPr>
          <p:cNvPr id="16" name="Text 14"/>
          <p:cNvSpPr/>
          <p:nvPr/>
        </p:nvSpPr>
        <p:spPr>
          <a:xfrm>
            <a:off x="5394960" y="3794760"/>
            <a:ext cx="1371600" cy="347472"/>
          </a:xfrm>
          <a:prstGeom prst="rect">
            <a:avLst/>
          </a:prstGeom>
          <a:noFill/>
          <a:ln/>
        </p:spPr>
        <p:txBody>
          <a:bodyPr wrap="square" lIns="0" tIns="0" rIns="0" bIns="0" rtlCol="0" anchor="ctr"/>
          <a:lstStyle/>
          <a:p>
            <a:pPr algn="ctr" indent="0" marL="0">
              <a:buNone/>
            </a:pPr>
            <a:r>
              <a:rPr lang="en-US" sz="900" b="1" dirty="0">
                <a:solidFill>
                  <a:srgbClr val="06B6D4"/>
                </a:solidFill>
                <a:latin typeface="Calibri" pitchFamily="34" charset="0"/>
                <a:ea typeface="Calibri" pitchFamily="34" charset="-122"/>
                <a:cs typeface="Calibri" pitchFamily="34" charset="-120"/>
              </a:rPr>
              <a:t>AdamW + Cosine LR</a:t>
            </a:r>
            <a:endParaRPr lang="en-US" sz="900" dirty="0"/>
          </a:p>
        </p:txBody>
      </p:sp>
      <p:sp>
        <p:nvSpPr>
          <p:cNvPr id="17" name="Shape 15"/>
          <p:cNvSpPr/>
          <p:nvPr/>
        </p:nvSpPr>
        <p:spPr>
          <a:xfrm>
            <a:off x="6903720" y="3794760"/>
            <a:ext cx="1371600" cy="347472"/>
          </a:xfrm>
          <a:prstGeom prst="roundRect">
            <a:avLst>
              <a:gd name="adj" fmla="val 15789"/>
            </a:avLst>
          </a:prstGeom>
          <a:solidFill>
            <a:srgbClr val="162249"/>
          </a:solidFill>
          <a:ln w="12700">
            <a:solidFill>
              <a:srgbClr val="2563EB"/>
            </a:solidFill>
            <a:prstDash val="solid"/>
          </a:ln>
        </p:spPr>
      </p:sp>
      <p:sp>
        <p:nvSpPr>
          <p:cNvPr id="18" name="Text 16"/>
          <p:cNvSpPr/>
          <p:nvPr/>
        </p:nvSpPr>
        <p:spPr>
          <a:xfrm>
            <a:off x="6903720" y="3794760"/>
            <a:ext cx="1371600" cy="347472"/>
          </a:xfrm>
          <a:prstGeom prst="rect">
            <a:avLst/>
          </a:prstGeom>
          <a:noFill/>
          <a:ln/>
        </p:spPr>
        <p:txBody>
          <a:bodyPr wrap="square" lIns="0" tIns="0" rIns="0" bIns="0" rtlCol="0" anchor="ctr"/>
          <a:lstStyle/>
          <a:p>
            <a:pPr algn="ctr" indent="0" marL="0">
              <a:buNone/>
            </a:pPr>
            <a:r>
              <a:rPr lang="en-US" sz="900" b="1" dirty="0">
                <a:solidFill>
                  <a:srgbClr val="06B6D4"/>
                </a:solidFill>
                <a:latin typeface="Calibri" pitchFamily="34" charset="0"/>
                <a:ea typeface="Calibri" pitchFamily="34" charset="-122"/>
                <a:cs typeface="Calibri" pitchFamily="34" charset="-120"/>
              </a:rPr>
              <a:t>Stochastic Depth</a:t>
            </a:r>
            <a:endParaRPr lang="en-US" sz="900" dirty="0"/>
          </a:p>
        </p:txBody>
      </p:sp>
      <p:sp>
        <p:nvSpPr>
          <p:cNvPr id="19" name="Text 17"/>
          <p:cNvSpPr/>
          <p:nvPr/>
        </p:nvSpPr>
        <p:spPr>
          <a:xfrm>
            <a:off x="457200" y="4480560"/>
            <a:ext cx="8229600" cy="32004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Deep Learning Research  ·  2024</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Abstract</a:t>
            </a:r>
            <a:endParaRPr lang="en-US" sz="2200" dirty="0"/>
          </a:p>
        </p:txBody>
      </p:sp>
      <p:sp>
        <p:nvSpPr>
          <p:cNvPr id="5" name="Text 3"/>
          <p:cNvSpPr/>
          <p:nvPr/>
        </p:nvSpPr>
        <p:spPr>
          <a:xfrm>
            <a:off x="228600" y="749808"/>
            <a:ext cx="4754880" cy="347472"/>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Overview</a:t>
            </a:r>
            <a:endParaRPr lang="en-US" sz="1500" dirty="0"/>
          </a:p>
        </p:txBody>
      </p:sp>
      <p:sp>
        <p:nvSpPr>
          <p:cNvPr id="6" name="Text 4"/>
          <p:cNvSpPr/>
          <p:nvPr/>
        </p:nvSpPr>
        <p:spPr>
          <a:xfrm>
            <a:off x="228600" y="1115568"/>
            <a:ext cx="4663440" cy="347472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We present a custom deep convolutional neural network for binary image classification, built from scratch in PyTorch.</a:t>
            </a:r>
            <a:endParaRPr lang="en-US" sz="1250" dirty="0"/>
          </a:p>
          <a:p>
            <a:pPr indent="0" marL="0">
              <a:buNone/>
            </a:pPr>
            <a:r>
              <a:rPr lang="en-US" sz="1250" dirty="0">
                <a:solidFill>
                  <a:srgbClr val="0F172A"/>
                </a:solidFill>
                <a:latin typeface="Calibri" pitchFamily="34" charset="0"/>
                <a:ea typeface="Calibri" pitchFamily="34" charset="-122"/>
                <a:cs typeface="Calibri" pitchFamily="34" charset="-120"/>
              </a:rPr>
              <a:t> </a:t>
            </a:r>
            <a:endParaRPr lang="en-US" sz="1250" dirty="0"/>
          </a:p>
          <a:p>
            <a:pPr indent="0" marL="0">
              <a:buNone/>
            </a:pPr>
            <a:r>
              <a:rPr lang="en-US" sz="1250" dirty="0">
                <a:solidFill>
                  <a:srgbClr val="0F172A"/>
                </a:solidFill>
                <a:latin typeface="Calibri" pitchFamily="34" charset="0"/>
                <a:ea typeface="Calibri" pitchFamily="34" charset="-122"/>
                <a:cs typeface="Calibri" pitchFamily="34" charset="-120"/>
              </a:rPr>
              <a:t>The architecture integrates </a:t>
            </a:r>
            <a:pPr indent="0" marL="0">
              <a:buNone/>
            </a:pPr>
            <a:r>
              <a:rPr lang="en-US" sz="1250" b="1" dirty="0">
                <a:solidFill>
                  <a:srgbClr val="2563EB"/>
                </a:solidFill>
                <a:latin typeface="Calibri" pitchFamily="34" charset="0"/>
                <a:ea typeface="Calibri" pitchFamily="34" charset="-122"/>
                <a:cs typeface="Calibri" pitchFamily="34" charset="-120"/>
              </a:rPr>
              <a:t>Convolutional Block Attention Modules (CBAM)</a:t>
            </a:r>
            <a:pPr indent="0" marL="0">
              <a:buNone/>
            </a:pPr>
            <a:r>
              <a:rPr lang="en-US" sz="1250" dirty="0">
                <a:solidFill>
                  <a:srgbClr val="0F172A"/>
                </a:solidFill>
                <a:latin typeface="Calibri" pitchFamily="34" charset="0"/>
                <a:ea typeface="Calibri" pitchFamily="34" charset="-122"/>
                <a:cs typeface="Calibri" pitchFamily="34" charset="-120"/>
              </a:rPr>
              <a:t> at every residual block, enabling the model to selectively focus on informative channels and spatial regions.</a:t>
            </a:r>
            <a:endParaRPr lang="en-US" sz="1250" dirty="0"/>
          </a:p>
          <a:p>
            <a:pPr indent="0" marL="0">
              <a:buNone/>
            </a:pPr>
            <a:r>
              <a:rPr lang="en-US" sz="1250" dirty="0">
                <a:solidFill>
                  <a:srgbClr val="0F172A"/>
                </a:solidFill>
                <a:latin typeface="Calibri" pitchFamily="34" charset="0"/>
                <a:ea typeface="Calibri" pitchFamily="34" charset="-122"/>
                <a:cs typeface="Calibri" pitchFamily="34" charset="-120"/>
              </a:rPr>
              <a:t> </a:t>
            </a:r>
            <a:endParaRPr lang="en-US" sz="1250" dirty="0"/>
          </a:p>
          <a:p>
            <a:pPr indent="0" marL="0">
              <a:buNone/>
            </a:pPr>
            <a:r>
              <a:rPr lang="en-US" sz="1250" b="1" dirty="0">
                <a:solidFill>
                  <a:srgbClr val="0891B2"/>
                </a:solidFill>
                <a:latin typeface="Calibri" pitchFamily="34" charset="0"/>
                <a:ea typeface="Calibri" pitchFamily="34" charset="-122"/>
                <a:cs typeface="Calibri" pitchFamily="34" charset="-120"/>
              </a:rPr>
              <a:t>Generalized Mean (GeM) Pooling</a:t>
            </a:r>
            <a:pPr indent="0" marL="0">
              <a:buNone/>
            </a:pPr>
            <a:r>
              <a:rPr lang="en-US" sz="1250" dirty="0">
                <a:solidFill>
                  <a:srgbClr val="0F172A"/>
                </a:solidFill>
                <a:latin typeface="Calibri" pitchFamily="34" charset="0"/>
                <a:ea typeface="Calibri" pitchFamily="34" charset="-122"/>
                <a:cs typeface="Calibri" pitchFamily="34" charset="-120"/>
              </a:rPr>
              <a:t> replaces standard average pooling, producing richer global descriptors. The training pipeline incorporates </a:t>
            </a:r>
            <a:pPr indent="0" marL="0">
              <a:buNone/>
            </a:pPr>
            <a:r>
              <a:rPr lang="en-US" sz="1250" b="1" dirty="0">
                <a:solidFill>
                  <a:srgbClr val="0F172A"/>
                </a:solidFill>
                <a:latin typeface="Calibri" pitchFamily="34" charset="0"/>
                <a:ea typeface="Calibri" pitchFamily="34" charset="-122"/>
                <a:cs typeface="Calibri" pitchFamily="34" charset="-120"/>
              </a:rPr>
              <a:t>stochastic depth, cosine annealing with linear warm-up, mixed-precision training, gradient clipping</a:t>
            </a:r>
            <a:pPr indent="0" marL="0">
              <a:buNone/>
            </a:pPr>
            <a:r>
              <a:rPr lang="en-US" sz="1250" dirty="0">
                <a:solidFill>
                  <a:srgbClr val="0F172A"/>
                </a:solidFill>
                <a:latin typeface="Calibri" pitchFamily="34" charset="0"/>
                <a:ea typeface="Calibri" pitchFamily="34" charset="-122"/>
                <a:cs typeface="Calibri" pitchFamily="34" charset="-120"/>
              </a:rPr>
              <a:t>, and </a:t>
            </a:r>
            <a:pPr indent="0" marL="0">
              <a:buNone/>
            </a:pPr>
            <a:r>
              <a:rPr lang="en-US" sz="1250" b="1" dirty="0">
                <a:solidFill>
                  <a:srgbClr val="0F172A"/>
                </a:solidFill>
                <a:latin typeface="Calibri" pitchFamily="34" charset="0"/>
                <a:ea typeface="Calibri" pitchFamily="34" charset="-122"/>
                <a:cs typeface="Calibri" pitchFamily="34" charset="-120"/>
              </a:rPr>
              <a:t>early stopping</a:t>
            </a:r>
            <a:pPr indent="0" marL="0">
              <a:buNone/>
            </a:pPr>
            <a:r>
              <a:rPr lang="en-US" sz="1250" dirty="0">
                <a:solidFill>
                  <a:srgbClr val="0F172A"/>
                </a:solidFill>
                <a:latin typeface="Calibri" pitchFamily="34" charset="0"/>
                <a:ea typeface="Calibri" pitchFamily="34" charset="-122"/>
                <a:cs typeface="Calibri" pitchFamily="34" charset="-120"/>
              </a:rPr>
              <a:t> — yielding robust generalization with minimal overfitting.</a:t>
            </a:r>
            <a:endParaRPr lang="en-US" sz="1250" dirty="0"/>
          </a:p>
        </p:txBody>
      </p:sp>
      <p:sp>
        <p:nvSpPr>
          <p:cNvPr id="7" name="Shape 5"/>
          <p:cNvSpPr/>
          <p:nvPr/>
        </p:nvSpPr>
        <p:spPr>
          <a:xfrm>
            <a:off x="5029200" y="749808"/>
            <a:ext cx="3840480" cy="4114800"/>
          </a:xfrm>
          <a:prstGeom prst="rect">
            <a:avLst/>
          </a:prstGeom>
          <a:solidFill>
            <a:srgbClr val="0D1B3E"/>
          </a:solidFill>
          <a:ln w="12700">
            <a:solidFill>
              <a:srgbClr val="0D1B3E"/>
            </a:solidFill>
            <a:prstDash val="solid"/>
          </a:ln>
        </p:spPr>
      </p:sp>
      <p:sp>
        <p:nvSpPr>
          <p:cNvPr id="8" name="Text 6"/>
          <p:cNvSpPr/>
          <p:nvPr/>
        </p:nvSpPr>
        <p:spPr>
          <a:xfrm>
            <a:off x="5120640" y="841248"/>
            <a:ext cx="3657600" cy="365760"/>
          </a:xfrm>
          <a:prstGeom prst="rect">
            <a:avLst/>
          </a:prstGeom>
          <a:noFill/>
          <a:ln/>
        </p:spPr>
        <p:txBody>
          <a:bodyPr wrap="square" lIns="0" tIns="0" rIns="0" bIns="0" rtlCol="0" anchor="ctr"/>
          <a:lstStyle/>
          <a:p>
            <a:pPr indent="0" marL="0">
              <a:buNone/>
            </a:pPr>
            <a:r>
              <a:rPr lang="en-US" sz="1300" b="1" dirty="0">
                <a:solidFill>
                  <a:srgbClr val="06B6D4"/>
                </a:solidFill>
                <a:latin typeface="Calibri" pitchFamily="34" charset="0"/>
                <a:ea typeface="Calibri" pitchFamily="34" charset="-122"/>
                <a:cs typeface="Calibri" pitchFamily="34" charset="-120"/>
              </a:rPr>
              <a:t>Key Contributions</a:t>
            </a:r>
            <a:endParaRPr lang="en-US" sz="1300" dirty="0"/>
          </a:p>
        </p:txBody>
      </p:sp>
      <p:sp>
        <p:nvSpPr>
          <p:cNvPr id="9" name="Shape 7"/>
          <p:cNvSpPr/>
          <p:nvPr/>
        </p:nvSpPr>
        <p:spPr>
          <a:xfrm>
            <a:off x="5120640" y="1371600"/>
            <a:ext cx="292608" cy="292608"/>
          </a:xfrm>
          <a:prstGeom prst="ellipse">
            <a:avLst/>
          </a:prstGeom>
          <a:solidFill>
            <a:srgbClr val="06B6D4"/>
          </a:solidFill>
          <a:ln w="12700">
            <a:solidFill>
              <a:srgbClr val="06B6D4"/>
            </a:solidFill>
            <a:prstDash val="solid"/>
          </a:ln>
        </p:spPr>
      </p:sp>
      <p:sp>
        <p:nvSpPr>
          <p:cNvPr id="10" name="Text 8"/>
          <p:cNvSpPr/>
          <p:nvPr/>
        </p:nvSpPr>
        <p:spPr>
          <a:xfrm>
            <a:off x="5120640" y="1371600"/>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01</a:t>
            </a:r>
            <a:endParaRPr lang="en-US" sz="900" dirty="0"/>
          </a:p>
        </p:txBody>
      </p:sp>
      <p:sp>
        <p:nvSpPr>
          <p:cNvPr id="11" name="Text 9"/>
          <p:cNvSpPr/>
          <p:nvPr/>
        </p:nvSpPr>
        <p:spPr>
          <a:xfrm>
            <a:off x="5486400" y="1353312"/>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CBAM at every residual block for dual attention</a:t>
            </a:r>
            <a:endParaRPr lang="en-US" sz="1100" dirty="0"/>
          </a:p>
        </p:txBody>
      </p:sp>
      <p:sp>
        <p:nvSpPr>
          <p:cNvPr id="12" name="Shape 10"/>
          <p:cNvSpPr/>
          <p:nvPr/>
        </p:nvSpPr>
        <p:spPr>
          <a:xfrm>
            <a:off x="5120640" y="1901952"/>
            <a:ext cx="292608" cy="292608"/>
          </a:xfrm>
          <a:prstGeom prst="ellipse">
            <a:avLst/>
          </a:prstGeom>
          <a:solidFill>
            <a:srgbClr val="06B6D4"/>
          </a:solidFill>
          <a:ln w="12700">
            <a:solidFill>
              <a:srgbClr val="06B6D4"/>
            </a:solidFill>
            <a:prstDash val="solid"/>
          </a:ln>
        </p:spPr>
      </p:sp>
      <p:sp>
        <p:nvSpPr>
          <p:cNvPr id="13" name="Text 11"/>
          <p:cNvSpPr/>
          <p:nvPr/>
        </p:nvSpPr>
        <p:spPr>
          <a:xfrm>
            <a:off x="5120640" y="1901952"/>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02</a:t>
            </a:r>
            <a:endParaRPr lang="en-US" sz="900" dirty="0"/>
          </a:p>
        </p:txBody>
      </p:sp>
      <p:sp>
        <p:nvSpPr>
          <p:cNvPr id="14" name="Text 12"/>
          <p:cNvSpPr/>
          <p:nvPr/>
        </p:nvSpPr>
        <p:spPr>
          <a:xfrm>
            <a:off x="5486400" y="1883664"/>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GeM pooling for richer feature aggregation</a:t>
            </a:r>
            <a:endParaRPr lang="en-US" sz="1100" dirty="0"/>
          </a:p>
        </p:txBody>
      </p:sp>
      <p:sp>
        <p:nvSpPr>
          <p:cNvPr id="15" name="Shape 13"/>
          <p:cNvSpPr/>
          <p:nvPr/>
        </p:nvSpPr>
        <p:spPr>
          <a:xfrm>
            <a:off x="5120640" y="2432304"/>
            <a:ext cx="292608" cy="292608"/>
          </a:xfrm>
          <a:prstGeom prst="ellipse">
            <a:avLst/>
          </a:prstGeom>
          <a:solidFill>
            <a:srgbClr val="06B6D4"/>
          </a:solidFill>
          <a:ln w="12700">
            <a:solidFill>
              <a:srgbClr val="06B6D4"/>
            </a:solidFill>
            <a:prstDash val="solid"/>
          </a:ln>
        </p:spPr>
      </p:sp>
      <p:sp>
        <p:nvSpPr>
          <p:cNvPr id="16" name="Text 14"/>
          <p:cNvSpPr/>
          <p:nvPr/>
        </p:nvSpPr>
        <p:spPr>
          <a:xfrm>
            <a:off x="5120640" y="2432304"/>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03</a:t>
            </a:r>
            <a:endParaRPr lang="en-US" sz="900" dirty="0"/>
          </a:p>
        </p:txBody>
      </p:sp>
      <p:sp>
        <p:nvSpPr>
          <p:cNvPr id="17" name="Text 15"/>
          <p:cNvSpPr/>
          <p:nvPr/>
        </p:nvSpPr>
        <p:spPr>
          <a:xfrm>
            <a:off x="5486400" y="2414016"/>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Cosine LR decay with linear warm-up epochs</a:t>
            </a:r>
            <a:endParaRPr lang="en-US" sz="1100" dirty="0"/>
          </a:p>
        </p:txBody>
      </p:sp>
      <p:sp>
        <p:nvSpPr>
          <p:cNvPr id="18" name="Shape 16"/>
          <p:cNvSpPr/>
          <p:nvPr/>
        </p:nvSpPr>
        <p:spPr>
          <a:xfrm>
            <a:off x="5120640" y="2962656"/>
            <a:ext cx="292608" cy="292608"/>
          </a:xfrm>
          <a:prstGeom prst="ellipse">
            <a:avLst/>
          </a:prstGeom>
          <a:solidFill>
            <a:srgbClr val="06B6D4"/>
          </a:solidFill>
          <a:ln w="12700">
            <a:solidFill>
              <a:srgbClr val="06B6D4"/>
            </a:solidFill>
            <a:prstDash val="solid"/>
          </a:ln>
        </p:spPr>
      </p:sp>
      <p:sp>
        <p:nvSpPr>
          <p:cNvPr id="19" name="Text 17"/>
          <p:cNvSpPr/>
          <p:nvPr/>
        </p:nvSpPr>
        <p:spPr>
          <a:xfrm>
            <a:off x="5120640" y="2962656"/>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04</a:t>
            </a:r>
            <a:endParaRPr lang="en-US" sz="900" dirty="0"/>
          </a:p>
        </p:txBody>
      </p:sp>
      <p:sp>
        <p:nvSpPr>
          <p:cNvPr id="20" name="Text 18"/>
          <p:cNvSpPr/>
          <p:nvPr/>
        </p:nvSpPr>
        <p:spPr>
          <a:xfrm>
            <a:off x="5486400" y="2944368"/>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Stochastic Depth (DropPath) for path regularization</a:t>
            </a:r>
            <a:endParaRPr lang="en-US" sz="1100" dirty="0"/>
          </a:p>
        </p:txBody>
      </p:sp>
      <p:sp>
        <p:nvSpPr>
          <p:cNvPr id="21" name="Shape 19"/>
          <p:cNvSpPr/>
          <p:nvPr/>
        </p:nvSpPr>
        <p:spPr>
          <a:xfrm>
            <a:off x="5120640" y="3493008"/>
            <a:ext cx="292608" cy="292608"/>
          </a:xfrm>
          <a:prstGeom prst="ellipse">
            <a:avLst/>
          </a:prstGeom>
          <a:solidFill>
            <a:srgbClr val="06B6D4"/>
          </a:solidFill>
          <a:ln w="12700">
            <a:solidFill>
              <a:srgbClr val="06B6D4"/>
            </a:solidFill>
            <a:prstDash val="solid"/>
          </a:ln>
        </p:spPr>
      </p:sp>
      <p:sp>
        <p:nvSpPr>
          <p:cNvPr id="22" name="Text 20"/>
          <p:cNvSpPr/>
          <p:nvPr/>
        </p:nvSpPr>
        <p:spPr>
          <a:xfrm>
            <a:off x="5120640" y="3493008"/>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05</a:t>
            </a:r>
            <a:endParaRPr lang="en-US" sz="900" dirty="0"/>
          </a:p>
        </p:txBody>
      </p:sp>
      <p:sp>
        <p:nvSpPr>
          <p:cNvPr id="23" name="Text 21"/>
          <p:cNvSpPr/>
          <p:nvPr/>
        </p:nvSpPr>
        <p:spPr>
          <a:xfrm>
            <a:off x="5486400" y="3474720"/>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Optimal threshold search on validation set</a:t>
            </a:r>
            <a:endParaRPr lang="en-US" sz="1100" dirty="0"/>
          </a:p>
        </p:txBody>
      </p:sp>
      <p:sp>
        <p:nvSpPr>
          <p:cNvPr id="24" name="Shape 22"/>
          <p:cNvSpPr/>
          <p:nvPr/>
        </p:nvSpPr>
        <p:spPr>
          <a:xfrm>
            <a:off x="5120640" y="4023360"/>
            <a:ext cx="292608" cy="292608"/>
          </a:xfrm>
          <a:prstGeom prst="ellipse">
            <a:avLst/>
          </a:prstGeom>
          <a:solidFill>
            <a:srgbClr val="06B6D4"/>
          </a:solidFill>
          <a:ln w="12700">
            <a:solidFill>
              <a:srgbClr val="06B6D4"/>
            </a:solidFill>
            <a:prstDash val="solid"/>
          </a:ln>
        </p:spPr>
      </p:sp>
      <p:sp>
        <p:nvSpPr>
          <p:cNvPr id="25" name="Text 23"/>
          <p:cNvSpPr/>
          <p:nvPr/>
        </p:nvSpPr>
        <p:spPr>
          <a:xfrm>
            <a:off x="5120640" y="4023360"/>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06</a:t>
            </a:r>
            <a:endParaRPr lang="en-US" sz="900" dirty="0"/>
          </a:p>
        </p:txBody>
      </p:sp>
      <p:sp>
        <p:nvSpPr>
          <p:cNvPr id="26" name="Text 24"/>
          <p:cNvSpPr/>
          <p:nvPr/>
        </p:nvSpPr>
        <p:spPr>
          <a:xfrm>
            <a:off x="5486400" y="4005072"/>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Mixed-precision training for efficiency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Introduction</a:t>
            </a:r>
            <a:endParaRPr lang="en-US" sz="2200" dirty="0"/>
          </a:p>
        </p:txBody>
      </p:sp>
      <p:sp>
        <p:nvSpPr>
          <p:cNvPr id="5" name="Text 3"/>
          <p:cNvSpPr/>
          <p:nvPr/>
        </p:nvSpPr>
        <p:spPr>
          <a:xfrm>
            <a:off x="228600" y="749808"/>
            <a:ext cx="8686800" cy="347472"/>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Problem Statement &amp; Motivation</a:t>
            </a:r>
            <a:endParaRPr lang="en-US" sz="1500" dirty="0"/>
          </a:p>
        </p:txBody>
      </p:sp>
      <p:sp>
        <p:nvSpPr>
          <p:cNvPr id="6" name="Text 4"/>
          <p:cNvSpPr/>
          <p:nvPr/>
        </p:nvSpPr>
        <p:spPr>
          <a:xfrm>
            <a:off x="228600" y="1115568"/>
            <a:ext cx="8686800" cy="82296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Binary image classification is a foundational task in computer vision with critical applications in medical imaging, quality control, and content moderation. Despite the availability of large pretrained models, custom architectures offer superior control over capacity, efficiency, and domain fit — especially when labeled data is limited.</a:t>
            </a:r>
            <a:endParaRPr lang="en-US" sz="1200" dirty="0"/>
          </a:p>
        </p:txBody>
      </p:sp>
      <p:sp>
        <p:nvSpPr>
          <p:cNvPr id="7" name="Shape 5"/>
          <p:cNvSpPr/>
          <p:nvPr/>
        </p:nvSpPr>
        <p:spPr>
          <a:xfrm>
            <a:off x="228600" y="2057400"/>
            <a:ext cx="2743200" cy="269748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8" name="Shape 6"/>
          <p:cNvSpPr/>
          <p:nvPr/>
        </p:nvSpPr>
        <p:spPr>
          <a:xfrm>
            <a:off x="228600" y="2057400"/>
            <a:ext cx="2743200" cy="347472"/>
          </a:xfrm>
          <a:prstGeom prst="rect">
            <a:avLst/>
          </a:prstGeom>
          <a:solidFill>
            <a:srgbClr val="2563EB"/>
          </a:solidFill>
          <a:ln w="12700">
            <a:solidFill>
              <a:srgbClr val="2563EB"/>
            </a:solidFill>
            <a:prstDash val="solid"/>
          </a:ln>
        </p:spPr>
      </p:sp>
      <p:sp>
        <p:nvSpPr>
          <p:cNvPr id="9" name="Text 7"/>
          <p:cNvSpPr/>
          <p:nvPr/>
        </p:nvSpPr>
        <p:spPr>
          <a:xfrm>
            <a:off x="338328" y="2075688"/>
            <a:ext cx="252374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Class Imbalance</a:t>
            </a:r>
            <a:endParaRPr lang="en-US" sz="1200" dirty="0"/>
          </a:p>
        </p:txBody>
      </p:sp>
      <p:sp>
        <p:nvSpPr>
          <p:cNvPr id="10" name="Text 8"/>
          <p:cNvSpPr/>
          <p:nvPr/>
        </p:nvSpPr>
        <p:spPr>
          <a:xfrm>
            <a:off x="338328" y="2459736"/>
            <a:ext cx="2523744" cy="220370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Standard BCE penalizes all errors equally</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Hard targets (no smoothing) preserve clean binary signal</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Optimal threshold tuning adjusts decision boundary</a:t>
            </a:r>
            <a:endParaRPr lang="en-US" sz="1100" dirty="0"/>
          </a:p>
        </p:txBody>
      </p:sp>
      <p:sp>
        <p:nvSpPr>
          <p:cNvPr id="11" name="Shape 9"/>
          <p:cNvSpPr/>
          <p:nvPr/>
        </p:nvSpPr>
        <p:spPr>
          <a:xfrm>
            <a:off x="3154680" y="2057400"/>
            <a:ext cx="2743200" cy="269748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12" name="Shape 10"/>
          <p:cNvSpPr/>
          <p:nvPr/>
        </p:nvSpPr>
        <p:spPr>
          <a:xfrm>
            <a:off x="3154680" y="2057400"/>
            <a:ext cx="2743200" cy="347472"/>
          </a:xfrm>
          <a:prstGeom prst="rect">
            <a:avLst/>
          </a:prstGeom>
          <a:solidFill>
            <a:srgbClr val="0891B2"/>
          </a:solidFill>
          <a:ln w="12700">
            <a:solidFill>
              <a:srgbClr val="0891B2"/>
            </a:solidFill>
            <a:prstDash val="solid"/>
          </a:ln>
        </p:spPr>
      </p:sp>
      <p:sp>
        <p:nvSpPr>
          <p:cNvPr id="13" name="Text 11"/>
          <p:cNvSpPr/>
          <p:nvPr/>
        </p:nvSpPr>
        <p:spPr>
          <a:xfrm>
            <a:off x="3264408" y="2075688"/>
            <a:ext cx="252374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Feature Discrimination</a:t>
            </a:r>
            <a:endParaRPr lang="en-US" sz="1200" dirty="0"/>
          </a:p>
        </p:txBody>
      </p:sp>
      <p:sp>
        <p:nvSpPr>
          <p:cNvPr id="14" name="Text 12"/>
          <p:cNvSpPr/>
          <p:nvPr/>
        </p:nvSpPr>
        <p:spPr>
          <a:xfrm>
            <a:off x="3264408" y="2459736"/>
            <a:ext cx="2523744" cy="220370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Not all spatial regions are equally informative</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CBAM focuses attention channel-wise &amp; spatially</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GeM pooling preserves discriminative statistics</a:t>
            </a:r>
            <a:endParaRPr lang="en-US" sz="1100" dirty="0"/>
          </a:p>
        </p:txBody>
      </p:sp>
      <p:sp>
        <p:nvSpPr>
          <p:cNvPr id="15" name="Shape 13"/>
          <p:cNvSpPr/>
          <p:nvPr/>
        </p:nvSpPr>
        <p:spPr>
          <a:xfrm>
            <a:off x="6080760" y="2057400"/>
            <a:ext cx="2743200" cy="269748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16" name="Shape 14"/>
          <p:cNvSpPr/>
          <p:nvPr/>
        </p:nvSpPr>
        <p:spPr>
          <a:xfrm>
            <a:off x="6080760" y="2057400"/>
            <a:ext cx="2743200" cy="347472"/>
          </a:xfrm>
          <a:prstGeom prst="rect">
            <a:avLst/>
          </a:prstGeom>
          <a:solidFill>
            <a:srgbClr val="7C3AED"/>
          </a:solidFill>
          <a:ln w="12700">
            <a:solidFill>
              <a:srgbClr val="7C3AED"/>
            </a:solidFill>
            <a:prstDash val="solid"/>
          </a:ln>
        </p:spPr>
      </p:sp>
      <p:sp>
        <p:nvSpPr>
          <p:cNvPr id="17" name="Text 15"/>
          <p:cNvSpPr/>
          <p:nvPr/>
        </p:nvSpPr>
        <p:spPr>
          <a:xfrm>
            <a:off x="6190488" y="2075688"/>
            <a:ext cx="252374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Training Stability</a:t>
            </a:r>
            <a:endParaRPr lang="en-US" sz="1200" dirty="0"/>
          </a:p>
        </p:txBody>
      </p:sp>
      <p:sp>
        <p:nvSpPr>
          <p:cNvPr id="18" name="Text 16"/>
          <p:cNvSpPr/>
          <p:nvPr/>
        </p:nvSpPr>
        <p:spPr>
          <a:xfrm>
            <a:off x="6190488" y="2459736"/>
            <a:ext cx="2523744" cy="220370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Learning rate too high → divergence</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Cosine schedule with warm-up for smooth convergence</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Gradient clipping &amp; mixed precision for stability</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Data Description</a:t>
            </a:r>
            <a:endParaRPr lang="en-US" sz="2200" dirty="0"/>
          </a:p>
        </p:txBody>
      </p:sp>
      <p:sp>
        <p:nvSpPr>
          <p:cNvPr id="5" name="Text 3"/>
          <p:cNvSpPr/>
          <p:nvPr/>
        </p:nvSpPr>
        <p:spPr>
          <a:xfrm>
            <a:off x="228600" y="749808"/>
            <a:ext cx="4023360" cy="347472"/>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Dataset Structure</a:t>
            </a:r>
            <a:endParaRPr lang="en-US" sz="1500" dirty="0"/>
          </a:p>
        </p:txBody>
      </p:sp>
      <p:sp>
        <p:nvSpPr>
          <p:cNvPr id="6" name="Shape 4"/>
          <p:cNvSpPr/>
          <p:nvPr/>
        </p:nvSpPr>
        <p:spPr>
          <a:xfrm>
            <a:off x="228600" y="1170432"/>
            <a:ext cx="4023360" cy="347472"/>
          </a:xfrm>
          <a:prstGeom prst="rect">
            <a:avLst/>
          </a:prstGeom>
          <a:solidFill>
            <a:srgbClr val="EFF6FF"/>
          </a:solidFill>
          <a:ln w="6350">
            <a:solidFill>
              <a:srgbClr val="E2E8F0"/>
            </a:solidFill>
            <a:prstDash val="solid"/>
          </a:ln>
        </p:spPr>
      </p:sp>
      <p:sp>
        <p:nvSpPr>
          <p:cNvPr id="7" name="Text 5"/>
          <p:cNvSpPr/>
          <p:nvPr/>
        </p:nvSpPr>
        <p:spPr>
          <a:xfrm>
            <a:off x="320040" y="1170432"/>
            <a:ext cx="2194560" cy="347472"/>
          </a:xfrm>
          <a:prstGeom prst="rect">
            <a:avLst/>
          </a:prstGeom>
          <a:noFill/>
          <a:ln/>
        </p:spPr>
        <p:txBody>
          <a:bodyPr wrap="square" lIns="0" tIns="0" rIns="0" bIns="0" rtlCol="0" anchor="ctr"/>
          <a:lstStyle/>
          <a:p>
            <a:pPr indent="0" marL="0">
              <a:buNone/>
            </a:pPr>
            <a:r>
              <a:rPr lang="en-US" sz="1050" dirty="0">
                <a:solidFill>
                  <a:srgbClr val="2563EB"/>
                </a:solidFill>
                <a:latin typeface="Consolas" pitchFamily="34" charset="0"/>
                <a:ea typeface="Consolas" pitchFamily="34" charset="-122"/>
                <a:cs typeface="Consolas" pitchFamily="34" charset="-120"/>
              </a:rPr>
              <a:t>📁 data/</a:t>
            </a:r>
            <a:endParaRPr lang="en-US" sz="1050" dirty="0"/>
          </a:p>
        </p:txBody>
      </p:sp>
      <p:sp>
        <p:nvSpPr>
          <p:cNvPr id="8" name="Text 6"/>
          <p:cNvSpPr/>
          <p:nvPr/>
        </p:nvSpPr>
        <p:spPr>
          <a:xfrm>
            <a:off x="2468880" y="1170432"/>
            <a:ext cx="1691640" cy="34747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Root directory</a:t>
            </a:r>
            <a:endParaRPr lang="en-US" sz="1000" dirty="0"/>
          </a:p>
        </p:txBody>
      </p:sp>
      <p:sp>
        <p:nvSpPr>
          <p:cNvPr id="9" name="Shape 7"/>
          <p:cNvSpPr/>
          <p:nvPr/>
        </p:nvSpPr>
        <p:spPr>
          <a:xfrm>
            <a:off x="228600" y="1563624"/>
            <a:ext cx="4023360" cy="347472"/>
          </a:xfrm>
          <a:prstGeom prst="rect">
            <a:avLst/>
          </a:prstGeom>
          <a:solidFill>
            <a:srgbClr val="FFFFFF"/>
          </a:solidFill>
          <a:ln w="6350">
            <a:solidFill>
              <a:srgbClr val="E2E8F0"/>
            </a:solidFill>
            <a:prstDash val="solid"/>
          </a:ln>
        </p:spPr>
      </p:sp>
      <p:sp>
        <p:nvSpPr>
          <p:cNvPr id="10" name="Text 8"/>
          <p:cNvSpPr/>
          <p:nvPr/>
        </p:nvSpPr>
        <p:spPr>
          <a:xfrm>
            <a:off x="320040" y="1563624"/>
            <a:ext cx="2194560" cy="347472"/>
          </a:xfrm>
          <a:prstGeom prst="rect">
            <a:avLst/>
          </a:prstGeom>
          <a:noFill/>
          <a:ln/>
        </p:spPr>
        <p:txBody>
          <a:bodyPr wrap="square" lIns="0" tIns="0" rIns="0" bIns="0" rtlCol="0" anchor="ctr"/>
          <a:lstStyle/>
          <a:p>
            <a:pPr indent="0" marL="0">
              <a:buNone/>
            </a:pPr>
            <a:r>
              <a:rPr lang="en-US" sz="1050" dirty="0">
                <a:solidFill>
                  <a:srgbClr val="2563EB"/>
                </a:solidFill>
                <a:latin typeface="Consolas" pitchFamily="34" charset="0"/>
                <a:ea typeface="Consolas" pitchFamily="34" charset="-122"/>
                <a:cs typeface="Consolas" pitchFamily="34" charset="-120"/>
              </a:rPr>
              <a:t>  📁 train/</a:t>
            </a:r>
            <a:endParaRPr lang="en-US" sz="1050" dirty="0"/>
          </a:p>
        </p:txBody>
      </p:sp>
      <p:sp>
        <p:nvSpPr>
          <p:cNvPr id="11" name="Text 9"/>
          <p:cNvSpPr/>
          <p:nvPr/>
        </p:nvSpPr>
        <p:spPr>
          <a:xfrm>
            <a:off x="2468880" y="1563624"/>
            <a:ext cx="1691640" cy="34747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Labeled training images</a:t>
            </a:r>
            <a:endParaRPr lang="en-US" sz="1000" dirty="0"/>
          </a:p>
        </p:txBody>
      </p:sp>
      <p:sp>
        <p:nvSpPr>
          <p:cNvPr id="12" name="Shape 10"/>
          <p:cNvSpPr/>
          <p:nvPr/>
        </p:nvSpPr>
        <p:spPr>
          <a:xfrm>
            <a:off x="228600" y="1956816"/>
            <a:ext cx="4023360" cy="347472"/>
          </a:xfrm>
          <a:prstGeom prst="rect">
            <a:avLst/>
          </a:prstGeom>
          <a:solidFill>
            <a:srgbClr val="EFF6FF"/>
          </a:solidFill>
          <a:ln w="6350">
            <a:solidFill>
              <a:srgbClr val="E2E8F0"/>
            </a:solidFill>
            <a:prstDash val="solid"/>
          </a:ln>
        </p:spPr>
      </p:sp>
      <p:sp>
        <p:nvSpPr>
          <p:cNvPr id="13" name="Text 11"/>
          <p:cNvSpPr/>
          <p:nvPr/>
        </p:nvSpPr>
        <p:spPr>
          <a:xfrm>
            <a:off x="320040" y="1956816"/>
            <a:ext cx="2194560" cy="347472"/>
          </a:xfrm>
          <a:prstGeom prst="rect">
            <a:avLst/>
          </a:prstGeom>
          <a:noFill/>
          <a:ln/>
        </p:spPr>
        <p:txBody>
          <a:bodyPr wrap="square" lIns="0" tIns="0" rIns="0" bIns="0" rtlCol="0" anchor="ctr"/>
          <a:lstStyle/>
          <a:p>
            <a:pPr indent="0" marL="0">
              <a:buNone/>
            </a:pPr>
            <a:r>
              <a:rPr lang="en-US" sz="1050" dirty="0">
                <a:solidFill>
                  <a:srgbClr val="2563EB"/>
                </a:solidFill>
                <a:latin typeface="Consolas" pitchFamily="34" charset="0"/>
                <a:ea typeface="Consolas" pitchFamily="34" charset="-122"/>
                <a:cs typeface="Consolas" pitchFamily="34" charset="-120"/>
              </a:rPr>
              <a:t>    📁 0/</a:t>
            </a:r>
            <a:endParaRPr lang="en-US" sz="1050" dirty="0"/>
          </a:p>
        </p:txBody>
      </p:sp>
      <p:sp>
        <p:nvSpPr>
          <p:cNvPr id="14" name="Text 12"/>
          <p:cNvSpPr/>
          <p:nvPr/>
        </p:nvSpPr>
        <p:spPr>
          <a:xfrm>
            <a:off x="2468880" y="1956816"/>
            <a:ext cx="1691640" cy="34747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Negative class samples</a:t>
            </a:r>
            <a:endParaRPr lang="en-US" sz="1000" dirty="0"/>
          </a:p>
        </p:txBody>
      </p:sp>
      <p:sp>
        <p:nvSpPr>
          <p:cNvPr id="15" name="Shape 13"/>
          <p:cNvSpPr/>
          <p:nvPr/>
        </p:nvSpPr>
        <p:spPr>
          <a:xfrm>
            <a:off x="228600" y="2350008"/>
            <a:ext cx="4023360" cy="347472"/>
          </a:xfrm>
          <a:prstGeom prst="rect">
            <a:avLst/>
          </a:prstGeom>
          <a:solidFill>
            <a:srgbClr val="FFFFFF"/>
          </a:solidFill>
          <a:ln w="6350">
            <a:solidFill>
              <a:srgbClr val="E2E8F0"/>
            </a:solidFill>
            <a:prstDash val="solid"/>
          </a:ln>
        </p:spPr>
      </p:sp>
      <p:sp>
        <p:nvSpPr>
          <p:cNvPr id="16" name="Text 14"/>
          <p:cNvSpPr/>
          <p:nvPr/>
        </p:nvSpPr>
        <p:spPr>
          <a:xfrm>
            <a:off x="320040" y="2350008"/>
            <a:ext cx="2194560" cy="347472"/>
          </a:xfrm>
          <a:prstGeom prst="rect">
            <a:avLst/>
          </a:prstGeom>
          <a:noFill/>
          <a:ln/>
        </p:spPr>
        <p:txBody>
          <a:bodyPr wrap="square" lIns="0" tIns="0" rIns="0" bIns="0" rtlCol="0" anchor="ctr"/>
          <a:lstStyle/>
          <a:p>
            <a:pPr indent="0" marL="0">
              <a:buNone/>
            </a:pPr>
            <a:r>
              <a:rPr lang="en-US" sz="1050" dirty="0">
                <a:solidFill>
                  <a:srgbClr val="2563EB"/>
                </a:solidFill>
                <a:latin typeface="Consolas" pitchFamily="34" charset="0"/>
                <a:ea typeface="Consolas" pitchFamily="34" charset="-122"/>
                <a:cs typeface="Consolas" pitchFamily="34" charset="-120"/>
              </a:rPr>
              <a:t>    📁 1/</a:t>
            </a:r>
            <a:endParaRPr lang="en-US" sz="1050" dirty="0"/>
          </a:p>
        </p:txBody>
      </p:sp>
      <p:sp>
        <p:nvSpPr>
          <p:cNvPr id="17" name="Text 15"/>
          <p:cNvSpPr/>
          <p:nvPr/>
        </p:nvSpPr>
        <p:spPr>
          <a:xfrm>
            <a:off x="2468880" y="2350008"/>
            <a:ext cx="1691640" cy="34747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Positive class samples</a:t>
            </a:r>
            <a:endParaRPr lang="en-US" sz="1000" dirty="0"/>
          </a:p>
        </p:txBody>
      </p:sp>
      <p:sp>
        <p:nvSpPr>
          <p:cNvPr id="18" name="Shape 16"/>
          <p:cNvSpPr/>
          <p:nvPr/>
        </p:nvSpPr>
        <p:spPr>
          <a:xfrm>
            <a:off x="228600" y="2743200"/>
            <a:ext cx="4023360" cy="347472"/>
          </a:xfrm>
          <a:prstGeom prst="rect">
            <a:avLst/>
          </a:prstGeom>
          <a:solidFill>
            <a:srgbClr val="EFF6FF"/>
          </a:solidFill>
          <a:ln w="6350">
            <a:solidFill>
              <a:srgbClr val="E2E8F0"/>
            </a:solidFill>
            <a:prstDash val="solid"/>
          </a:ln>
        </p:spPr>
      </p:sp>
      <p:sp>
        <p:nvSpPr>
          <p:cNvPr id="19" name="Text 17"/>
          <p:cNvSpPr/>
          <p:nvPr/>
        </p:nvSpPr>
        <p:spPr>
          <a:xfrm>
            <a:off x="320040" y="2743200"/>
            <a:ext cx="2194560" cy="347472"/>
          </a:xfrm>
          <a:prstGeom prst="rect">
            <a:avLst/>
          </a:prstGeom>
          <a:noFill/>
          <a:ln/>
        </p:spPr>
        <p:txBody>
          <a:bodyPr wrap="square" lIns="0" tIns="0" rIns="0" bIns="0" rtlCol="0" anchor="ctr"/>
          <a:lstStyle/>
          <a:p>
            <a:pPr indent="0" marL="0">
              <a:buNone/>
            </a:pPr>
            <a:r>
              <a:rPr lang="en-US" sz="1050" dirty="0">
                <a:solidFill>
                  <a:srgbClr val="2563EB"/>
                </a:solidFill>
                <a:latin typeface="Consolas" pitchFamily="34" charset="0"/>
                <a:ea typeface="Consolas" pitchFamily="34" charset="-122"/>
                <a:cs typeface="Consolas" pitchFamily="34" charset="-120"/>
              </a:rPr>
              <a:t>  📁 test/</a:t>
            </a:r>
            <a:endParaRPr lang="en-US" sz="1050" dirty="0"/>
          </a:p>
        </p:txBody>
      </p:sp>
      <p:sp>
        <p:nvSpPr>
          <p:cNvPr id="20" name="Text 18"/>
          <p:cNvSpPr/>
          <p:nvPr/>
        </p:nvSpPr>
        <p:spPr>
          <a:xfrm>
            <a:off x="2468880" y="2743200"/>
            <a:ext cx="1691640" cy="34747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Unlabeled test images</a:t>
            </a:r>
            <a:endParaRPr lang="en-US" sz="1000" dirty="0"/>
          </a:p>
        </p:txBody>
      </p:sp>
      <p:sp>
        <p:nvSpPr>
          <p:cNvPr id="21" name="Text 19"/>
          <p:cNvSpPr/>
          <p:nvPr/>
        </p:nvSpPr>
        <p:spPr>
          <a:xfrm>
            <a:off x="228600" y="3172968"/>
            <a:ext cx="4023360" cy="320040"/>
          </a:xfrm>
          <a:prstGeom prst="rect">
            <a:avLst/>
          </a:prstGeom>
          <a:noFill/>
          <a:ln/>
        </p:spPr>
        <p:txBody>
          <a:bodyPr wrap="square" lIns="0" tIns="0" rIns="0" bIns="0" rtlCol="0" anchor="ctr"/>
          <a:lstStyle/>
          <a:p>
            <a:pPr indent="0" marL="0">
              <a:buNone/>
            </a:pPr>
            <a:r>
              <a:rPr lang="en-US" sz="1300" b="1" dirty="0">
                <a:solidFill>
                  <a:srgbClr val="0D1B3E"/>
                </a:solidFill>
                <a:latin typeface="Calibri" pitchFamily="34" charset="0"/>
                <a:ea typeface="Calibri" pitchFamily="34" charset="-122"/>
                <a:cs typeface="Calibri" pitchFamily="34" charset="-120"/>
              </a:rPr>
              <a:t>Preprocessing Pipeline</a:t>
            </a:r>
            <a:endParaRPr lang="en-US" sz="1300" dirty="0"/>
          </a:p>
        </p:txBody>
      </p:sp>
      <p:sp>
        <p:nvSpPr>
          <p:cNvPr id="22" name="Text 20"/>
          <p:cNvSpPr/>
          <p:nvPr/>
        </p:nvSpPr>
        <p:spPr>
          <a:xfrm>
            <a:off x="228600" y="3520440"/>
            <a:ext cx="4023360" cy="1188720"/>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 Images loaded via PIL in RGB mode</a:t>
            </a:r>
            <a:endParaRPr lang="en-US" sz="1100" dirty="0"/>
          </a:p>
          <a:p>
            <a:pPr indent="0" marL="0">
              <a:buNone/>
            </a:pPr>
            <a:r>
              <a:rPr lang="en-US" sz="1100" dirty="0">
                <a:solidFill>
                  <a:srgbClr val="0F172A"/>
                </a:solidFill>
                <a:latin typeface="Calibri" pitchFamily="34" charset="0"/>
                <a:ea typeface="Calibri" pitchFamily="34" charset="-122"/>
                <a:cs typeface="Calibri" pitchFamily="34" charset="-120"/>
              </a:rPr>
              <a:t>• Resized to 224 × 224 pixels</a:t>
            </a:r>
            <a:endParaRPr lang="en-US" sz="1100" dirty="0"/>
          </a:p>
          <a:p>
            <a:pPr indent="0" marL="0">
              <a:buNone/>
            </a:pPr>
            <a:r>
              <a:rPr lang="en-US" sz="1100" dirty="0">
                <a:solidFill>
                  <a:srgbClr val="0F172A"/>
                </a:solidFill>
                <a:latin typeface="Calibri" pitchFamily="34" charset="0"/>
                <a:ea typeface="Calibri" pitchFamily="34" charset="-122"/>
                <a:cs typeface="Calibri" pitchFamily="34" charset="-120"/>
              </a:rPr>
              <a:t>• Normalized: μ = [0.485, 0.456, 0.406], σ = [0.229, 0.224, 0.225]</a:t>
            </a:r>
            <a:endParaRPr lang="en-US" sz="1100" dirty="0"/>
          </a:p>
          <a:p>
            <a:pPr indent="0" marL="0">
              <a:buNone/>
            </a:pPr>
            <a:r>
              <a:rPr lang="en-US" sz="1100" dirty="0">
                <a:solidFill>
                  <a:srgbClr val="0F172A"/>
                </a:solidFill>
                <a:latin typeface="Calibri" pitchFamily="34" charset="0"/>
                <a:ea typeface="Calibri" pitchFamily="34" charset="-122"/>
                <a:cs typeface="Calibri" pitchFamily="34" charset="-120"/>
              </a:rPr>
              <a:t>• 85% train / 15% validation stratified split</a:t>
            </a:r>
            <a:endParaRPr lang="en-US" sz="1100" dirty="0"/>
          </a:p>
        </p:txBody>
      </p:sp>
      <p:sp>
        <p:nvSpPr>
          <p:cNvPr id="23" name="Shape 21"/>
          <p:cNvSpPr/>
          <p:nvPr/>
        </p:nvSpPr>
        <p:spPr>
          <a:xfrm>
            <a:off x="4480560" y="749808"/>
            <a:ext cx="4434840" cy="4114800"/>
          </a:xfrm>
          <a:prstGeom prst="rect">
            <a:avLst/>
          </a:prstGeom>
          <a:solidFill>
            <a:srgbClr val="0D1B3E"/>
          </a:solidFill>
          <a:ln w="12700">
            <a:solidFill>
              <a:srgbClr val="0D1B3E"/>
            </a:solidFill>
            <a:prstDash val="solid"/>
          </a:ln>
        </p:spPr>
      </p:sp>
      <p:sp>
        <p:nvSpPr>
          <p:cNvPr id="24" name="Text 22"/>
          <p:cNvSpPr/>
          <p:nvPr/>
        </p:nvSpPr>
        <p:spPr>
          <a:xfrm>
            <a:off x="4572000" y="841248"/>
            <a:ext cx="4206240" cy="347472"/>
          </a:xfrm>
          <a:prstGeom prst="rect">
            <a:avLst/>
          </a:prstGeom>
          <a:noFill/>
          <a:ln/>
        </p:spPr>
        <p:txBody>
          <a:bodyPr wrap="square" lIns="0" tIns="0" rIns="0" bIns="0" rtlCol="0" anchor="ctr"/>
          <a:lstStyle/>
          <a:p>
            <a:pPr indent="0" marL="0">
              <a:buNone/>
            </a:pPr>
            <a:r>
              <a:rPr lang="en-US" sz="1300" b="1" dirty="0">
                <a:solidFill>
                  <a:srgbClr val="06B6D4"/>
                </a:solidFill>
                <a:latin typeface="Calibri" pitchFamily="34" charset="0"/>
                <a:ea typeface="Calibri" pitchFamily="34" charset="-122"/>
                <a:cs typeface="Calibri" pitchFamily="34" charset="-120"/>
              </a:rPr>
              <a:t>Training Augmentations</a:t>
            </a:r>
            <a:endParaRPr lang="en-US" sz="1300" dirty="0"/>
          </a:p>
        </p:txBody>
      </p:sp>
      <p:sp>
        <p:nvSpPr>
          <p:cNvPr id="25" name="Shape 23"/>
          <p:cNvSpPr/>
          <p:nvPr/>
        </p:nvSpPr>
        <p:spPr>
          <a:xfrm>
            <a:off x="4572000" y="1335024"/>
            <a:ext cx="54864" cy="457200"/>
          </a:xfrm>
          <a:prstGeom prst="rect">
            <a:avLst/>
          </a:prstGeom>
          <a:solidFill>
            <a:srgbClr val="2563EB"/>
          </a:solidFill>
          <a:ln w="12700">
            <a:solidFill>
              <a:srgbClr val="2563EB"/>
            </a:solidFill>
            <a:prstDash val="solid"/>
          </a:ln>
        </p:spPr>
      </p:sp>
      <p:sp>
        <p:nvSpPr>
          <p:cNvPr id="26" name="Text 24"/>
          <p:cNvSpPr/>
          <p:nvPr/>
        </p:nvSpPr>
        <p:spPr>
          <a:xfrm>
            <a:off x="4700016" y="1335024"/>
            <a:ext cx="41148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Random Resized Crop</a:t>
            </a:r>
            <a:endParaRPr lang="en-US" sz="1150" dirty="0"/>
          </a:p>
        </p:txBody>
      </p:sp>
      <p:sp>
        <p:nvSpPr>
          <p:cNvPr id="27" name="Text 25"/>
          <p:cNvSpPr/>
          <p:nvPr/>
        </p:nvSpPr>
        <p:spPr>
          <a:xfrm>
            <a:off x="4700016" y="1572768"/>
            <a:ext cx="4114800" cy="2194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Scale 0.7–1.0, final 224×224 (widened)</a:t>
            </a:r>
            <a:endParaRPr lang="en-US" sz="1000" dirty="0"/>
          </a:p>
        </p:txBody>
      </p:sp>
      <p:sp>
        <p:nvSpPr>
          <p:cNvPr id="28" name="Shape 26"/>
          <p:cNvSpPr/>
          <p:nvPr/>
        </p:nvSpPr>
        <p:spPr>
          <a:xfrm>
            <a:off x="4572000" y="1993392"/>
            <a:ext cx="54864" cy="457200"/>
          </a:xfrm>
          <a:prstGeom prst="rect">
            <a:avLst/>
          </a:prstGeom>
          <a:solidFill>
            <a:srgbClr val="0891B2"/>
          </a:solidFill>
          <a:ln w="12700">
            <a:solidFill>
              <a:srgbClr val="0891B2"/>
            </a:solidFill>
            <a:prstDash val="solid"/>
          </a:ln>
        </p:spPr>
      </p:sp>
      <p:sp>
        <p:nvSpPr>
          <p:cNvPr id="29" name="Text 27"/>
          <p:cNvSpPr/>
          <p:nvPr/>
        </p:nvSpPr>
        <p:spPr>
          <a:xfrm>
            <a:off x="4700016" y="1993392"/>
            <a:ext cx="41148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Random Horizontal Flip</a:t>
            </a:r>
            <a:endParaRPr lang="en-US" sz="1150" dirty="0"/>
          </a:p>
        </p:txBody>
      </p:sp>
      <p:sp>
        <p:nvSpPr>
          <p:cNvPr id="30" name="Text 28"/>
          <p:cNvSpPr/>
          <p:nvPr/>
        </p:nvSpPr>
        <p:spPr>
          <a:xfrm>
            <a:off x="4700016" y="2231136"/>
            <a:ext cx="4114800" cy="2194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p = 0.5, free augmentation</a:t>
            </a:r>
            <a:endParaRPr lang="en-US" sz="1000" dirty="0"/>
          </a:p>
        </p:txBody>
      </p:sp>
      <p:sp>
        <p:nvSpPr>
          <p:cNvPr id="31" name="Shape 29"/>
          <p:cNvSpPr/>
          <p:nvPr/>
        </p:nvSpPr>
        <p:spPr>
          <a:xfrm>
            <a:off x="4572000" y="2651760"/>
            <a:ext cx="54864" cy="457200"/>
          </a:xfrm>
          <a:prstGeom prst="rect">
            <a:avLst/>
          </a:prstGeom>
          <a:solidFill>
            <a:srgbClr val="7C3AED"/>
          </a:solidFill>
          <a:ln w="12700">
            <a:solidFill>
              <a:srgbClr val="7C3AED"/>
            </a:solidFill>
            <a:prstDash val="solid"/>
          </a:ln>
        </p:spPr>
      </p:sp>
      <p:sp>
        <p:nvSpPr>
          <p:cNvPr id="32" name="Text 30"/>
          <p:cNvSpPr/>
          <p:nvPr/>
        </p:nvSpPr>
        <p:spPr>
          <a:xfrm>
            <a:off x="4700016" y="2651760"/>
            <a:ext cx="41148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Color Jitter</a:t>
            </a:r>
            <a:endParaRPr lang="en-US" sz="1150" dirty="0"/>
          </a:p>
        </p:txBody>
      </p:sp>
      <p:sp>
        <p:nvSpPr>
          <p:cNvPr id="33" name="Text 31"/>
          <p:cNvSpPr/>
          <p:nvPr/>
        </p:nvSpPr>
        <p:spPr>
          <a:xfrm>
            <a:off x="4700016" y="2889504"/>
            <a:ext cx="4114800" cy="2194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Brightness, Contrast, Sat, Hue ±0.15</a:t>
            </a:r>
            <a:endParaRPr lang="en-US" sz="1000" dirty="0"/>
          </a:p>
        </p:txBody>
      </p:sp>
      <p:sp>
        <p:nvSpPr>
          <p:cNvPr id="34" name="Shape 32"/>
          <p:cNvSpPr/>
          <p:nvPr/>
        </p:nvSpPr>
        <p:spPr>
          <a:xfrm>
            <a:off x="4572000" y="3310128"/>
            <a:ext cx="54864" cy="457200"/>
          </a:xfrm>
          <a:prstGeom prst="rect">
            <a:avLst/>
          </a:prstGeom>
          <a:solidFill>
            <a:srgbClr val="F59E0B"/>
          </a:solidFill>
          <a:ln w="12700">
            <a:solidFill>
              <a:srgbClr val="F59E0B"/>
            </a:solidFill>
            <a:prstDash val="solid"/>
          </a:ln>
        </p:spPr>
      </p:sp>
      <p:sp>
        <p:nvSpPr>
          <p:cNvPr id="35" name="Text 33"/>
          <p:cNvSpPr/>
          <p:nvPr/>
        </p:nvSpPr>
        <p:spPr>
          <a:xfrm>
            <a:off x="4700016" y="3310128"/>
            <a:ext cx="41148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Gaussian Blur</a:t>
            </a:r>
            <a:endParaRPr lang="en-US" sz="1150" dirty="0"/>
          </a:p>
        </p:txBody>
      </p:sp>
      <p:sp>
        <p:nvSpPr>
          <p:cNvPr id="36" name="Text 34"/>
          <p:cNvSpPr/>
          <p:nvPr/>
        </p:nvSpPr>
        <p:spPr>
          <a:xfrm>
            <a:off x="4700016" y="3547872"/>
            <a:ext cx="4114800" cy="2194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Kernel 3×3 applied with p = 0.2</a:t>
            </a:r>
            <a:endParaRPr lang="en-US" sz="1000" dirty="0"/>
          </a:p>
        </p:txBody>
      </p:sp>
      <p:sp>
        <p:nvSpPr>
          <p:cNvPr id="37" name="Shape 35"/>
          <p:cNvSpPr/>
          <p:nvPr/>
        </p:nvSpPr>
        <p:spPr>
          <a:xfrm>
            <a:off x="4572000" y="3968496"/>
            <a:ext cx="54864" cy="457200"/>
          </a:xfrm>
          <a:prstGeom prst="rect">
            <a:avLst/>
          </a:prstGeom>
          <a:solidFill>
            <a:srgbClr val="10B981"/>
          </a:solidFill>
          <a:ln w="12700">
            <a:solidFill>
              <a:srgbClr val="10B981"/>
            </a:solidFill>
            <a:prstDash val="solid"/>
          </a:ln>
        </p:spPr>
      </p:sp>
      <p:sp>
        <p:nvSpPr>
          <p:cNvPr id="38" name="Text 36"/>
          <p:cNvSpPr/>
          <p:nvPr/>
        </p:nvSpPr>
        <p:spPr>
          <a:xfrm>
            <a:off x="4700016" y="3968496"/>
            <a:ext cx="41148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ImageNet Normalization</a:t>
            </a:r>
            <a:endParaRPr lang="en-US" sz="1150" dirty="0"/>
          </a:p>
        </p:txBody>
      </p:sp>
      <p:sp>
        <p:nvSpPr>
          <p:cNvPr id="39" name="Text 37"/>
          <p:cNvSpPr/>
          <p:nvPr/>
        </p:nvSpPr>
        <p:spPr>
          <a:xfrm>
            <a:off x="4700016" y="4206240"/>
            <a:ext cx="4114800" cy="2194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Standard mean &amp; std values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Methodology — Model Architecture</a:t>
            </a:r>
            <a:endParaRPr lang="en-US" sz="2200" dirty="0"/>
          </a:p>
        </p:txBody>
      </p:sp>
      <p:sp>
        <p:nvSpPr>
          <p:cNvPr id="5" name="Shape 3"/>
          <p:cNvSpPr/>
          <p:nvPr/>
        </p:nvSpPr>
        <p:spPr>
          <a:xfrm>
            <a:off x="228600" y="1371600"/>
            <a:ext cx="950976" cy="1051560"/>
          </a:xfrm>
          <a:prstGeom prst="rect">
            <a:avLst/>
          </a:prstGeom>
          <a:solidFill>
            <a:srgbClr val="0D1B3E"/>
          </a:solidFill>
          <a:ln w="12700">
            <a:solidFill>
              <a:srgbClr val="0D1B3E"/>
            </a:solidFill>
            <a:prstDash val="solid"/>
          </a:ln>
        </p:spPr>
      </p:sp>
      <p:sp>
        <p:nvSpPr>
          <p:cNvPr id="6" name="Text 4"/>
          <p:cNvSpPr/>
          <p:nvPr/>
        </p:nvSpPr>
        <p:spPr>
          <a:xfrm>
            <a:off x="228600"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3×224×224</a:t>
            </a:r>
            <a:endParaRPr lang="en-US" sz="900" dirty="0"/>
          </a:p>
        </p:txBody>
      </p:sp>
      <p:sp>
        <p:nvSpPr>
          <p:cNvPr id="7" name="Shape 5"/>
          <p:cNvSpPr/>
          <p:nvPr/>
        </p:nvSpPr>
        <p:spPr>
          <a:xfrm>
            <a:off x="1179576" y="1869948"/>
            <a:ext cx="137160" cy="54864"/>
          </a:xfrm>
          <a:prstGeom prst="rect">
            <a:avLst/>
          </a:prstGeom>
          <a:solidFill>
            <a:srgbClr val="94A3B8"/>
          </a:solidFill>
          <a:ln w="12700">
            <a:solidFill>
              <a:srgbClr val="94A3B8"/>
            </a:solidFill>
            <a:prstDash val="solid"/>
          </a:ln>
        </p:spPr>
      </p:sp>
      <p:sp>
        <p:nvSpPr>
          <p:cNvPr id="8" name="Shape 6"/>
          <p:cNvSpPr/>
          <p:nvPr/>
        </p:nvSpPr>
        <p:spPr>
          <a:xfrm>
            <a:off x="1316736" y="1371600"/>
            <a:ext cx="950976" cy="1051560"/>
          </a:xfrm>
          <a:prstGeom prst="rect">
            <a:avLst/>
          </a:prstGeom>
          <a:solidFill>
            <a:srgbClr val="2563EB"/>
          </a:solidFill>
          <a:ln w="12700">
            <a:solidFill>
              <a:srgbClr val="2563EB"/>
            </a:solidFill>
            <a:prstDash val="solid"/>
          </a:ln>
        </p:spPr>
      </p:sp>
      <p:sp>
        <p:nvSpPr>
          <p:cNvPr id="9" name="Text 7"/>
          <p:cNvSpPr/>
          <p:nvPr/>
        </p:nvSpPr>
        <p:spPr>
          <a:xfrm>
            <a:off x="1316736"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Stem</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7×7 Conv</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MaxPool</a:t>
            </a:r>
            <a:endParaRPr lang="en-US" sz="900" dirty="0"/>
          </a:p>
        </p:txBody>
      </p:sp>
      <p:sp>
        <p:nvSpPr>
          <p:cNvPr id="10" name="Shape 8"/>
          <p:cNvSpPr/>
          <p:nvPr/>
        </p:nvSpPr>
        <p:spPr>
          <a:xfrm>
            <a:off x="2267712" y="1869948"/>
            <a:ext cx="137160" cy="54864"/>
          </a:xfrm>
          <a:prstGeom prst="rect">
            <a:avLst/>
          </a:prstGeom>
          <a:solidFill>
            <a:srgbClr val="94A3B8"/>
          </a:solidFill>
          <a:ln w="12700">
            <a:solidFill>
              <a:srgbClr val="94A3B8"/>
            </a:solidFill>
            <a:prstDash val="solid"/>
          </a:ln>
        </p:spPr>
      </p:sp>
      <p:sp>
        <p:nvSpPr>
          <p:cNvPr id="11" name="Shape 9"/>
          <p:cNvSpPr/>
          <p:nvPr/>
        </p:nvSpPr>
        <p:spPr>
          <a:xfrm>
            <a:off x="2404872" y="1371600"/>
            <a:ext cx="950976" cy="1051560"/>
          </a:xfrm>
          <a:prstGeom prst="rect">
            <a:avLst/>
          </a:prstGeom>
          <a:solidFill>
            <a:srgbClr val="0891B2"/>
          </a:solidFill>
          <a:ln w="12700">
            <a:solidFill>
              <a:srgbClr val="0891B2"/>
            </a:solidFill>
            <a:prstDash val="solid"/>
          </a:ln>
        </p:spPr>
      </p:sp>
      <p:sp>
        <p:nvSpPr>
          <p:cNvPr id="12" name="Text 10"/>
          <p:cNvSpPr/>
          <p:nvPr/>
        </p:nvSpPr>
        <p:spPr>
          <a:xfrm>
            <a:off x="2404872"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Layer 1</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3× BasicBlock</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64 ch</a:t>
            </a:r>
            <a:endParaRPr lang="en-US" sz="900" dirty="0"/>
          </a:p>
        </p:txBody>
      </p:sp>
      <p:sp>
        <p:nvSpPr>
          <p:cNvPr id="13" name="Shape 11"/>
          <p:cNvSpPr/>
          <p:nvPr/>
        </p:nvSpPr>
        <p:spPr>
          <a:xfrm>
            <a:off x="3355848" y="1869948"/>
            <a:ext cx="137160" cy="54864"/>
          </a:xfrm>
          <a:prstGeom prst="rect">
            <a:avLst/>
          </a:prstGeom>
          <a:solidFill>
            <a:srgbClr val="94A3B8"/>
          </a:solidFill>
          <a:ln w="12700">
            <a:solidFill>
              <a:srgbClr val="94A3B8"/>
            </a:solidFill>
            <a:prstDash val="solid"/>
          </a:ln>
        </p:spPr>
      </p:sp>
      <p:sp>
        <p:nvSpPr>
          <p:cNvPr id="14" name="Shape 12"/>
          <p:cNvSpPr/>
          <p:nvPr/>
        </p:nvSpPr>
        <p:spPr>
          <a:xfrm>
            <a:off x="3493008" y="1371600"/>
            <a:ext cx="950976" cy="1051560"/>
          </a:xfrm>
          <a:prstGeom prst="rect">
            <a:avLst/>
          </a:prstGeom>
          <a:solidFill>
            <a:srgbClr val="0891B2"/>
          </a:solidFill>
          <a:ln w="12700">
            <a:solidFill>
              <a:srgbClr val="0891B2"/>
            </a:solidFill>
            <a:prstDash val="solid"/>
          </a:ln>
        </p:spPr>
      </p:sp>
      <p:sp>
        <p:nvSpPr>
          <p:cNvPr id="15" name="Text 13"/>
          <p:cNvSpPr/>
          <p:nvPr/>
        </p:nvSpPr>
        <p:spPr>
          <a:xfrm>
            <a:off x="3493008"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Layer 2</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4× BasicBlock</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128 ch</a:t>
            </a:r>
            <a:endParaRPr lang="en-US" sz="900" dirty="0"/>
          </a:p>
        </p:txBody>
      </p:sp>
      <p:sp>
        <p:nvSpPr>
          <p:cNvPr id="16" name="Shape 14"/>
          <p:cNvSpPr/>
          <p:nvPr/>
        </p:nvSpPr>
        <p:spPr>
          <a:xfrm>
            <a:off x="4443984" y="1869948"/>
            <a:ext cx="137160" cy="54864"/>
          </a:xfrm>
          <a:prstGeom prst="rect">
            <a:avLst/>
          </a:prstGeom>
          <a:solidFill>
            <a:srgbClr val="94A3B8"/>
          </a:solidFill>
          <a:ln w="12700">
            <a:solidFill>
              <a:srgbClr val="94A3B8"/>
            </a:solidFill>
            <a:prstDash val="solid"/>
          </a:ln>
        </p:spPr>
      </p:sp>
      <p:sp>
        <p:nvSpPr>
          <p:cNvPr id="17" name="Shape 15"/>
          <p:cNvSpPr/>
          <p:nvPr/>
        </p:nvSpPr>
        <p:spPr>
          <a:xfrm>
            <a:off x="4581144" y="1371600"/>
            <a:ext cx="950976" cy="1051560"/>
          </a:xfrm>
          <a:prstGeom prst="rect">
            <a:avLst/>
          </a:prstGeom>
          <a:solidFill>
            <a:srgbClr val="7C3AED"/>
          </a:solidFill>
          <a:ln w="12700">
            <a:solidFill>
              <a:srgbClr val="7C3AED"/>
            </a:solidFill>
            <a:prstDash val="solid"/>
          </a:ln>
        </p:spPr>
      </p:sp>
      <p:sp>
        <p:nvSpPr>
          <p:cNvPr id="18" name="Text 16"/>
          <p:cNvSpPr/>
          <p:nvPr/>
        </p:nvSpPr>
        <p:spPr>
          <a:xfrm>
            <a:off x="4581144"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Layer 3</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6× BasicBlock</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256 ch</a:t>
            </a:r>
            <a:endParaRPr lang="en-US" sz="900" dirty="0"/>
          </a:p>
        </p:txBody>
      </p:sp>
      <p:sp>
        <p:nvSpPr>
          <p:cNvPr id="19" name="Shape 17"/>
          <p:cNvSpPr/>
          <p:nvPr/>
        </p:nvSpPr>
        <p:spPr>
          <a:xfrm>
            <a:off x="5532120" y="1869948"/>
            <a:ext cx="137160" cy="54864"/>
          </a:xfrm>
          <a:prstGeom prst="rect">
            <a:avLst/>
          </a:prstGeom>
          <a:solidFill>
            <a:srgbClr val="94A3B8"/>
          </a:solidFill>
          <a:ln w="12700">
            <a:solidFill>
              <a:srgbClr val="94A3B8"/>
            </a:solidFill>
            <a:prstDash val="solid"/>
          </a:ln>
        </p:spPr>
      </p:sp>
      <p:sp>
        <p:nvSpPr>
          <p:cNvPr id="20" name="Shape 18"/>
          <p:cNvSpPr/>
          <p:nvPr/>
        </p:nvSpPr>
        <p:spPr>
          <a:xfrm>
            <a:off x="5669280" y="1371600"/>
            <a:ext cx="950976" cy="1051560"/>
          </a:xfrm>
          <a:prstGeom prst="rect">
            <a:avLst/>
          </a:prstGeom>
          <a:solidFill>
            <a:srgbClr val="7C3AED"/>
          </a:solidFill>
          <a:ln w="12700">
            <a:solidFill>
              <a:srgbClr val="7C3AED"/>
            </a:solidFill>
            <a:prstDash val="solid"/>
          </a:ln>
        </p:spPr>
      </p:sp>
      <p:sp>
        <p:nvSpPr>
          <p:cNvPr id="21" name="Text 19"/>
          <p:cNvSpPr/>
          <p:nvPr/>
        </p:nvSpPr>
        <p:spPr>
          <a:xfrm>
            <a:off x="5669280"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Layer 4</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3× BasicBlock</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512 ch</a:t>
            </a:r>
            <a:endParaRPr lang="en-US" sz="900" dirty="0"/>
          </a:p>
        </p:txBody>
      </p:sp>
      <p:sp>
        <p:nvSpPr>
          <p:cNvPr id="22" name="Shape 20"/>
          <p:cNvSpPr/>
          <p:nvPr/>
        </p:nvSpPr>
        <p:spPr>
          <a:xfrm>
            <a:off x="6620256" y="1869948"/>
            <a:ext cx="137160" cy="54864"/>
          </a:xfrm>
          <a:prstGeom prst="rect">
            <a:avLst/>
          </a:prstGeom>
          <a:solidFill>
            <a:srgbClr val="94A3B8"/>
          </a:solidFill>
          <a:ln w="12700">
            <a:solidFill>
              <a:srgbClr val="94A3B8"/>
            </a:solidFill>
            <a:prstDash val="solid"/>
          </a:ln>
        </p:spPr>
      </p:sp>
      <p:sp>
        <p:nvSpPr>
          <p:cNvPr id="23" name="Shape 21"/>
          <p:cNvSpPr/>
          <p:nvPr/>
        </p:nvSpPr>
        <p:spPr>
          <a:xfrm>
            <a:off x="6757416" y="1371600"/>
            <a:ext cx="950976" cy="1051560"/>
          </a:xfrm>
          <a:prstGeom prst="rect">
            <a:avLst/>
          </a:prstGeom>
          <a:solidFill>
            <a:srgbClr val="F59E0B"/>
          </a:solidFill>
          <a:ln w="12700">
            <a:solidFill>
              <a:srgbClr val="F59E0B"/>
            </a:solidFill>
            <a:prstDash val="solid"/>
          </a:ln>
        </p:spPr>
      </p:sp>
      <p:sp>
        <p:nvSpPr>
          <p:cNvPr id="24" name="Text 22"/>
          <p:cNvSpPr/>
          <p:nvPr/>
        </p:nvSpPr>
        <p:spPr>
          <a:xfrm>
            <a:off x="6757416"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GeM</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Pooling</a:t>
            </a:r>
            <a:endParaRPr lang="en-US" sz="900" dirty="0"/>
          </a:p>
        </p:txBody>
      </p:sp>
      <p:sp>
        <p:nvSpPr>
          <p:cNvPr id="25" name="Shape 23"/>
          <p:cNvSpPr/>
          <p:nvPr/>
        </p:nvSpPr>
        <p:spPr>
          <a:xfrm>
            <a:off x="7708392" y="1869948"/>
            <a:ext cx="137160" cy="54864"/>
          </a:xfrm>
          <a:prstGeom prst="rect">
            <a:avLst/>
          </a:prstGeom>
          <a:solidFill>
            <a:srgbClr val="94A3B8"/>
          </a:solidFill>
          <a:ln w="12700">
            <a:solidFill>
              <a:srgbClr val="94A3B8"/>
            </a:solidFill>
            <a:prstDash val="solid"/>
          </a:ln>
        </p:spPr>
      </p:sp>
      <p:sp>
        <p:nvSpPr>
          <p:cNvPr id="26" name="Shape 24"/>
          <p:cNvSpPr/>
          <p:nvPr/>
        </p:nvSpPr>
        <p:spPr>
          <a:xfrm>
            <a:off x="7845552" y="1371600"/>
            <a:ext cx="950976" cy="1051560"/>
          </a:xfrm>
          <a:prstGeom prst="rect">
            <a:avLst/>
          </a:prstGeom>
          <a:solidFill>
            <a:srgbClr val="10B981"/>
          </a:solidFill>
          <a:ln w="12700">
            <a:solidFill>
              <a:srgbClr val="10B981"/>
            </a:solidFill>
            <a:prstDash val="solid"/>
          </a:ln>
        </p:spPr>
      </p:sp>
      <p:sp>
        <p:nvSpPr>
          <p:cNvPr id="27" name="Text 25"/>
          <p:cNvSpPr/>
          <p:nvPr/>
        </p:nvSpPr>
        <p:spPr>
          <a:xfrm>
            <a:off x="7845552"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FC Head</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 1 logit</a:t>
            </a:r>
            <a:endParaRPr lang="en-US" sz="900" dirty="0"/>
          </a:p>
        </p:txBody>
      </p:sp>
      <p:sp>
        <p:nvSpPr>
          <p:cNvPr id="28" name="Text 26"/>
          <p:cNvSpPr/>
          <p:nvPr/>
        </p:nvSpPr>
        <p:spPr>
          <a:xfrm>
            <a:off x="228600" y="2633472"/>
            <a:ext cx="8686800" cy="320040"/>
          </a:xfrm>
          <a:prstGeom prst="rect">
            <a:avLst/>
          </a:prstGeom>
          <a:noFill/>
          <a:ln/>
        </p:spPr>
        <p:txBody>
          <a:bodyPr wrap="square" lIns="0" tIns="0" rIns="0" bIns="0" rtlCol="0" anchor="ctr"/>
          <a:lstStyle/>
          <a:p>
            <a:pPr indent="0" marL="0">
              <a:buNone/>
            </a:pPr>
            <a:r>
              <a:rPr lang="en-US" sz="1300" b="1" dirty="0">
                <a:solidFill>
                  <a:srgbClr val="0D1B3E"/>
                </a:solidFill>
                <a:latin typeface="Calibri" pitchFamily="34" charset="0"/>
                <a:ea typeface="Calibri" pitchFamily="34" charset="-122"/>
                <a:cs typeface="Calibri" pitchFamily="34" charset="-120"/>
              </a:rPr>
              <a:t>Inside Each BasicBlock</a:t>
            </a:r>
            <a:endParaRPr lang="en-US" sz="1300" dirty="0"/>
          </a:p>
        </p:txBody>
      </p:sp>
      <p:sp>
        <p:nvSpPr>
          <p:cNvPr id="29" name="Shape 27"/>
          <p:cNvSpPr/>
          <p:nvPr/>
        </p:nvSpPr>
        <p:spPr>
          <a:xfrm>
            <a:off x="228600" y="3017520"/>
            <a:ext cx="2788920" cy="1737360"/>
          </a:xfrm>
          <a:prstGeom prst="rect">
            <a:avLst/>
          </a:prstGeom>
          <a:solidFill>
            <a:srgbClr val="EFF6FF"/>
          </a:solidFill>
          <a:ln w="6350">
            <a:solidFill>
              <a:srgbClr val="E2E8F0"/>
            </a:solidFill>
            <a:prstDash val="solid"/>
          </a:ln>
        </p:spPr>
      </p:sp>
      <p:sp>
        <p:nvSpPr>
          <p:cNvPr id="30" name="Shape 28"/>
          <p:cNvSpPr/>
          <p:nvPr/>
        </p:nvSpPr>
        <p:spPr>
          <a:xfrm>
            <a:off x="365760" y="3127248"/>
            <a:ext cx="329184" cy="329184"/>
          </a:xfrm>
          <a:prstGeom prst="ellipse">
            <a:avLst/>
          </a:prstGeom>
          <a:solidFill>
            <a:srgbClr val="2563EB"/>
          </a:solidFill>
          <a:ln w="12700">
            <a:solidFill>
              <a:srgbClr val="2563EB"/>
            </a:solidFill>
            <a:prstDash val="solid"/>
          </a:ln>
        </p:spPr>
      </p:sp>
      <p:sp>
        <p:nvSpPr>
          <p:cNvPr id="31" name="Text 29"/>
          <p:cNvSpPr/>
          <p:nvPr/>
        </p:nvSpPr>
        <p:spPr>
          <a:xfrm>
            <a:off x="365760" y="31272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2" name="Text 30"/>
          <p:cNvSpPr/>
          <p:nvPr/>
        </p:nvSpPr>
        <p:spPr>
          <a:xfrm>
            <a:off x="758952" y="3090672"/>
            <a:ext cx="2194560" cy="347472"/>
          </a:xfrm>
          <a:prstGeom prst="rect">
            <a:avLst/>
          </a:prstGeom>
          <a:noFill/>
          <a:ln/>
        </p:spPr>
        <p:txBody>
          <a:bodyPr wrap="square" lIns="0" tIns="0" rIns="0" bIns="0" rtlCol="0" anchor="ctr"/>
          <a:lstStyle/>
          <a:p>
            <a:pPr indent="0" marL="0">
              <a:buNone/>
            </a:pPr>
            <a:r>
              <a:rPr lang="en-US" sz="1200" b="1" dirty="0">
                <a:solidFill>
                  <a:srgbClr val="0D1B3E"/>
                </a:solidFill>
                <a:latin typeface="Calibri" pitchFamily="34" charset="0"/>
                <a:ea typeface="Calibri" pitchFamily="34" charset="-122"/>
                <a:cs typeface="Calibri" pitchFamily="34" charset="-120"/>
              </a:rPr>
              <a:t>Channel Attention</a:t>
            </a:r>
            <a:endParaRPr lang="en-US" sz="1200" dirty="0"/>
          </a:p>
        </p:txBody>
      </p:sp>
      <p:sp>
        <p:nvSpPr>
          <p:cNvPr id="33" name="Text 31"/>
          <p:cNvSpPr/>
          <p:nvPr/>
        </p:nvSpPr>
        <p:spPr>
          <a:xfrm>
            <a:off x="393192" y="3493008"/>
            <a:ext cx="2468880" cy="11887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Avg + Max pool → shared MLP → sigmoid gate → re-scale channels</a:t>
            </a:r>
            <a:endParaRPr lang="en-US" sz="1050" dirty="0"/>
          </a:p>
        </p:txBody>
      </p:sp>
      <p:sp>
        <p:nvSpPr>
          <p:cNvPr id="34" name="Shape 32"/>
          <p:cNvSpPr/>
          <p:nvPr/>
        </p:nvSpPr>
        <p:spPr>
          <a:xfrm>
            <a:off x="3154680" y="3017520"/>
            <a:ext cx="2788920" cy="1737360"/>
          </a:xfrm>
          <a:prstGeom prst="rect">
            <a:avLst/>
          </a:prstGeom>
          <a:solidFill>
            <a:srgbClr val="EFF6FF"/>
          </a:solidFill>
          <a:ln w="6350">
            <a:solidFill>
              <a:srgbClr val="E2E8F0"/>
            </a:solidFill>
            <a:prstDash val="solid"/>
          </a:ln>
        </p:spPr>
      </p:sp>
      <p:sp>
        <p:nvSpPr>
          <p:cNvPr id="35" name="Shape 33"/>
          <p:cNvSpPr/>
          <p:nvPr/>
        </p:nvSpPr>
        <p:spPr>
          <a:xfrm>
            <a:off x="3291840" y="3127248"/>
            <a:ext cx="329184" cy="329184"/>
          </a:xfrm>
          <a:prstGeom prst="ellipse">
            <a:avLst/>
          </a:prstGeom>
          <a:solidFill>
            <a:srgbClr val="0891B2"/>
          </a:solidFill>
          <a:ln w="12700">
            <a:solidFill>
              <a:srgbClr val="0891B2"/>
            </a:solidFill>
            <a:prstDash val="solid"/>
          </a:ln>
        </p:spPr>
      </p:sp>
      <p:sp>
        <p:nvSpPr>
          <p:cNvPr id="36" name="Text 34"/>
          <p:cNvSpPr/>
          <p:nvPr/>
        </p:nvSpPr>
        <p:spPr>
          <a:xfrm>
            <a:off x="3291840" y="31272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7" name="Text 35"/>
          <p:cNvSpPr/>
          <p:nvPr/>
        </p:nvSpPr>
        <p:spPr>
          <a:xfrm>
            <a:off x="3685032" y="3090672"/>
            <a:ext cx="2194560" cy="347472"/>
          </a:xfrm>
          <a:prstGeom prst="rect">
            <a:avLst/>
          </a:prstGeom>
          <a:noFill/>
          <a:ln/>
        </p:spPr>
        <p:txBody>
          <a:bodyPr wrap="square" lIns="0" tIns="0" rIns="0" bIns="0" rtlCol="0" anchor="ctr"/>
          <a:lstStyle/>
          <a:p>
            <a:pPr indent="0" marL="0">
              <a:buNone/>
            </a:pPr>
            <a:r>
              <a:rPr lang="en-US" sz="1200" b="1" dirty="0">
                <a:solidFill>
                  <a:srgbClr val="0D1B3E"/>
                </a:solidFill>
                <a:latin typeface="Calibri" pitchFamily="34" charset="0"/>
                <a:ea typeface="Calibri" pitchFamily="34" charset="-122"/>
                <a:cs typeface="Calibri" pitchFamily="34" charset="-120"/>
              </a:rPr>
              <a:t>Spatial Attention</a:t>
            </a:r>
            <a:endParaRPr lang="en-US" sz="1200" dirty="0"/>
          </a:p>
        </p:txBody>
      </p:sp>
      <p:sp>
        <p:nvSpPr>
          <p:cNvPr id="38" name="Text 36"/>
          <p:cNvSpPr/>
          <p:nvPr/>
        </p:nvSpPr>
        <p:spPr>
          <a:xfrm>
            <a:off x="3319272" y="3493008"/>
            <a:ext cx="2468880" cy="11887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Channel-wise avg &amp; max concat → 7×7 Conv → sigmoid → re-scale</a:t>
            </a:r>
            <a:endParaRPr lang="en-US" sz="1050" dirty="0"/>
          </a:p>
        </p:txBody>
      </p:sp>
      <p:sp>
        <p:nvSpPr>
          <p:cNvPr id="39" name="Shape 37"/>
          <p:cNvSpPr/>
          <p:nvPr/>
        </p:nvSpPr>
        <p:spPr>
          <a:xfrm>
            <a:off x="6080760" y="3017520"/>
            <a:ext cx="2788920" cy="1737360"/>
          </a:xfrm>
          <a:prstGeom prst="rect">
            <a:avLst/>
          </a:prstGeom>
          <a:solidFill>
            <a:srgbClr val="EFF6FF"/>
          </a:solidFill>
          <a:ln w="6350">
            <a:solidFill>
              <a:srgbClr val="E2E8F0"/>
            </a:solidFill>
            <a:prstDash val="solid"/>
          </a:ln>
        </p:spPr>
      </p:sp>
      <p:sp>
        <p:nvSpPr>
          <p:cNvPr id="40" name="Shape 38"/>
          <p:cNvSpPr/>
          <p:nvPr/>
        </p:nvSpPr>
        <p:spPr>
          <a:xfrm>
            <a:off x="6217920" y="3127248"/>
            <a:ext cx="329184" cy="329184"/>
          </a:xfrm>
          <a:prstGeom prst="ellipse">
            <a:avLst/>
          </a:prstGeom>
          <a:solidFill>
            <a:srgbClr val="E11D48"/>
          </a:solidFill>
          <a:ln w="12700">
            <a:solidFill>
              <a:srgbClr val="E11D48"/>
            </a:solidFill>
            <a:prstDash val="solid"/>
          </a:ln>
        </p:spPr>
      </p:sp>
      <p:sp>
        <p:nvSpPr>
          <p:cNvPr id="41" name="Text 39"/>
          <p:cNvSpPr/>
          <p:nvPr/>
        </p:nvSpPr>
        <p:spPr>
          <a:xfrm>
            <a:off x="6217920" y="31272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p:nvPr/>
        </p:nvSpPr>
        <p:spPr>
          <a:xfrm>
            <a:off x="6611112" y="3090672"/>
            <a:ext cx="2194560" cy="347472"/>
          </a:xfrm>
          <a:prstGeom prst="rect">
            <a:avLst/>
          </a:prstGeom>
          <a:noFill/>
          <a:ln/>
        </p:spPr>
        <p:txBody>
          <a:bodyPr wrap="square" lIns="0" tIns="0" rIns="0" bIns="0" rtlCol="0" anchor="ctr"/>
          <a:lstStyle/>
          <a:p>
            <a:pPr indent="0" marL="0">
              <a:buNone/>
            </a:pPr>
            <a:r>
              <a:rPr lang="en-US" sz="1200" b="1" dirty="0">
                <a:solidFill>
                  <a:srgbClr val="0D1B3E"/>
                </a:solidFill>
                <a:latin typeface="Calibri" pitchFamily="34" charset="0"/>
                <a:ea typeface="Calibri" pitchFamily="34" charset="-122"/>
                <a:cs typeface="Calibri" pitchFamily="34" charset="-120"/>
              </a:rPr>
              <a:t>Stochastic Depth</a:t>
            </a:r>
            <a:endParaRPr lang="en-US" sz="1200" dirty="0"/>
          </a:p>
        </p:txBody>
      </p:sp>
      <p:sp>
        <p:nvSpPr>
          <p:cNvPr id="43" name="Text 41"/>
          <p:cNvSpPr/>
          <p:nvPr/>
        </p:nvSpPr>
        <p:spPr>
          <a:xfrm>
            <a:off x="6245352" y="3493008"/>
            <a:ext cx="2468880" cy="11887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DropPath: linearly scaled drop rate 0 → 0.1 across 16 blocks. Active only at train time.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Methodology — Training Strategy</a:t>
            </a:r>
            <a:endParaRPr lang="en-US" sz="2200" dirty="0"/>
          </a:p>
        </p:txBody>
      </p:sp>
      <p:sp>
        <p:nvSpPr>
          <p:cNvPr id="5" name="Shape 3"/>
          <p:cNvSpPr/>
          <p:nvPr/>
        </p:nvSpPr>
        <p:spPr>
          <a:xfrm>
            <a:off x="182880" y="80467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182880" y="804672"/>
            <a:ext cx="2834640" cy="347472"/>
          </a:xfrm>
          <a:prstGeom prst="rect">
            <a:avLst/>
          </a:prstGeom>
          <a:solidFill>
            <a:srgbClr val="2563EB"/>
          </a:solidFill>
          <a:ln w="12700">
            <a:solidFill>
              <a:srgbClr val="2563EB"/>
            </a:solidFill>
            <a:prstDash val="solid"/>
          </a:ln>
        </p:spPr>
      </p:sp>
      <p:sp>
        <p:nvSpPr>
          <p:cNvPr id="7" name="Text 5"/>
          <p:cNvSpPr/>
          <p:nvPr/>
        </p:nvSpPr>
        <p:spPr>
          <a:xfrm>
            <a:off x="292608" y="82296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Optimizer: AdamW</a:t>
            </a:r>
            <a:endParaRPr lang="en-US" sz="1200" dirty="0"/>
          </a:p>
        </p:txBody>
      </p:sp>
      <p:sp>
        <p:nvSpPr>
          <p:cNvPr id="8" name="Text 6"/>
          <p:cNvSpPr/>
          <p:nvPr/>
        </p:nvSpPr>
        <p:spPr>
          <a:xfrm>
            <a:off x="292608" y="120700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lr = 7 × 10⁻⁴, weight decay = 1 × 10⁻⁴</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Decoupled weight decay regularization</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Applied to all model parameters</a:t>
            </a:r>
            <a:endParaRPr lang="en-US" sz="1100" dirty="0"/>
          </a:p>
        </p:txBody>
      </p:sp>
      <p:sp>
        <p:nvSpPr>
          <p:cNvPr id="9" name="Shape 7"/>
          <p:cNvSpPr/>
          <p:nvPr/>
        </p:nvSpPr>
        <p:spPr>
          <a:xfrm>
            <a:off x="3154680" y="80467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10" name="Shape 8"/>
          <p:cNvSpPr/>
          <p:nvPr/>
        </p:nvSpPr>
        <p:spPr>
          <a:xfrm>
            <a:off x="3154680" y="804672"/>
            <a:ext cx="2834640" cy="347472"/>
          </a:xfrm>
          <a:prstGeom prst="rect">
            <a:avLst/>
          </a:prstGeom>
          <a:solidFill>
            <a:srgbClr val="0891B2"/>
          </a:solidFill>
          <a:ln w="12700">
            <a:solidFill>
              <a:srgbClr val="0891B2"/>
            </a:solidFill>
            <a:prstDash val="solid"/>
          </a:ln>
        </p:spPr>
      </p:sp>
      <p:sp>
        <p:nvSpPr>
          <p:cNvPr id="11" name="Text 9"/>
          <p:cNvSpPr/>
          <p:nvPr/>
        </p:nvSpPr>
        <p:spPr>
          <a:xfrm>
            <a:off x="3264408" y="82296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LR Schedule: Full Cosine Annealing</a:t>
            </a:r>
            <a:endParaRPr lang="en-US" sz="1200" dirty="0"/>
          </a:p>
        </p:txBody>
      </p:sp>
      <p:sp>
        <p:nvSpPr>
          <p:cNvPr id="12" name="Text 10"/>
          <p:cNvSpPr/>
          <p:nvPr/>
        </p:nvSpPr>
        <p:spPr>
          <a:xfrm>
            <a:off x="3264408" y="120700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5 warm-up epochs (linear ramp)</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Full cosine decay — no LR floor</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Enables maximum late-stage convergence</a:t>
            </a:r>
            <a:endParaRPr lang="en-US" sz="1100" dirty="0"/>
          </a:p>
        </p:txBody>
      </p:sp>
      <p:sp>
        <p:nvSpPr>
          <p:cNvPr id="13" name="Shape 11"/>
          <p:cNvSpPr/>
          <p:nvPr/>
        </p:nvSpPr>
        <p:spPr>
          <a:xfrm>
            <a:off x="6126480" y="80467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6126480" y="804672"/>
            <a:ext cx="2834640" cy="347472"/>
          </a:xfrm>
          <a:prstGeom prst="rect">
            <a:avLst/>
          </a:prstGeom>
          <a:solidFill>
            <a:srgbClr val="7C3AED"/>
          </a:solidFill>
          <a:ln w="12700">
            <a:solidFill>
              <a:srgbClr val="7C3AED"/>
            </a:solidFill>
            <a:prstDash val="solid"/>
          </a:ln>
        </p:spPr>
      </p:sp>
      <p:sp>
        <p:nvSpPr>
          <p:cNvPr id="15" name="Text 13"/>
          <p:cNvSpPr/>
          <p:nvPr/>
        </p:nvSpPr>
        <p:spPr>
          <a:xfrm>
            <a:off x="6236208" y="82296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Loss: Pure BCE (no smoothing)</a:t>
            </a:r>
            <a:endParaRPr lang="en-US" sz="1200" dirty="0"/>
          </a:p>
        </p:txBody>
      </p:sp>
      <p:sp>
        <p:nvSpPr>
          <p:cNvPr id="16" name="Text 14"/>
          <p:cNvSpPr/>
          <p:nvPr/>
        </p:nvSpPr>
        <p:spPr>
          <a:xfrm>
            <a:off x="6236208" y="120700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Label smoothing disabled (ε = 0.0)</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Hard targets preserve binary signal</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Cleaner gradient for binary tasks</a:t>
            </a:r>
            <a:endParaRPr lang="en-US" sz="1100" dirty="0"/>
          </a:p>
        </p:txBody>
      </p:sp>
      <p:sp>
        <p:nvSpPr>
          <p:cNvPr id="17" name="Shape 15"/>
          <p:cNvSpPr/>
          <p:nvPr/>
        </p:nvSpPr>
        <p:spPr>
          <a:xfrm>
            <a:off x="182880" y="295351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18" name="Shape 16"/>
          <p:cNvSpPr/>
          <p:nvPr/>
        </p:nvSpPr>
        <p:spPr>
          <a:xfrm>
            <a:off x="182880" y="2953512"/>
            <a:ext cx="2834640" cy="347472"/>
          </a:xfrm>
          <a:prstGeom prst="rect">
            <a:avLst/>
          </a:prstGeom>
          <a:solidFill>
            <a:srgbClr val="F59E0B"/>
          </a:solidFill>
          <a:ln w="12700">
            <a:solidFill>
              <a:srgbClr val="F59E0B"/>
            </a:solidFill>
            <a:prstDash val="solid"/>
          </a:ln>
        </p:spPr>
      </p:sp>
      <p:sp>
        <p:nvSpPr>
          <p:cNvPr id="19" name="Text 17"/>
          <p:cNvSpPr/>
          <p:nvPr/>
        </p:nvSpPr>
        <p:spPr>
          <a:xfrm>
            <a:off x="292608" y="297180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Regularization + Stochastic Depth</a:t>
            </a:r>
            <a:endParaRPr lang="en-US" sz="1200" dirty="0"/>
          </a:p>
        </p:txBody>
      </p:sp>
      <p:sp>
        <p:nvSpPr>
          <p:cNvPr id="20" name="Text 18"/>
          <p:cNvSpPr/>
          <p:nvPr/>
        </p:nvSpPr>
        <p:spPr>
          <a:xfrm>
            <a:off x="292608" y="335584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DropPath: linear rate 0 → 0.1 across 16 blocks</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Dropout p = 0.3 (head) &amp; 0.15 (mid)</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Gradient clipping max norm = 1.0</a:t>
            </a:r>
            <a:endParaRPr lang="en-US" sz="1100" dirty="0"/>
          </a:p>
        </p:txBody>
      </p:sp>
      <p:sp>
        <p:nvSpPr>
          <p:cNvPr id="21" name="Shape 19"/>
          <p:cNvSpPr/>
          <p:nvPr/>
        </p:nvSpPr>
        <p:spPr>
          <a:xfrm>
            <a:off x="3154680" y="295351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22" name="Shape 20"/>
          <p:cNvSpPr/>
          <p:nvPr/>
        </p:nvSpPr>
        <p:spPr>
          <a:xfrm>
            <a:off x="3154680" y="2953512"/>
            <a:ext cx="2834640" cy="347472"/>
          </a:xfrm>
          <a:prstGeom prst="rect">
            <a:avLst/>
          </a:prstGeom>
          <a:solidFill>
            <a:srgbClr val="10B981"/>
          </a:solidFill>
          <a:ln w="12700">
            <a:solidFill>
              <a:srgbClr val="10B981"/>
            </a:solidFill>
            <a:prstDash val="solid"/>
          </a:ln>
        </p:spPr>
      </p:sp>
      <p:sp>
        <p:nvSpPr>
          <p:cNvPr id="23" name="Text 21"/>
          <p:cNvSpPr/>
          <p:nvPr/>
        </p:nvSpPr>
        <p:spPr>
          <a:xfrm>
            <a:off x="3264408" y="297180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Early Stopping</a:t>
            </a:r>
            <a:endParaRPr lang="en-US" sz="1200" dirty="0"/>
          </a:p>
        </p:txBody>
      </p:sp>
      <p:sp>
        <p:nvSpPr>
          <p:cNvPr id="24" name="Text 22"/>
          <p:cNvSpPr/>
          <p:nvPr/>
        </p:nvSpPr>
        <p:spPr>
          <a:xfrm>
            <a:off x="3264408" y="335584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Monitor validation accuracy</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Patience increased: 10 → 15 epochs</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Allows longer recovery from plateaus</a:t>
            </a:r>
            <a:endParaRPr lang="en-US" sz="1100" dirty="0"/>
          </a:p>
        </p:txBody>
      </p:sp>
      <p:sp>
        <p:nvSpPr>
          <p:cNvPr id="25" name="Shape 23"/>
          <p:cNvSpPr/>
          <p:nvPr/>
        </p:nvSpPr>
        <p:spPr>
          <a:xfrm>
            <a:off x="6126480" y="295351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26" name="Shape 24"/>
          <p:cNvSpPr/>
          <p:nvPr/>
        </p:nvSpPr>
        <p:spPr>
          <a:xfrm>
            <a:off x="6126480" y="2953512"/>
            <a:ext cx="2834640" cy="347472"/>
          </a:xfrm>
          <a:prstGeom prst="rect">
            <a:avLst/>
          </a:prstGeom>
          <a:solidFill>
            <a:srgbClr val="F97316"/>
          </a:solidFill>
          <a:ln w="12700">
            <a:solidFill>
              <a:srgbClr val="F97316"/>
            </a:solidFill>
            <a:prstDash val="solid"/>
          </a:ln>
        </p:spPr>
      </p:sp>
      <p:sp>
        <p:nvSpPr>
          <p:cNvPr id="27" name="Text 25"/>
          <p:cNvSpPr/>
          <p:nvPr/>
        </p:nvSpPr>
        <p:spPr>
          <a:xfrm>
            <a:off x="6236208" y="297180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Threshold Optimization</a:t>
            </a:r>
            <a:endParaRPr lang="en-US" sz="1200" dirty="0"/>
          </a:p>
        </p:txBody>
      </p:sp>
      <p:sp>
        <p:nvSpPr>
          <p:cNvPr id="28" name="Text 26"/>
          <p:cNvSpPr/>
          <p:nvPr/>
        </p:nvSpPr>
        <p:spPr>
          <a:xfrm>
            <a:off x="6236208" y="335584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Wider search: [0.05, 0.95] with 401 steps</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Finer resolution &amp; broader range</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Better calibrated decision boundary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Experimentation — Configuration &amp; Setup</a:t>
            </a:r>
            <a:endParaRPr lang="en-US" sz="2200" dirty="0"/>
          </a:p>
        </p:txBody>
      </p:sp>
      <p:sp>
        <p:nvSpPr>
          <p:cNvPr id="5" name="Text 3"/>
          <p:cNvSpPr/>
          <p:nvPr/>
        </p:nvSpPr>
        <p:spPr>
          <a:xfrm>
            <a:off x="228600" y="749808"/>
            <a:ext cx="4572000" cy="347472"/>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Hyperparameter Configuration</a:t>
            </a:r>
            <a:endParaRPr lang="en-US" sz="1400" dirty="0"/>
          </a:p>
        </p:txBody>
      </p:sp>
      <p:sp>
        <p:nvSpPr>
          <p:cNvPr id="6" name="Shape 4"/>
          <p:cNvSpPr/>
          <p:nvPr/>
        </p:nvSpPr>
        <p:spPr>
          <a:xfrm>
            <a:off x="228600" y="1170432"/>
            <a:ext cx="1828800" cy="347472"/>
          </a:xfrm>
          <a:prstGeom prst="rect">
            <a:avLst/>
          </a:prstGeom>
          <a:solidFill>
            <a:srgbClr val="0D1B3E"/>
          </a:solidFill>
          <a:ln w="6350">
            <a:solidFill>
              <a:srgbClr val="E2E8F0"/>
            </a:solidFill>
            <a:prstDash val="solid"/>
          </a:ln>
        </p:spPr>
      </p:sp>
      <p:sp>
        <p:nvSpPr>
          <p:cNvPr id="7" name="Text 5"/>
          <p:cNvSpPr/>
          <p:nvPr/>
        </p:nvSpPr>
        <p:spPr>
          <a:xfrm>
            <a:off x="301752" y="1170432"/>
            <a:ext cx="1755648"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Parameter</a:t>
            </a:r>
            <a:endParaRPr lang="en-US" sz="1050" dirty="0"/>
          </a:p>
        </p:txBody>
      </p:sp>
      <p:sp>
        <p:nvSpPr>
          <p:cNvPr id="8" name="Shape 6"/>
          <p:cNvSpPr/>
          <p:nvPr/>
        </p:nvSpPr>
        <p:spPr>
          <a:xfrm>
            <a:off x="2075688" y="1170432"/>
            <a:ext cx="1463040" cy="347472"/>
          </a:xfrm>
          <a:prstGeom prst="rect">
            <a:avLst/>
          </a:prstGeom>
          <a:solidFill>
            <a:srgbClr val="0D1B3E"/>
          </a:solidFill>
          <a:ln w="6350">
            <a:solidFill>
              <a:srgbClr val="E2E8F0"/>
            </a:solidFill>
            <a:prstDash val="solid"/>
          </a:ln>
        </p:spPr>
      </p:sp>
      <p:sp>
        <p:nvSpPr>
          <p:cNvPr id="9" name="Text 7"/>
          <p:cNvSpPr/>
          <p:nvPr/>
        </p:nvSpPr>
        <p:spPr>
          <a:xfrm>
            <a:off x="2148840" y="1170432"/>
            <a:ext cx="1389888"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Value</a:t>
            </a:r>
            <a:endParaRPr lang="en-US" sz="1050" dirty="0"/>
          </a:p>
        </p:txBody>
      </p:sp>
      <p:sp>
        <p:nvSpPr>
          <p:cNvPr id="10" name="Shape 8"/>
          <p:cNvSpPr/>
          <p:nvPr/>
        </p:nvSpPr>
        <p:spPr>
          <a:xfrm>
            <a:off x="3557016" y="1170432"/>
            <a:ext cx="1828800" cy="347472"/>
          </a:xfrm>
          <a:prstGeom prst="rect">
            <a:avLst/>
          </a:prstGeom>
          <a:solidFill>
            <a:srgbClr val="0D1B3E"/>
          </a:solidFill>
          <a:ln w="6350">
            <a:solidFill>
              <a:srgbClr val="E2E8F0"/>
            </a:solidFill>
            <a:prstDash val="solid"/>
          </a:ln>
        </p:spPr>
      </p:sp>
      <p:sp>
        <p:nvSpPr>
          <p:cNvPr id="11" name="Text 9"/>
          <p:cNvSpPr/>
          <p:nvPr/>
        </p:nvSpPr>
        <p:spPr>
          <a:xfrm>
            <a:off x="3630168" y="1170432"/>
            <a:ext cx="1755648"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Change in v3</a:t>
            </a:r>
            <a:endParaRPr lang="en-US" sz="1050" dirty="0"/>
          </a:p>
        </p:txBody>
      </p:sp>
      <p:sp>
        <p:nvSpPr>
          <p:cNvPr id="12" name="Shape 10"/>
          <p:cNvSpPr/>
          <p:nvPr/>
        </p:nvSpPr>
        <p:spPr>
          <a:xfrm>
            <a:off x="228600" y="1517904"/>
            <a:ext cx="1828800" cy="347472"/>
          </a:xfrm>
          <a:prstGeom prst="rect">
            <a:avLst/>
          </a:prstGeom>
          <a:solidFill>
            <a:srgbClr val="FFFFFF"/>
          </a:solidFill>
          <a:ln w="6350">
            <a:solidFill>
              <a:srgbClr val="E2E8F0"/>
            </a:solidFill>
            <a:prstDash val="solid"/>
          </a:ln>
        </p:spPr>
      </p:sp>
      <p:sp>
        <p:nvSpPr>
          <p:cNvPr id="13" name="Text 11"/>
          <p:cNvSpPr/>
          <p:nvPr/>
        </p:nvSpPr>
        <p:spPr>
          <a:xfrm>
            <a:off x="301752" y="1517904"/>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Image Size</a:t>
            </a:r>
            <a:endParaRPr lang="en-US" sz="1000" dirty="0"/>
          </a:p>
        </p:txBody>
      </p:sp>
      <p:sp>
        <p:nvSpPr>
          <p:cNvPr id="14" name="Shape 12"/>
          <p:cNvSpPr/>
          <p:nvPr/>
        </p:nvSpPr>
        <p:spPr>
          <a:xfrm>
            <a:off x="2075688" y="1517904"/>
            <a:ext cx="1463040" cy="347472"/>
          </a:xfrm>
          <a:prstGeom prst="rect">
            <a:avLst/>
          </a:prstGeom>
          <a:solidFill>
            <a:srgbClr val="FFFFFF"/>
          </a:solidFill>
          <a:ln w="6350">
            <a:solidFill>
              <a:srgbClr val="E2E8F0"/>
            </a:solidFill>
            <a:prstDash val="solid"/>
          </a:ln>
        </p:spPr>
      </p:sp>
      <p:sp>
        <p:nvSpPr>
          <p:cNvPr id="15" name="Text 13"/>
          <p:cNvSpPr/>
          <p:nvPr/>
        </p:nvSpPr>
        <p:spPr>
          <a:xfrm>
            <a:off x="2148840" y="1517904"/>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224 × 224</a:t>
            </a:r>
            <a:endParaRPr lang="en-US" sz="1000" dirty="0"/>
          </a:p>
        </p:txBody>
      </p:sp>
      <p:sp>
        <p:nvSpPr>
          <p:cNvPr id="16" name="Shape 14"/>
          <p:cNvSpPr/>
          <p:nvPr/>
        </p:nvSpPr>
        <p:spPr>
          <a:xfrm>
            <a:off x="3557016" y="1517904"/>
            <a:ext cx="1828800" cy="347472"/>
          </a:xfrm>
          <a:prstGeom prst="rect">
            <a:avLst/>
          </a:prstGeom>
          <a:solidFill>
            <a:srgbClr val="FFFFFF"/>
          </a:solidFill>
          <a:ln w="6350">
            <a:solidFill>
              <a:srgbClr val="E2E8F0"/>
            </a:solidFill>
            <a:prstDash val="solid"/>
          </a:ln>
        </p:spPr>
      </p:sp>
      <p:sp>
        <p:nvSpPr>
          <p:cNvPr id="17" name="Text 15"/>
          <p:cNvSpPr/>
          <p:nvPr/>
        </p:nvSpPr>
        <p:spPr>
          <a:xfrm>
            <a:off x="3630168" y="1517904"/>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18" name="Shape 16"/>
          <p:cNvSpPr/>
          <p:nvPr/>
        </p:nvSpPr>
        <p:spPr>
          <a:xfrm>
            <a:off x="228600" y="1865376"/>
            <a:ext cx="1828800" cy="347472"/>
          </a:xfrm>
          <a:prstGeom prst="rect">
            <a:avLst/>
          </a:prstGeom>
          <a:solidFill>
            <a:srgbClr val="EFF6FF"/>
          </a:solidFill>
          <a:ln w="6350">
            <a:solidFill>
              <a:srgbClr val="E2E8F0"/>
            </a:solidFill>
            <a:prstDash val="solid"/>
          </a:ln>
        </p:spPr>
      </p:sp>
      <p:sp>
        <p:nvSpPr>
          <p:cNvPr id="19" name="Text 17"/>
          <p:cNvSpPr/>
          <p:nvPr/>
        </p:nvSpPr>
        <p:spPr>
          <a:xfrm>
            <a:off x="301752" y="1865376"/>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Batch Size</a:t>
            </a:r>
            <a:endParaRPr lang="en-US" sz="1000" dirty="0"/>
          </a:p>
        </p:txBody>
      </p:sp>
      <p:sp>
        <p:nvSpPr>
          <p:cNvPr id="20" name="Shape 18"/>
          <p:cNvSpPr/>
          <p:nvPr/>
        </p:nvSpPr>
        <p:spPr>
          <a:xfrm>
            <a:off x="2075688" y="1865376"/>
            <a:ext cx="1463040" cy="347472"/>
          </a:xfrm>
          <a:prstGeom prst="rect">
            <a:avLst/>
          </a:prstGeom>
          <a:solidFill>
            <a:srgbClr val="EFF6FF"/>
          </a:solidFill>
          <a:ln w="6350">
            <a:solidFill>
              <a:srgbClr val="E2E8F0"/>
            </a:solidFill>
            <a:prstDash val="solid"/>
          </a:ln>
        </p:spPr>
      </p:sp>
      <p:sp>
        <p:nvSpPr>
          <p:cNvPr id="21" name="Text 19"/>
          <p:cNvSpPr/>
          <p:nvPr/>
        </p:nvSpPr>
        <p:spPr>
          <a:xfrm>
            <a:off x="2148840" y="1865376"/>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128</a:t>
            </a:r>
            <a:endParaRPr lang="en-US" sz="1000" dirty="0"/>
          </a:p>
        </p:txBody>
      </p:sp>
      <p:sp>
        <p:nvSpPr>
          <p:cNvPr id="22" name="Shape 20"/>
          <p:cNvSpPr/>
          <p:nvPr/>
        </p:nvSpPr>
        <p:spPr>
          <a:xfrm>
            <a:off x="3557016" y="1865376"/>
            <a:ext cx="1828800" cy="347472"/>
          </a:xfrm>
          <a:prstGeom prst="rect">
            <a:avLst/>
          </a:prstGeom>
          <a:solidFill>
            <a:srgbClr val="EFF6FF"/>
          </a:solidFill>
          <a:ln w="6350">
            <a:solidFill>
              <a:srgbClr val="E2E8F0"/>
            </a:solidFill>
            <a:prstDash val="solid"/>
          </a:ln>
        </p:spPr>
      </p:sp>
      <p:sp>
        <p:nvSpPr>
          <p:cNvPr id="23" name="Text 21"/>
          <p:cNvSpPr/>
          <p:nvPr/>
        </p:nvSpPr>
        <p:spPr>
          <a:xfrm>
            <a:off x="3630168" y="1865376"/>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24" name="Shape 22"/>
          <p:cNvSpPr/>
          <p:nvPr/>
        </p:nvSpPr>
        <p:spPr>
          <a:xfrm>
            <a:off x="228600" y="2212848"/>
            <a:ext cx="1828800" cy="347472"/>
          </a:xfrm>
          <a:prstGeom prst="rect">
            <a:avLst/>
          </a:prstGeom>
          <a:solidFill>
            <a:srgbClr val="FFFFFF"/>
          </a:solidFill>
          <a:ln w="6350">
            <a:solidFill>
              <a:srgbClr val="E2E8F0"/>
            </a:solidFill>
            <a:prstDash val="solid"/>
          </a:ln>
        </p:spPr>
      </p:sp>
      <p:sp>
        <p:nvSpPr>
          <p:cNvPr id="25" name="Text 23"/>
          <p:cNvSpPr/>
          <p:nvPr/>
        </p:nvSpPr>
        <p:spPr>
          <a:xfrm>
            <a:off x="301752" y="2212848"/>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Epochs</a:t>
            </a:r>
            <a:endParaRPr lang="en-US" sz="1000" dirty="0"/>
          </a:p>
        </p:txBody>
      </p:sp>
      <p:sp>
        <p:nvSpPr>
          <p:cNvPr id="26" name="Shape 24"/>
          <p:cNvSpPr/>
          <p:nvPr/>
        </p:nvSpPr>
        <p:spPr>
          <a:xfrm>
            <a:off x="2075688" y="2212848"/>
            <a:ext cx="1463040" cy="347472"/>
          </a:xfrm>
          <a:prstGeom prst="rect">
            <a:avLst/>
          </a:prstGeom>
          <a:solidFill>
            <a:srgbClr val="FFFFFF"/>
          </a:solidFill>
          <a:ln w="6350">
            <a:solidFill>
              <a:srgbClr val="E2E8F0"/>
            </a:solidFill>
            <a:prstDash val="solid"/>
          </a:ln>
        </p:spPr>
      </p:sp>
      <p:sp>
        <p:nvSpPr>
          <p:cNvPr id="27" name="Text 25"/>
          <p:cNvSpPr/>
          <p:nvPr/>
        </p:nvSpPr>
        <p:spPr>
          <a:xfrm>
            <a:off x="2148840" y="2212848"/>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80 (max)</a:t>
            </a:r>
            <a:endParaRPr lang="en-US" sz="1000" dirty="0"/>
          </a:p>
        </p:txBody>
      </p:sp>
      <p:sp>
        <p:nvSpPr>
          <p:cNvPr id="28" name="Shape 26"/>
          <p:cNvSpPr/>
          <p:nvPr/>
        </p:nvSpPr>
        <p:spPr>
          <a:xfrm>
            <a:off x="3557016" y="2212848"/>
            <a:ext cx="1828800" cy="347472"/>
          </a:xfrm>
          <a:prstGeom prst="rect">
            <a:avLst/>
          </a:prstGeom>
          <a:solidFill>
            <a:srgbClr val="FFFFFF"/>
          </a:solidFill>
          <a:ln w="6350">
            <a:solidFill>
              <a:srgbClr val="E2E8F0"/>
            </a:solidFill>
            <a:prstDash val="solid"/>
          </a:ln>
        </p:spPr>
      </p:sp>
      <p:sp>
        <p:nvSpPr>
          <p:cNvPr id="29" name="Text 27"/>
          <p:cNvSpPr/>
          <p:nvPr/>
        </p:nvSpPr>
        <p:spPr>
          <a:xfrm>
            <a:off x="3630168" y="2212848"/>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30" name="Shape 28"/>
          <p:cNvSpPr/>
          <p:nvPr/>
        </p:nvSpPr>
        <p:spPr>
          <a:xfrm>
            <a:off x="228600" y="2560320"/>
            <a:ext cx="1828800" cy="347472"/>
          </a:xfrm>
          <a:prstGeom prst="rect">
            <a:avLst/>
          </a:prstGeom>
          <a:solidFill>
            <a:srgbClr val="EFF6FF"/>
          </a:solidFill>
          <a:ln w="6350">
            <a:solidFill>
              <a:srgbClr val="E2E8F0"/>
            </a:solidFill>
            <a:prstDash val="solid"/>
          </a:ln>
        </p:spPr>
      </p:sp>
      <p:sp>
        <p:nvSpPr>
          <p:cNvPr id="31" name="Text 29"/>
          <p:cNvSpPr/>
          <p:nvPr/>
        </p:nvSpPr>
        <p:spPr>
          <a:xfrm>
            <a:off x="301752" y="2560320"/>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Learning Rate</a:t>
            </a:r>
            <a:endParaRPr lang="en-US" sz="1000" dirty="0"/>
          </a:p>
        </p:txBody>
      </p:sp>
      <p:sp>
        <p:nvSpPr>
          <p:cNvPr id="32" name="Shape 30"/>
          <p:cNvSpPr/>
          <p:nvPr/>
        </p:nvSpPr>
        <p:spPr>
          <a:xfrm>
            <a:off x="2075688" y="2560320"/>
            <a:ext cx="1463040" cy="347472"/>
          </a:xfrm>
          <a:prstGeom prst="rect">
            <a:avLst/>
          </a:prstGeom>
          <a:solidFill>
            <a:srgbClr val="EFF6FF"/>
          </a:solidFill>
          <a:ln w="6350">
            <a:solidFill>
              <a:srgbClr val="E2E8F0"/>
            </a:solidFill>
            <a:prstDash val="solid"/>
          </a:ln>
        </p:spPr>
      </p:sp>
      <p:sp>
        <p:nvSpPr>
          <p:cNvPr id="33" name="Text 31"/>
          <p:cNvSpPr/>
          <p:nvPr/>
        </p:nvSpPr>
        <p:spPr>
          <a:xfrm>
            <a:off x="2148840" y="2560320"/>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7 × 10⁻⁴</a:t>
            </a:r>
            <a:endParaRPr lang="en-US" sz="1000" dirty="0"/>
          </a:p>
        </p:txBody>
      </p:sp>
      <p:sp>
        <p:nvSpPr>
          <p:cNvPr id="34" name="Shape 32"/>
          <p:cNvSpPr/>
          <p:nvPr/>
        </p:nvSpPr>
        <p:spPr>
          <a:xfrm>
            <a:off x="3557016" y="2560320"/>
            <a:ext cx="1828800" cy="347472"/>
          </a:xfrm>
          <a:prstGeom prst="rect">
            <a:avLst/>
          </a:prstGeom>
          <a:solidFill>
            <a:srgbClr val="EFF6FF"/>
          </a:solidFill>
          <a:ln w="6350">
            <a:solidFill>
              <a:srgbClr val="E2E8F0"/>
            </a:solidFill>
            <a:prstDash val="solid"/>
          </a:ln>
        </p:spPr>
      </p:sp>
      <p:sp>
        <p:nvSpPr>
          <p:cNvPr id="35" name="Text 33"/>
          <p:cNvSpPr/>
          <p:nvPr/>
        </p:nvSpPr>
        <p:spPr>
          <a:xfrm>
            <a:off x="3630168" y="2560320"/>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36" name="Shape 34"/>
          <p:cNvSpPr/>
          <p:nvPr/>
        </p:nvSpPr>
        <p:spPr>
          <a:xfrm>
            <a:off x="228600" y="2907792"/>
            <a:ext cx="1828800" cy="347472"/>
          </a:xfrm>
          <a:prstGeom prst="rect">
            <a:avLst/>
          </a:prstGeom>
          <a:solidFill>
            <a:srgbClr val="FFFFFF"/>
          </a:solidFill>
          <a:ln w="6350">
            <a:solidFill>
              <a:srgbClr val="E2E8F0"/>
            </a:solidFill>
            <a:prstDash val="solid"/>
          </a:ln>
        </p:spPr>
      </p:sp>
      <p:sp>
        <p:nvSpPr>
          <p:cNvPr id="37" name="Text 35"/>
          <p:cNvSpPr/>
          <p:nvPr/>
        </p:nvSpPr>
        <p:spPr>
          <a:xfrm>
            <a:off x="301752" y="2907792"/>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Crop Scale</a:t>
            </a:r>
            <a:endParaRPr lang="en-US" sz="1000" dirty="0"/>
          </a:p>
        </p:txBody>
      </p:sp>
      <p:sp>
        <p:nvSpPr>
          <p:cNvPr id="38" name="Shape 36"/>
          <p:cNvSpPr/>
          <p:nvPr/>
        </p:nvSpPr>
        <p:spPr>
          <a:xfrm>
            <a:off x="2075688" y="2907792"/>
            <a:ext cx="1463040" cy="347472"/>
          </a:xfrm>
          <a:prstGeom prst="rect">
            <a:avLst/>
          </a:prstGeom>
          <a:solidFill>
            <a:srgbClr val="FFFFFF"/>
          </a:solidFill>
          <a:ln w="6350">
            <a:solidFill>
              <a:srgbClr val="E2E8F0"/>
            </a:solidFill>
            <a:prstDash val="solid"/>
          </a:ln>
        </p:spPr>
      </p:sp>
      <p:sp>
        <p:nvSpPr>
          <p:cNvPr id="39" name="Text 37"/>
          <p:cNvSpPr/>
          <p:nvPr/>
        </p:nvSpPr>
        <p:spPr>
          <a:xfrm>
            <a:off x="2148840" y="2907792"/>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0.7 – 1.0</a:t>
            </a:r>
            <a:endParaRPr lang="en-US" sz="1000" dirty="0"/>
          </a:p>
        </p:txBody>
      </p:sp>
      <p:sp>
        <p:nvSpPr>
          <p:cNvPr id="40" name="Shape 38"/>
          <p:cNvSpPr/>
          <p:nvPr/>
        </p:nvSpPr>
        <p:spPr>
          <a:xfrm>
            <a:off x="3557016" y="2907792"/>
            <a:ext cx="1828800" cy="347472"/>
          </a:xfrm>
          <a:prstGeom prst="rect">
            <a:avLst/>
          </a:prstGeom>
          <a:solidFill>
            <a:srgbClr val="FFFFFF"/>
          </a:solidFill>
          <a:ln w="6350">
            <a:solidFill>
              <a:srgbClr val="E2E8F0"/>
            </a:solidFill>
            <a:prstDash val="solid"/>
          </a:ln>
        </p:spPr>
      </p:sp>
      <p:sp>
        <p:nvSpPr>
          <p:cNvPr id="41" name="Text 39"/>
          <p:cNvSpPr/>
          <p:nvPr/>
        </p:nvSpPr>
        <p:spPr>
          <a:xfrm>
            <a:off x="3630168" y="2907792"/>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42" name="Shape 40"/>
          <p:cNvSpPr/>
          <p:nvPr/>
        </p:nvSpPr>
        <p:spPr>
          <a:xfrm>
            <a:off x="228600" y="3255264"/>
            <a:ext cx="1828800" cy="347472"/>
          </a:xfrm>
          <a:prstGeom prst="rect">
            <a:avLst/>
          </a:prstGeom>
          <a:solidFill>
            <a:srgbClr val="EFF6FF"/>
          </a:solidFill>
          <a:ln w="6350">
            <a:solidFill>
              <a:srgbClr val="E2E8F0"/>
            </a:solidFill>
            <a:prstDash val="solid"/>
          </a:ln>
        </p:spPr>
      </p:sp>
      <p:sp>
        <p:nvSpPr>
          <p:cNvPr id="43" name="Text 41"/>
          <p:cNvSpPr/>
          <p:nvPr/>
        </p:nvSpPr>
        <p:spPr>
          <a:xfrm>
            <a:off x="301752" y="3255264"/>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Label Smoothing</a:t>
            </a:r>
            <a:endParaRPr lang="en-US" sz="1000" dirty="0"/>
          </a:p>
        </p:txBody>
      </p:sp>
      <p:sp>
        <p:nvSpPr>
          <p:cNvPr id="44" name="Shape 42"/>
          <p:cNvSpPr/>
          <p:nvPr/>
        </p:nvSpPr>
        <p:spPr>
          <a:xfrm>
            <a:off x="2075688" y="3255264"/>
            <a:ext cx="1463040" cy="347472"/>
          </a:xfrm>
          <a:prstGeom prst="rect">
            <a:avLst/>
          </a:prstGeom>
          <a:solidFill>
            <a:srgbClr val="EFF6FF"/>
          </a:solidFill>
          <a:ln w="6350">
            <a:solidFill>
              <a:srgbClr val="E2E8F0"/>
            </a:solidFill>
            <a:prstDash val="solid"/>
          </a:ln>
        </p:spPr>
      </p:sp>
      <p:sp>
        <p:nvSpPr>
          <p:cNvPr id="45" name="Text 43"/>
          <p:cNvSpPr/>
          <p:nvPr/>
        </p:nvSpPr>
        <p:spPr>
          <a:xfrm>
            <a:off x="2148840" y="3255264"/>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0.0 (off)</a:t>
            </a:r>
            <a:endParaRPr lang="en-US" sz="1000" dirty="0"/>
          </a:p>
        </p:txBody>
      </p:sp>
      <p:sp>
        <p:nvSpPr>
          <p:cNvPr id="46" name="Shape 44"/>
          <p:cNvSpPr/>
          <p:nvPr/>
        </p:nvSpPr>
        <p:spPr>
          <a:xfrm>
            <a:off x="3557016" y="3255264"/>
            <a:ext cx="1828800" cy="347472"/>
          </a:xfrm>
          <a:prstGeom prst="rect">
            <a:avLst/>
          </a:prstGeom>
          <a:solidFill>
            <a:srgbClr val="EFF6FF"/>
          </a:solidFill>
          <a:ln w="6350">
            <a:solidFill>
              <a:srgbClr val="E2E8F0"/>
            </a:solidFill>
            <a:prstDash val="solid"/>
          </a:ln>
        </p:spPr>
      </p:sp>
      <p:sp>
        <p:nvSpPr>
          <p:cNvPr id="47" name="Text 45"/>
          <p:cNvSpPr/>
          <p:nvPr/>
        </p:nvSpPr>
        <p:spPr>
          <a:xfrm>
            <a:off x="3630168" y="3255264"/>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48" name="Shape 46"/>
          <p:cNvSpPr/>
          <p:nvPr/>
        </p:nvSpPr>
        <p:spPr>
          <a:xfrm>
            <a:off x="228600" y="3602736"/>
            <a:ext cx="1828800" cy="347472"/>
          </a:xfrm>
          <a:prstGeom prst="rect">
            <a:avLst/>
          </a:prstGeom>
          <a:solidFill>
            <a:srgbClr val="FFFFFF"/>
          </a:solidFill>
          <a:ln w="6350">
            <a:solidFill>
              <a:srgbClr val="E2E8F0"/>
            </a:solidFill>
            <a:prstDash val="solid"/>
          </a:ln>
        </p:spPr>
      </p:sp>
      <p:sp>
        <p:nvSpPr>
          <p:cNvPr id="49" name="Text 47"/>
          <p:cNvSpPr/>
          <p:nvPr/>
        </p:nvSpPr>
        <p:spPr>
          <a:xfrm>
            <a:off x="301752" y="3602736"/>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Early Stop Patience</a:t>
            </a:r>
            <a:endParaRPr lang="en-US" sz="1000" dirty="0"/>
          </a:p>
        </p:txBody>
      </p:sp>
      <p:sp>
        <p:nvSpPr>
          <p:cNvPr id="50" name="Shape 48"/>
          <p:cNvSpPr/>
          <p:nvPr/>
        </p:nvSpPr>
        <p:spPr>
          <a:xfrm>
            <a:off x="2075688" y="3602736"/>
            <a:ext cx="1463040" cy="347472"/>
          </a:xfrm>
          <a:prstGeom prst="rect">
            <a:avLst/>
          </a:prstGeom>
          <a:solidFill>
            <a:srgbClr val="FFFFFF"/>
          </a:solidFill>
          <a:ln w="6350">
            <a:solidFill>
              <a:srgbClr val="E2E8F0"/>
            </a:solidFill>
            <a:prstDash val="solid"/>
          </a:ln>
        </p:spPr>
      </p:sp>
      <p:sp>
        <p:nvSpPr>
          <p:cNvPr id="51" name="Text 49"/>
          <p:cNvSpPr/>
          <p:nvPr/>
        </p:nvSpPr>
        <p:spPr>
          <a:xfrm>
            <a:off x="2148840" y="3602736"/>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15 epochs</a:t>
            </a:r>
            <a:endParaRPr lang="en-US" sz="1000" dirty="0"/>
          </a:p>
        </p:txBody>
      </p:sp>
      <p:sp>
        <p:nvSpPr>
          <p:cNvPr id="52" name="Shape 50"/>
          <p:cNvSpPr/>
          <p:nvPr/>
        </p:nvSpPr>
        <p:spPr>
          <a:xfrm>
            <a:off x="3557016" y="3602736"/>
            <a:ext cx="1828800" cy="347472"/>
          </a:xfrm>
          <a:prstGeom prst="rect">
            <a:avLst/>
          </a:prstGeom>
          <a:solidFill>
            <a:srgbClr val="FFFFFF"/>
          </a:solidFill>
          <a:ln w="6350">
            <a:solidFill>
              <a:srgbClr val="E2E8F0"/>
            </a:solidFill>
            <a:prstDash val="solid"/>
          </a:ln>
        </p:spPr>
      </p:sp>
      <p:sp>
        <p:nvSpPr>
          <p:cNvPr id="53" name="Text 51"/>
          <p:cNvSpPr/>
          <p:nvPr/>
        </p:nvSpPr>
        <p:spPr>
          <a:xfrm>
            <a:off x="3630168" y="3602736"/>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54" name="Shape 52"/>
          <p:cNvSpPr/>
          <p:nvPr/>
        </p:nvSpPr>
        <p:spPr>
          <a:xfrm>
            <a:off x="228600" y="3950208"/>
            <a:ext cx="1828800" cy="347472"/>
          </a:xfrm>
          <a:prstGeom prst="rect">
            <a:avLst/>
          </a:prstGeom>
          <a:solidFill>
            <a:srgbClr val="EFF6FF"/>
          </a:solidFill>
          <a:ln w="6350">
            <a:solidFill>
              <a:srgbClr val="E2E8F0"/>
            </a:solidFill>
            <a:prstDash val="solid"/>
          </a:ln>
        </p:spPr>
      </p:sp>
      <p:sp>
        <p:nvSpPr>
          <p:cNvPr id="55" name="Text 53"/>
          <p:cNvSpPr/>
          <p:nvPr/>
        </p:nvSpPr>
        <p:spPr>
          <a:xfrm>
            <a:off x="301752" y="3950208"/>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Drop Path Rate</a:t>
            </a:r>
            <a:endParaRPr lang="en-US" sz="1000" dirty="0"/>
          </a:p>
        </p:txBody>
      </p:sp>
      <p:sp>
        <p:nvSpPr>
          <p:cNvPr id="56" name="Shape 54"/>
          <p:cNvSpPr/>
          <p:nvPr/>
        </p:nvSpPr>
        <p:spPr>
          <a:xfrm>
            <a:off x="2075688" y="3950208"/>
            <a:ext cx="1463040" cy="347472"/>
          </a:xfrm>
          <a:prstGeom prst="rect">
            <a:avLst/>
          </a:prstGeom>
          <a:solidFill>
            <a:srgbClr val="EFF6FF"/>
          </a:solidFill>
          <a:ln w="6350">
            <a:solidFill>
              <a:srgbClr val="E2E8F0"/>
            </a:solidFill>
            <a:prstDash val="solid"/>
          </a:ln>
        </p:spPr>
      </p:sp>
      <p:sp>
        <p:nvSpPr>
          <p:cNvPr id="57" name="Text 55"/>
          <p:cNvSpPr/>
          <p:nvPr/>
        </p:nvSpPr>
        <p:spPr>
          <a:xfrm>
            <a:off x="2148840" y="3950208"/>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0.1 (linear 0→0.1)</a:t>
            </a:r>
            <a:endParaRPr lang="en-US" sz="1000" dirty="0"/>
          </a:p>
        </p:txBody>
      </p:sp>
      <p:sp>
        <p:nvSpPr>
          <p:cNvPr id="58" name="Shape 56"/>
          <p:cNvSpPr/>
          <p:nvPr/>
        </p:nvSpPr>
        <p:spPr>
          <a:xfrm>
            <a:off x="3557016" y="3950208"/>
            <a:ext cx="1828800" cy="347472"/>
          </a:xfrm>
          <a:prstGeom prst="rect">
            <a:avLst/>
          </a:prstGeom>
          <a:solidFill>
            <a:srgbClr val="EFF6FF"/>
          </a:solidFill>
          <a:ln w="6350">
            <a:solidFill>
              <a:srgbClr val="E2E8F0"/>
            </a:solidFill>
            <a:prstDash val="solid"/>
          </a:ln>
        </p:spPr>
      </p:sp>
      <p:sp>
        <p:nvSpPr>
          <p:cNvPr id="59" name="Text 57"/>
          <p:cNvSpPr/>
          <p:nvPr/>
        </p:nvSpPr>
        <p:spPr>
          <a:xfrm>
            <a:off x="3630168" y="3950208"/>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 New — Stochastic Depth</a:t>
            </a:r>
            <a:endParaRPr lang="en-US" sz="1000" dirty="0"/>
          </a:p>
        </p:txBody>
      </p:sp>
      <p:sp>
        <p:nvSpPr>
          <p:cNvPr id="60" name="Shape 58"/>
          <p:cNvSpPr/>
          <p:nvPr/>
        </p:nvSpPr>
        <p:spPr>
          <a:xfrm>
            <a:off x="228600" y="4297680"/>
            <a:ext cx="1828800" cy="347472"/>
          </a:xfrm>
          <a:prstGeom prst="rect">
            <a:avLst/>
          </a:prstGeom>
          <a:solidFill>
            <a:srgbClr val="FFFFFF"/>
          </a:solidFill>
          <a:ln w="6350">
            <a:solidFill>
              <a:srgbClr val="E2E8F0"/>
            </a:solidFill>
            <a:prstDash val="solid"/>
          </a:ln>
        </p:spPr>
      </p:sp>
      <p:sp>
        <p:nvSpPr>
          <p:cNvPr id="61" name="Text 59"/>
          <p:cNvSpPr/>
          <p:nvPr/>
        </p:nvSpPr>
        <p:spPr>
          <a:xfrm>
            <a:off x="301752" y="4297680"/>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Threshold Range</a:t>
            </a:r>
            <a:endParaRPr lang="en-US" sz="1000" dirty="0"/>
          </a:p>
        </p:txBody>
      </p:sp>
      <p:sp>
        <p:nvSpPr>
          <p:cNvPr id="62" name="Shape 60"/>
          <p:cNvSpPr/>
          <p:nvPr/>
        </p:nvSpPr>
        <p:spPr>
          <a:xfrm>
            <a:off x="2075688" y="4297680"/>
            <a:ext cx="1463040" cy="347472"/>
          </a:xfrm>
          <a:prstGeom prst="rect">
            <a:avLst/>
          </a:prstGeom>
          <a:solidFill>
            <a:srgbClr val="FFFFFF"/>
          </a:solidFill>
          <a:ln w="6350">
            <a:solidFill>
              <a:srgbClr val="E2E8F0"/>
            </a:solidFill>
            <a:prstDash val="solid"/>
          </a:ln>
        </p:spPr>
      </p:sp>
      <p:sp>
        <p:nvSpPr>
          <p:cNvPr id="63" name="Text 61"/>
          <p:cNvSpPr/>
          <p:nvPr/>
        </p:nvSpPr>
        <p:spPr>
          <a:xfrm>
            <a:off x="2148840" y="4297680"/>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[0.05, 0.95] ×401</a:t>
            </a:r>
            <a:endParaRPr lang="en-US" sz="1000" dirty="0"/>
          </a:p>
        </p:txBody>
      </p:sp>
      <p:sp>
        <p:nvSpPr>
          <p:cNvPr id="64" name="Shape 62"/>
          <p:cNvSpPr/>
          <p:nvPr/>
        </p:nvSpPr>
        <p:spPr>
          <a:xfrm>
            <a:off x="3557016" y="4297680"/>
            <a:ext cx="1828800" cy="347472"/>
          </a:xfrm>
          <a:prstGeom prst="rect">
            <a:avLst/>
          </a:prstGeom>
          <a:solidFill>
            <a:srgbClr val="FFFFFF"/>
          </a:solidFill>
          <a:ln w="6350">
            <a:solidFill>
              <a:srgbClr val="E2E8F0"/>
            </a:solidFill>
            <a:prstDash val="solid"/>
          </a:ln>
        </p:spPr>
      </p:sp>
      <p:sp>
        <p:nvSpPr>
          <p:cNvPr id="65" name="Text 63"/>
          <p:cNvSpPr/>
          <p:nvPr/>
        </p:nvSpPr>
        <p:spPr>
          <a:xfrm>
            <a:off x="3630168" y="4297680"/>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66" name="Shape 64"/>
          <p:cNvSpPr/>
          <p:nvPr/>
        </p:nvSpPr>
        <p:spPr>
          <a:xfrm>
            <a:off x="5074920" y="749808"/>
            <a:ext cx="3840480" cy="4114800"/>
          </a:xfrm>
          <a:prstGeom prst="rect">
            <a:avLst/>
          </a:prstGeom>
          <a:solidFill>
            <a:srgbClr val="0D1B3E"/>
          </a:solidFill>
          <a:ln w="12700">
            <a:solidFill>
              <a:srgbClr val="0D1B3E"/>
            </a:solidFill>
            <a:prstDash val="solid"/>
          </a:ln>
        </p:spPr>
      </p:sp>
      <p:sp>
        <p:nvSpPr>
          <p:cNvPr id="67" name="Text 65"/>
          <p:cNvSpPr/>
          <p:nvPr/>
        </p:nvSpPr>
        <p:spPr>
          <a:xfrm>
            <a:off x="5166360" y="841248"/>
            <a:ext cx="3657600" cy="347472"/>
          </a:xfrm>
          <a:prstGeom prst="rect">
            <a:avLst/>
          </a:prstGeom>
          <a:noFill/>
          <a:ln/>
        </p:spPr>
        <p:txBody>
          <a:bodyPr wrap="square" lIns="0" tIns="0" rIns="0" bIns="0" rtlCol="0" anchor="ctr"/>
          <a:lstStyle/>
          <a:p>
            <a:pPr indent="0" marL="0">
              <a:buNone/>
            </a:pPr>
            <a:r>
              <a:rPr lang="en-US" sz="1300" b="1" dirty="0">
                <a:solidFill>
                  <a:srgbClr val="06B6D4"/>
                </a:solidFill>
                <a:latin typeface="Calibri" pitchFamily="34" charset="0"/>
                <a:ea typeface="Calibri" pitchFamily="34" charset="-122"/>
                <a:cs typeface="Calibri" pitchFamily="34" charset="-120"/>
              </a:rPr>
              <a:t>Environment &amp; Tools</a:t>
            </a:r>
            <a:endParaRPr lang="en-US" sz="1300" dirty="0"/>
          </a:p>
        </p:txBody>
      </p:sp>
      <p:sp>
        <p:nvSpPr>
          <p:cNvPr id="68" name="Text 66"/>
          <p:cNvSpPr/>
          <p:nvPr/>
        </p:nvSpPr>
        <p:spPr>
          <a:xfrm>
            <a:off x="5166360" y="1316736"/>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Framework:</a:t>
            </a:r>
            <a:endParaRPr lang="en-US" sz="1050" dirty="0"/>
          </a:p>
        </p:txBody>
      </p:sp>
      <p:sp>
        <p:nvSpPr>
          <p:cNvPr id="69" name="Text 67"/>
          <p:cNvSpPr/>
          <p:nvPr/>
        </p:nvSpPr>
        <p:spPr>
          <a:xfrm>
            <a:off x="6492240" y="1316736"/>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PyTorch 2.x + torchvision</a:t>
            </a:r>
            <a:endParaRPr lang="en-US" sz="1050" dirty="0"/>
          </a:p>
        </p:txBody>
      </p:sp>
      <p:sp>
        <p:nvSpPr>
          <p:cNvPr id="70" name="Text 68"/>
          <p:cNvSpPr/>
          <p:nvPr/>
        </p:nvSpPr>
        <p:spPr>
          <a:xfrm>
            <a:off x="5166360" y="1801368"/>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Precision:</a:t>
            </a:r>
            <a:endParaRPr lang="en-US" sz="1050" dirty="0"/>
          </a:p>
        </p:txBody>
      </p:sp>
      <p:sp>
        <p:nvSpPr>
          <p:cNvPr id="71" name="Text 69"/>
          <p:cNvSpPr/>
          <p:nvPr/>
        </p:nvSpPr>
        <p:spPr>
          <a:xfrm>
            <a:off x="6492240" y="1801368"/>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Mixed FP16 via torch.amp</a:t>
            </a:r>
            <a:endParaRPr lang="en-US" sz="1050" dirty="0"/>
          </a:p>
        </p:txBody>
      </p:sp>
      <p:sp>
        <p:nvSpPr>
          <p:cNvPr id="72" name="Text 70"/>
          <p:cNvSpPr/>
          <p:nvPr/>
        </p:nvSpPr>
        <p:spPr>
          <a:xfrm>
            <a:off x="5166360" y="2286000"/>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DataLoader:</a:t>
            </a:r>
            <a:endParaRPr lang="en-US" sz="1050" dirty="0"/>
          </a:p>
        </p:txBody>
      </p:sp>
      <p:sp>
        <p:nvSpPr>
          <p:cNvPr id="73" name="Text 71"/>
          <p:cNvSpPr/>
          <p:nvPr/>
        </p:nvSpPr>
        <p:spPr>
          <a:xfrm>
            <a:off x="6492240" y="2286000"/>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4 workers + pin_memory</a:t>
            </a:r>
            <a:endParaRPr lang="en-US" sz="1050" dirty="0"/>
          </a:p>
        </p:txBody>
      </p:sp>
      <p:sp>
        <p:nvSpPr>
          <p:cNvPr id="74" name="Text 72"/>
          <p:cNvSpPr/>
          <p:nvPr/>
        </p:nvSpPr>
        <p:spPr>
          <a:xfrm>
            <a:off x="5166360" y="2770632"/>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Augmentation:</a:t>
            </a:r>
            <a:endParaRPr lang="en-US" sz="1050" dirty="0"/>
          </a:p>
        </p:txBody>
      </p:sp>
      <p:sp>
        <p:nvSpPr>
          <p:cNvPr id="75" name="Text 73"/>
          <p:cNvSpPr/>
          <p:nvPr/>
        </p:nvSpPr>
        <p:spPr>
          <a:xfrm>
            <a:off x="6492240" y="2770632"/>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torchvision.transforms</a:t>
            </a:r>
            <a:endParaRPr lang="en-US" sz="1050" dirty="0"/>
          </a:p>
        </p:txBody>
      </p:sp>
      <p:sp>
        <p:nvSpPr>
          <p:cNvPr id="76" name="Text 74"/>
          <p:cNvSpPr/>
          <p:nvPr/>
        </p:nvSpPr>
        <p:spPr>
          <a:xfrm>
            <a:off x="5166360" y="3255264"/>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Reproducibility:</a:t>
            </a:r>
            <a:endParaRPr lang="en-US" sz="1050" dirty="0"/>
          </a:p>
        </p:txBody>
      </p:sp>
      <p:sp>
        <p:nvSpPr>
          <p:cNvPr id="77" name="Text 75"/>
          <p:cNvSpPr/>
          <p:nvPr/>
        </p:nvSpPr>
        <p:spPr>
          <a:xfrm>
            <a:off x="6492240" y="3255264"/>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Full seed control (seed=42)</a:t>
            </a:r>
            <a:endParaRPr lang="en-US" sz="1050" dirty="0"/>
          </a:p>
        </p:txBody>
      </p:sp>
      <p:sp>
        <p:nvSpPr>
          <p:cNvPr id="78" name="Text 76"/>
          <p:cNvSpPr/>
          <p:nvPr/>
        </p:nvSpPr>
        <p:spPr>
          <a:xfrm>
            <a:off x="5166360" y="3739896"/>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Evaluation:</a:t>
            </a:r>
            <a:endParaRPr lang="en-US" sz="1050" dirty="0"/>
          </a:p>
        </p:txBody>
      </p:sp>
      <p:sp>
        <p:nvSpPr>
          <p:cNvPr id="79" name="Text 77"/>
          <p:cNvSpPr/>
          <p:nvPr/>
        </p:nvSpPr>
        <p:spPr>
          <a:xfrm>
            <a:off x="6492240" y="3739896"/>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Accuracy + threshold grid search</a:t>
            </a:r>
            <a:endParaRPr lang="en-US" sz="1050" dirty="0"/>
          </a:p>
        </p:txBody>
      </p:sp>
      <p:sp>
        <p:nvSpPr>
          <p:cNvPr id="80" name="Text 78"/>
          <p:cNvSpPr/>
          <p:nvPr/>
        </p:nvSpPr>
        <p:spPr>
          <a:xfrm>
            <a:off x="5166360" y="4224528"/>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Output:</a:t>
            </a:r>
            <a:endParaRPr lang="en-US" sz="1050" dirty="0"/>
          </a:p>
        </p:txBody>
      </p:sp>
      <p:sp>
        <p:nvSpPr>
          <p:cNvPr id="81" name="Text 79"/>
          <p:cNvSpPr/>
          <p:nvPr/>
        </p:nvSpPr>
        <p:spPr>
          <a:xfrm>
            <a:off x="6492240" y="4224528"/>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CSV submission (ID, TARGET)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Experimentation &amp; Results</a:t>
            </a:r>
            <a:endParaRPr lang="en-US" sz="2200" dirty="0"/>
          </a:p>
        </p:txBody>
      </p:sp>
      <p:sp>
        <p:nvSpPr>
          <p:cNvPr id="5" name="Shape 3"/>
          <p:cNvSpPr/>
          <p:nvPr/>
        </p:nvSpPr>
        <p:spPr>
          <a:xfrm>
            <a:off x="228600" y="749808"/>
            <a:ext cx="2011680" cy="1097280"/>
          </a:xfrm>
          <a:prstGeom prst="rect">
            <a:avLst/>
          </a:prstGeom>
          <a:solidFill>
            <a:srgbClr val="2563EB"/>
          </a:solidFill>
          <a:ln w="12700">
            <a:solidFill>
              <a:srgbClr val="2563EB"/>
            </a:solidFill>
            <a:prstDash val="solid"/>
          </a:ln>
          <a:effectLst>
            <a:outerShdw sx="100000" sy="100000" kx="0" ky="0" algn="bl" rotWithShape="0" blurRad="76200" dist="25400" dir="8100000">
              <a:srgbClr val="000000">
                <a:alpha val="12000"/>
              </a:srgbClr>
            </a:outerShdw>
          </a:effectLst>
        </p:spPr>
      </p:sp>
      <p:sp>
        <p:nvSpPr>
          <p:cNvPr id="6" name="Text 4"/>
          <p:cNvSpPr/>
          <p:nvPr/>
        </p:nvSpPr>
        <p:spPr>
          <a:xfrm>
            <a:off x="228600" y="841248"/>
            <a:ext cx="2011680" cy="59436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100%</a:t>
            </a:r>
            <a:endParaRPr lang="en-US" sz="3400" dirty="0"/>
          </a:p>
        </p:txBody>
      </p:sp>
      <p:sp>
        <p:nvSpPr>
          <p:cNvPr id="7" name="Text 5"/>
          <p:cNvSpPr/>
          <p:nvPr/>
        </p:nvSpPr>
        <p:spPr>
          <a:xfrm>
            <a:off x="228600" y="1408176"/>
            <a:ext cx="201168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Final Val Accuracy</a:t>
            </a:r>
            <a:endParaRPr lang="en-US" sz="1100" dirty="0"/>
          </a:p>
        </p:txBody>
      </p:sp>
      <p:sp>
        <p:nvSpPr>
          <p:cNvPr id="8" name="Shape 6"/>
          <p:cNvSpPr/>
          <p:nvPr/>
        </p:nvSpPr>
        <p:spPr>
          <a:xfrm>
            <a:off x="2377440" y="749808"/>
            <a:ext cx="2011680" cy="1097280"/>
          </a:xfrm>
          <a:prstGeom prst="rect">
            <a:avLst/>
          </a:prstGeom>
          <a:solidFill>
            <a:srgbClr val="0891B2"/>
          </a:solidFill>
          <a:ln w="12700">
            <a:solidFill>
              <a:srgbClr val="0891B2"/>
            </a:solidFill>
            <a:prstDash val="solid"/>
          </a:ln>
          <a:effectLst>
            <a:outerShdw sx="100000" sy="100000" kx="0" ky="0" algn="bl" rotWithShape="0" blurRad="76200" dist="25400" dir="8100000">
              <a:srgbClr val="000000">
                <a:alpha val="12000"/>
              </a:srgbClr>
            </a:outerShdw>
          </a:effectLst>
        </p:spPr>
      </p:sp>
      <p:sp>
        <p:nvSpPr>
          <p:cNvPr id="9" name="Text 7"/>
          <p:cNvSpPr/>
          <p:nvPr/>
        </p:nvSpPr>
        <p:spPr>
          <a:xfrm>
            <a:off x="2377440" y="841248"/>
            <a:ext cx="2011680" cy="59436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0.180</a:t>
            </a:r>
            <a:endParaRPr lang="en-US" sz="3400" dirty="0"/>
          </a:p>
        </p:txBody>
      </p:sp>
      <p:sp>
        <p:nvSpPr>
          <p:cNvPr id="10" name="Text 8"/>
          <p:cNvSpPr/>
          <p:nvPr/>
        </p:nvSpPr>
        <p:spPr>
          <a:xfrm>
            <a:off x="2377440" y="1408176"/>
            <a:ext cx="201168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Optimal Threshold</a:t>
            </a:r>
            <a:endParaRPr lang="en-US" sz="1100" dirty="0"/>
          </a:p>
        </p:txBody>
      </p:sp>
      <p:sp>
        <p:nvSpPr>
          <p:cNvPr id="11" name="Shape 9"/>
          <p:cNvSpPr/>
          <p:nvPr/>
        </p:nvSpPr>
        <p:spPr>
          <a:xfrm>
            <a:off x="4526280" y="749808"/>
            <a:ext cx="2011680" cy="1097280"/>
          </a:xfrm>
          <a:prstGeom prst="rect">
            <a:avLst/>
          </a:prstGeom>
          <a:solidFill>
            <a:srgbClr val="10B981"/>
          </a:solidFill>
          <a:ln w="12700">
            <a:solidFill>
              <a:srgbClr val="10B981"/>
            </a:solidFill>
            <a:prstDash val="solid"/>
          </a:ln>
          <a:effectLst>
            <a:outerShdw sx="100000" sy="100000" kx="0" ky="0" algn="bl" rotWithShape="0" blurRad="76200" dist="25400" dir="8100000">
              <a:srgbClr val="000000">
                <a:alpha val="12000"/>
              </a:srgbClr>
            </a:outerShdw>
          </a:effectLst>
        </p:spPr>
      </p:sp>
      <p:sp>
        <p:nvSpPr>
          <p:cNvPr id="12" name="Text 10"/>
          <p:cNvSpPr/>
          <p:nvPr/>
        </p:nvSpPr>
        <p:spPr>
          <a:xfrm>
            <a:off x="4526280" y="841248"/>
            <a:ext cx="2011680" cy="59436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0.7591</a:t>
            </a:r>
            <a:endParaRPr lang="en-US" sz="3400" dirty="0"/>
          </a:p>
        </p:txBody>
      </p:sp>
      <p:sp>
        <p:nvSpPr>
          <p:cNvPr id="13" name="Text 11"/>
          <p:cNvSpPr/>
          <p:nvPr/>
        </p:nvSpPr>
        <p:spPr>
          <a:xfrm>
            <a:off x="4526280" y="1408176"/>
            <a:ext cx="201168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Public LB Score (v3)</a:t>
            </a:r>
            <a:endParaRPr lang="en-US" sz="1100" dirty="0"/>
          </a:p>
        </p:txBody>
      </p:sp>
      <p:sp>
        <p:nvSpPr>
          <p:cNvPr id="14" name="Shape 12"/>
          <p:cNvSpPr/>
          <p:nvPr/>
        </p:nvSpPr>
        <p:spPr>
          <a:xfrm>
            <a:off x="6675120" y="749808"/>
            <a:ext cx="2011680" cy="1097280"/>
          </a:xfrm>
          <a:prstGeom prst="rect">
            <a:avLst/>
          </a:prstGeom>
          <a:solidFill>
            <a:srgbClr val="F59E0B"/>
          </a:solidFill>
          <a:ln w="12700">
            <a:solidFill>
              <a:srgbClr val="F59E0B"/>
            </a:solidFill>
            <a:prstDash val="solid"/>
          </a:ln>
          <a:effectLst>
            <a:outerShdw sx="100000" sy="100000" kx="0" ky="0" algn="bl" rotWithShape="0" blurRad="76200" dist="25400" dir="8100000">
              <a:srgbClr val="000000">
                <a:alpha val="12000"/>
              </a:srgbClr>
            </a:outerShdw>
          </a:effectLst>
        </p:spPr>
      </p:sp>
      <p:sp>
        <p:nvSpPr>
          <p:cNvPr id="15" name="Text 13"/>
          <p:cNvSpPr/>
          <p:nvPr/>
        </p:nvSpPr>
        <p:spPr>
          <a:xfrm>
            <a:off x="6675120" y="841248"/>
            <a:ext cx="2011680" cy="59436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+0.0003</a:t>
            </a:r>
            <a:endParaRPr lang="en-US" sz="3400" dirty="0"/>
          </a:p>
        </p:txBody>
      </p:sp>
      <p:sp>
        <p:nvSpPr>
          <p:cNvPr id="16" name="Text 14"/>
          <p:cNvSpPr/>
          <p:nvPr/>
        </p:nvSpPr>
        <p:spPr>
          <a:xfrm>
            <a:off x="6675120" y="1408176"/>
            <a:ext cx="201168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Score Δ vs v2</a:t>
            </a:r>
            <a:endParaRPr lang="en-US" sz="1100" dirty="0"/>
          </a:p>
        </p:txBody>
      </p:sp>
      <p:graphicFrame>
        <p:nvGraphicFramePr>
          <p:cNvPr id="17" name="Chart 0" descr=""/>
          <p:cNvGraphicFramePr/>
          <p:nvPr/>
        </p:nvGraphicFramePr>
        <p:xfrm>
          <a:off x="228600" y="1965960"/>
          <a:ext cx="5303520" cy="28346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5715000" y="1965960"/>
            <a:ext cx="3200400" cy="320040"/>
          </a:xfrm>
          <a:prstGeom prst="rect">
            <a:avLst/>
          </a:prstGeom>
          <a:noFill/>
          <a:ln/>
        </p:spPr>
        <p:txBody>
          <a:bodyPr wrap="square" lIns="0" tIns="0" rIns="0" bIns="0" rtlCol="0" anchor="ctr"/>
          <a:lstStyle/>
          <a:p>
            <a:pPr indent="0" marL="0">
              <a:buNone/>
            </a:pPr>
            <a:r>
              <a:rPr lang="en-US" sz="1300" b="1" dirty="0">
                <a:solidFill>
                  <a:srgbClr val="0D1B3E"/>
                </a:solidFill>
                <a:latin typeface="Calibri" pitchFamily="34" charset="0"/>
                <a:ea typeface="Calibri" pitchFamily="34" charset="-122"/>
                <a:cs typeface="Calibri" pitchFamily="34" charset="-120"/>
              </a:rPr>
              <a:t>Key Observations</a:t>
            </a:r>
            <a:endParaRPr lang="en-US" sz="1300" dirty="0"/>
          </a:p>
        </p:txBody>
      </p:sp>
      <p:sp>
        <p:nvSpPr>
          <p:cNvPr id="19" name="Shape 16"/>
          <p:cNvSpPr/>
          <p:nvPr/>
        </p:nvSpPr>
        <p:spPr>
          <a:xfrm>
            <a:off x="5715000" y="2359152"/>
            <a:ext cx="3200400" cy="457200"/>
          </a:xfrm>
          <a:prstGeom prst="rect">
            <a:avLst/>
          </a:prstGeom>
          <a:solidFill>
            <a:srgbClr val="EFF6FF"/>
          </a:solidFill>
          <a:ln w="6350">
            <a:solidFill>
              <a:srgbClr val="E2E8F0"/>
            </a:solidFill>
            <a:prstDash val="solid"/>
          </a:ln>
        </p:spPr>
      </p:sp>
      <p:sp>
        <p:nvSpPr>
          <p:cNvPr id="20" name="Text 17"/>
          <p:cNvSpPr/>
          <p:nvPr/>
        </p:nvSpPr>
        <p:spPr>
          <a:xfrm>
            <a:off x="5760720" y="2359152"/>
            <a:ext cx="914400" cy="457200"/>
          </a:xfrm>
          <a:prstGeom prst="rect">
            <a:avLst/>
          </a:prstGeom>
          <a:noFill/>
          <a:ln/>
        </p:spPr>
        <p:txBody>
          <a:bodyPr wrap="square" lIns="0" tIns="0" rIns="0" bIns="0"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v2 LB</a:t>
            </a:r>
            <a:endParaRPr lang="en-US" sz="1100" dirty="0"/>
          </a:p>
        </p:txBody>
      </p:sp>
      <p:sp>
        <p:nvSpPr>
          <p:cNvPr id="21" name="Text 18"/>
          <p:cNvSpPr/>
          <p:nvPr/>
        </p:nvSpPr>
        <p:spPr>
          <a:xfrm>
            <a:off x="6675120" y="2359152"/>
            <a:ext cx="2194560" cy="457200"/>
          </a:xfrm>
          <a:prstGeom prst="rect">
            <a:avLst/>
          </a:prstGeom>
          <a:noFill/>
          <a:ln/>
        </p:spPr>
        <p:txBody>
          <a:bodyPr wrap="square" lIns="0" tIns="0" rIns="0" bIns="0" rtlCol="0" anchor="ctr"/>
          <a:lstStyle/>
          <a:p>
            <a:pPr indent="0" marL="0">
              <a:buNone/>
            </a:pPr>
            <a:r>
              <a:rPr lang="en-US" sz="1050" dirty="0">
                <a:solidFill>
                  <a:srgbClr val="0F172A"/>
                </a:solidFill>
                <a:latin typeface="Calibri" pitchFamily="34" charset="0"/>
                <a:ea typeface="Calibri" pitchFamily="34" charset="-122"/>
                <a:cs typeface="Calibri" pitchFamily="34" charset="-120"/>
              </a:rPr>
              <a:t>0.758852 — previous best</a:t>
            </a:r>
            <a:endParaRPr lang="en-US" sz="1050" dirty="0"/>
          </a:p>
        </p:txBody>
      </p:sp>
      <p:sp>
        <p:nvSpPr>
          <p:cNvPr id="22" name="Shape 19"/>
          <p:cNvSpPr/>
          <p:nvPr/>
        </p:nvSpPr>
        <p:spPr>
          <a:xfrm>
            <a:off x="5715000" y="2889504"/>
            <a:ext cx="3200400" cy="457200"/>
          </a:xfrm>
          <a:prstGeom prst="rect">
            <a:avLst/>
          </a:prstGeom>
          <a:solidFill>
            <a:srgbClr val="FFFFFF"/>
          </a:solidFill>
          <a:ln w="6350">
            <a:solidFill>
              <a:srgbClr val="E2E8F0"/>
            </a:solidFill>
            <a:prstDash val="solid"/>
          </a:ln>
        </p:spPr>
      </p:sp>
      <p:sp>
        <p:nvSpPr>
          <p:cNvPr id="23" name="Text 20"/>
          <p:cNvSpPr/>
          <p:nvPr/>
        </p:nvSpPr>
        <p:spPr>
          <a:xfrm>
            <a:off x="5760720" y="2889504"/>
            <a:ext cx="914400" cy="457200"/>
          </a:xfrm>
          <a:prstGeom prst="rect">
            <a:avLst/>
          </a:prstGeom>
          <a:noFill/>
          <a:ln/>
        </p:spPr>
        <p:txBody>
          <a:bodyPr wrap="square" lIns="0" tIns="0" rIns="0" bIns="0"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v3 LB</a:t>
            </a:r>
            <a:endParaRPr lang="en-US" sz="1100" dirty="0"/>
          </a:p>
        </p:txBody>
      </p:sp>
      <p:sp>
        <p:nvSpPr>
          <p:cNvPr id="24" name="Text 21"/>
          <p:cNvSpPr/>
          <p:nvPr/>
        </p:nvSpPr>
        <p:spPr>
          <a:xfrm>
            <a:off x="6675120" y="2889504"/>
            <a:ext cx="2194560" cy="457200"/>
          </a:xfrm>
          <a:prstGeom prst="rect">
            <a:avLst/>
          </a:prstGeom>
          <a:noFill/>
          <a:ln/>
        </p:spPr>
        <p:txBody>
          <a:bodyPr wrap="square" lIns="0" tIns="0" rIns="0" bIns="0" rtlCol="0" anchor="ctr"/>
          <a:lstStyle/>
          <a:p>
            <a:pPr indent="0" marL="0">
              <a:buNone/>
            </a:pPr>
            <a:r>
              <a:rPr lang="en-US" sz="1050" dirty="0">
                <a:solidFill>
                  <a:srgbClr val="0F172A"/>
                </a:solidFill>
                <a:latin typeface="Calibri" pitchFamily="34" charset="0"/>
                <a:ea typeface="Calibri" pitchFamily="34" charset="-122"/>
                <a:cs typeface="Calibri" pitchFamily="34" charset="-120"/>
              </a:rPr>
              <a:t>0.759102 — new best (+0.025%)</a:t>
            </a:r>
            <a:endParaRPr lang="en-US" sz="1050" dirty="0"/>
          </a:p>
        </p:txBody>
      </p:sp>
      <p:sp>
        <p:nvSpPr>
          <p:cNvPr id="25" name="Shape 22"/>
          <p:cNvSpPr/>
          <p:nvPr/>
        </p:nvSpPr>
        <p:spPr>
          <a:xfrm>
            <a:off x="5715000" y="3419856"/>
            <a:ext cx="3200400" cy="457200"/>
          </a:xfrm>
          <a:prstGeom prst="rect">
            <a:avLst/>
          </a:prstGeom>
          <a:solidFill>
            <a:srgbClr val="EFF6FF"/>
          </a:solidFill>
          <a:ln w="6350">
            <a:solidFill>
              <a:srgbClr val="E2E8F0"/>
            </a:solidFill>
            <a:prstDash val="solid"/>
          </a:ln>
        </p:spPr>
      </p:sp>
      <p:sp>
        <p:nvSpPr>
          <p:cNvPr id="26" name="Text 23"/>
          <p:cNvSpPr/>
          <p:nvPr/>
        </p:nvSpPr>
        <p:spPr>
          <a:xfrm>
            <a:off x="5760720" y="3419856"/>
            <a:ext cx="914400" cy="457200"/>
          </a:xfrm>
          <a:prstGeom prst="rect">
            <a:avLst/>
          </a:prstGeom>
          <a:noFill/>
          <a:ln/>
        </p:spPr>
        <p:txBody>
          <a:bodyPr wrap="square" lIns="0" tIns="0" rIns="0" bIns="0"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Ep 55</a:t>
            </a:r>
            <a:endParaRPr lang="en-US" sz="1100" dirty="0"/>
          </a:p>
        </p:txBody>
      </p:sp>
      <p:sp>
        <p:nvSpPr>
          <p:cNvPr id="27" name="Text 24"/>
          <p:cNvSpPr/>
          <p:nvPr/>
        </p:nvSpPr>
        <p:spPr>
          <a:xfrm>
            <a:off x="6675120" y="3419856"/>
            <a:ext cx="2194560" cy="457200"/>
          </a:xfrm>
          <a:prstGeom prst="rect">
            <a:avLst/>
          </a:prstGeom>
          <a:noFill/>
          <a:ln/>
        </p:spPr>
        <p:txBody>
          <a:bodyPr wrap="square" lIns="0" tIns="0" rIns="0" bIns="0" rtlCol="0" anchor="ctr"/>
          <a:lstStyle/>
          <a:p>
            <a:pPr indent="0" marL="0">
              <a:buNone/>
            </a:pPr>
            <a:r>
              <a:rPr lang="en-US" sz="1050" dirty="0">
                <a:solidFill>
                  <a:srgbClr val="0F172A"/>
                </a:solidFill>
                <a:latin typeface="Calibri" pitchFamily="34" charset="0"/>
                <a:ea typeface="Calibri" pitchFamily="34" charset="-122"/>
                <a:cs typeface="Calibri" pitchFamily="34" charset="-120"/>
              </a:rPr>
              <a:t>Val first hit 100% — held to Ep 80</a:t>
            </a:r>
            <a:endParaRPr lang="en-US" sz="1050" dirty="0"/>
          </a:p>
        </p:txBody>
      </p:sp>
      <p:sp>
        <p:nvSpPr>
          <p:cNvPr id="28" name="Shape 25"/>
          <p:cNvSpPr/>
          <p:nvPr/>
        </p:nvSpPr>
        <p:spPr>
          <a:xfrm>
            <a:off x="5715000" y="3950208"/>
            <a:ext cx="3200400" cy="457200"/>
          </a:xfrm>
          <a:prstGeom prst="rect">
            <a:avLst/>
          </a:prstGeom>
          <a:solidFill>
            <a:srgbClr val="FFFFFF"/>
          </a:solidFill>
          <a:ln w="6350">
            <a:solidFill>
              <a:srgbClr val="E2E8F0"/>
            </a:solidFill>
            <a:prstDash val="solid"/>
          </a:ln>
        </p:spPr>
      </p:sp>
      <p:sp>
        <p:nvSpPr>
          <p:cNvPr id="29" name="Text 26"/>
          <p:cNvSpPr/>
          <p:nvPr/>
        </p:nvSpPr>
        <p:spPr>
          <a:xfrm>
            <a:off x="5760720" y="3950208"/>
            <a:ext cx="914400" cy="457200"/>
          </a:xfrm>
          <a:prstGeom prst="rect">
            <a:avLst/>
          </a:prstGeom>
          <a:noFill/>
          <a:ln/>
        </p:spPr>
        <p:txBody>
          <a:bodyPr wrap="square" lIns="0" tIns="0" rIns="0" bIns="0"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t=0.180</a:t>
            </a:r>
            <a:endParaRPr lang="en-US" sz="1100" dirty="0"/>
          </a:p>
        </p:txBody>
      </p:sp>
      <p:sp>
        <p:nvSpPr>
          <p:cNvPr id="30" name="Text 27"/>
          <p:cNvSpPr/>
          <p:nvPr/>
        </p:nvSpPr>
        <p:spPr>
          <a:xfrm>
            <a:off x="6675120" y="3950208"/>
            <a:ext cx="2194560" cy="457200"/>
          </a:xfrm>
          <a:prstGeom prst="rect">
            <a:avLst/>
          </a:prstGeom>
          <a:noFill/>
          <a:ln/>
        </p:spPr>
        <p:txBody>
          <a:bodyPr wrap="square" lIns="0" tIns="0" rIns="0" bIns="0" rtlCol="0" anchor="ctr"/>
          <a:lstStyle/>
          <a:p>
            <a:pPr indent="0" marL="0">
              <a:buNone/>
            </a:pPr>
            <a:r>
              <a:rPr lang="en-US" sz="1050" dirty="0">
                <a:solidFill>
                  <a:srgbClr val="0F172A"/>
                </a:solidFill>
                <a:latin typeface="Calibri" pitchFamily="34" charset="0"/>
                <a:ea typeface="Calibri" pitchFamily="34" charset="-122"/>
                <a:cs typeface="Calibri" pitchFamily="34" charset="-120"/>
              </a:rPr>
              <a:t>Threshold shifted (was 0.200 in v2)</a:t>
            </a:r>
            <a:endParaRPr lang="en-US" sz="1050" dirty="0"/>
          </a:p>
        </p:txBody>
      </p:sp>
      <p:sp>
        <p:nvSpPr>
          <p:cNvPr id="31" name="Shape 28"/>
          <p:cNvSpPr/>
          <p:nvPr/>
        </p:nvSpPr>
        <p:spPr>
          <a:xfrm>
            <a:off x="5715000" y="4480560"/>
            <a:ext cx="3200400" cy="457200"/>
          </a:xfrm>
          <a:prstGeom prst="rect">
            <a:avLst/>
          </a:prstGeom>
          <a:solidFill>
            <a:srgbClr val="EFF6FF"/>
          </a:solidFill>
          <a:ln w="6350">
            <a:solidFill>
              <a:srgbClr val="E2E8F0"/>
            </a:solidFill>
            <a:prstDash val="solid"/>
          </a:ln>
        </p:spPr>
      </p:sp>
      <p:sp>
        <p:nvSpPr>
          <p:cNvPr id="32" name="Text 29"/>
          <p:cNvSpPr/>
          <p:nvPr/>
        </p:nvSpPr>
        <p:spPr>
          <a:xfrm>
            <a:off x="5760720" y="4480560"/>
            <a:ext cx="914400" cy="457200"/>
          </a:xfrm>
          <a:prstGeom prst="rect">
            <a:avLst/>
          </a:prstGeom>
          <a:noFill/>
          <a:ln/>
        </p:spPr>
        <p:txBody>
          <a:bodyPr wrap="square" lIns="0" tIns="0" rIns="0" bIns="0"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No stop</a:t>
            </a:r>
            <a:endParaRPr lang="en-US" sz="1100" dirty="0"/>
          </a:p>
        </p:txBody>
      </p:sp>
      <p:sp>
        <p:nvSpPr>
          <p:cNvPr id="33" name="Text 30"/>
          <p:cNvSpPr/>
          <p:nvPr/>
        </p:nvSpPr>
        <p:spPr>
          <a:xfrm>
            <a:off x="6675120" y="4480560"/>
            <a:ext cx="2194560" cy="457200"/>
          </a:xfrm>
          <a:prstGeom prst="rect">
            <a:avLst/>
          </a:prstGeom>
          <a:noFill/>
          <a:ln/>
        </p:spPr>
        <p:txBody>
          <a:bodyPr wrap="square" lIns="0" tIns="0" rIns="0" bIns="0" rtlCol="0" anchor="ctr"/>
          <a:lstStyle/>
          <a:p>
            <a:pPr indent="0" marL="0">
              <a:buNone/>
            </a:pPr>
            <a:r>
              <a:rPr lang="en-US" sz="1050" dirty="0">
                <a:solidFill>
                  <a:srgbClr val="0F172A"/>
                </a:solidFill>
                <a:latin typeface="Calibri" pitchFamily="34" charset="0"/>
                <a:ea typeface="Calibri" pitchFamily="34" charset="-122"/>
                <a:cs typeface="Calibri" pitchFamily="34" charset="-120"/>
              </a:rPr>
              <a:t>Full 80 eps ran — patience not hit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6B6D4"/>
          </a:solidFill>
          <a:ln w="12700">
            <a:solidFill>
              <a:srgbClr val="06B6D4"/>
            </a:solidFill>
            <a:prstDash val="solid"/>
          </a:ln>
        </p:spPr>
      </p:sp>
      <p:sp>
        <p:nvSpPr>
          <p:cNvPr id="3" name="Shape 1"/>
          <p:cNvSpPr/>
          <p:nvPr/>
        </p:nvSpPr>
        <p:spPr>
          <a:xfrm>
            <a:off x="0" y="5079492"/>
            <a:ext cx="9144000" cy="64008"/>
          </a:xfrm>
          <a:prstGeom prst="rect">
            <a:avLst/>
          </a:prstGeom>
          <a:solidFill>
            <a:srgbClr val="2563EB"/>
          </a:solidFill>
          <a:ln w="12700">
            <a:solidFill>
              <a:srgbClr val="2563EB"/>
            </a:solidFill>
            <a:prstDash val="solid"/>
          </a:ln>
        </p:spPr>
      </p:sp>
      <p:sp>
        <p:nvSpPr>
          <p:cNvPr id="4" name="Text 2"/>
          <p:cNvSpPr/>
          <p:nvPr/>
        </p:nvSpPr>
        <p:spPr>
          <a:xfrm>
            <a:off x="457200" y="320040"/>
            <a:ext cx="8229600" cy="5029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Conclusion &amp; Future Work</a:t>
            </a:r>
            <a:endParaRPr lang="en-US" sz="2800" dirty="0"/>
          </a:p>
        </p:txBody>
      </p:sp>
      <p:sp>
        <p:nvSpPr>
          <p:cNvPr id="5" name="Shape 3"/>
          <p:cNvSpPr/>
          <p:nvPr/>
        </p:nvSpPr>
        <p:spPr>
          <a:xfrm>
            <a:off x="365760" y="960120"/>
            <a:ext cx="4069080" cy="3794760"/>
          </a:xfrm>
          <a:prstGeom prst="rect">
            <a:avLst/>
          </a:prstGeom>
          <a:solidFill>
            <a:srgbClr val="162249"/>
          </a:solidFill>
          <a:ln w="19050">
            <a:solidFill>
              <a:srgbClr val="06B6D4"/>
            </a:solidFill>
            <a:prstDash val="solid"/>
          </a:ln>
        </p:spPr>
      </p:sp>
      <p:sp>
        <p:nvSpPr>
          <p:cNvPr id="6" name="Text 4"/>
          <p:cNvSpPr/>
          <p:nvPr/>
        </p:nvSpPr>
        <p:spPr>
          <a:xfrm>
            <a:off x="530352" y="1078992"/>
            <a:ext cx="3749040" cy="384048"/>
          </a:xfrm>
          <a:prstGeom prst="rect">
            <a:avLst/>
          </a:prstGeom>
          <a:noFill/>
          <a:ln/>
        </p:spPr>
        <p:txBody>
          <a:bodyPr wrap="square" lIns="0" tIns="0" rIns="0" bIns="0" rtlCol="0" anchor="ctr"/>
          <a:lstStyle/>
          <a:p>
            <a:pPr indent="0" marL="0">
              <a:buNone/>
            </a:pPr>
            <a:r>
              <a:rPr lang="en-US" sz="1300" b="1" dirty="0">
                <a:solidFill>
                  <a:srgbClr val="06B6D4"/>
                </a:solidFill>
                <a:latin typeface="Calibri" pitchFamily="34" charset="0"/>
                <a:ea typeface="Calibri" pitchFamily="34" charset="-122"/>
                <a:cs typeface="Calibri" pitchFamily="34" charset="-120"/>
              </a:rPr>
              <a:t>✅  Takeaways</a:t>
            </a:r>
            <a:endParaRPr lang="en-US" sz="1300" dirty="0"/>
          </a:p>
        </p:txBody>
      </p:sp>
      <p:sp>
        <p:nvSpPr>
          <p:cNvPr id="7" name="Text 5"/>
          <p:cNvSpPr/>
          <p:nvPr/>
        </p:nvSpPr>
        <p:spPr>
          <a:xfrm>
            <a:off x="502920" y="1536192"/>
            <a:ext cx="3794760" cy="3108960"/>
          </a:xfrm>
          <a:prstGeom prst="rect">
            <a:avLst/>
          </a:prstGeom>
          <a:noFill/>
          <a:ln/>
        </p:spPr>
        <p:txBody>
          <a:bodyPr wrap="square" rtlCol="0" anchor="t"/>
          <a:lstStyle/>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Public LB: 0.759102 — new best (up from 0.758852 in v2)</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Stochastic Depth (DropPath, rate 0→0.1) improved generalization</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Ran full 80 epochs — patience-15 early stop not triggered</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Val accuracy hit 100% at epoch 55, held through epoch 80</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Threshold shifted from 0.200 → 0.180 with DropPath active</a:t>
            </a:r>
            <a:endParaRPr lang="en-US" sz="1150" dirty="0"/>
          </a:p>
        </p:txBody>
      </p:sp>
      <p:sp>
        <p:nvSpPr>
          <p:cNvPr id="8" name="Shape 6"/>
          <p:cNvSpPr/>
          <p:nvPr/>
        </p:nvSpPr>
        <p:spPr>
          <a:xfrm>
            <a:off x="4754880" y="960120"/>
            <a:ext cx="4069080" cy="3794760"/>
          </a:xfrm>
          <a:prstGeom prst="rect">
            <a:avLst/>
          </a:prstGeom>
          <a:solidFill>
            <a:srgbClr val="162249"/>
          </a:solidFill>
          <a:ln w="19050">
            <a:solidFill>
              <a:srgbClr val="F59E0B"/>
            </a:solidFill>
            <a:prstDash val="solid"/>
          </a:ln>
        </p:spPr>
      </p:sp>
      <p:sp>
        <p:nvSpPr>
          <p:cNvPr id="9" name="Text 7"/>
          <p:cNvSpPr/>
          <p:nvPr/>
        </p:nvSpPr>
        <p:spPr>
          <a:xfrm>
            <a:off x="4919472" y="1078992"/>
            <a:ext cx="3749040" cy="384048"/>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  Future Directions</a:t>
            </a:r>
            <a:endParaRPr lang="en-US" sz="1300" dirty="0"/>
          </a:p>
        </p:txBody>
      </p:sp>
      <p:sp>
        <p:nvSpPr>
          <p:cNvPr id="10" name="Text 8"/>
          <p:cNvSpPr/>
          <p:nvPr/>
        </p:nvSpPr>
        <p:spPr>
          <a:xfrm>
            <a:off x="4892040" y="1536192"/>
            <a:ext cx="3794760" cy="3108960"/>
          </a:xfrm>
          <a:prstGeom prst="rect">
            <a:avLst/>
          </a:prstGeom>
          <a:noFill/>
          <a:ln/>
        </p:spPr>
        <p:txBody>
          <a:bodyPr wrap="square" rtlCol="0" anchor="t"/>
          <a:lstStyle/>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Test-time augmentation (TTA) enabled by flag</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Pretrained backbone initialization (transfer learning)</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EfficientNet / ConvNeXt backbone comparison</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Self-supervised pretraining on unlabeled data</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Ensemble multiple models for higher accuracy</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Image Classification with CBAM-Enhanced ResNet</dc:title>
  <dc:subject>PptxGenJS Presentation</dc:subject>
  <dc:creator>PptxGenJS</dc:creator>
  <cp:lastModifiedBy>PptxGenJS</cp:lastModifiedBy>
  <cp:revision>1</cp:revision>
  <dcterms:created xsi:type="dcterms:W3CDTF">2026-04-21T02:20:37Z</dcterms:created>
  <dcterms:modified xsi:type="dcterms:W3CDTF">2026-04-21T02:20:37Z</dcterms:modified>
</cp:coreProperties>
</file>